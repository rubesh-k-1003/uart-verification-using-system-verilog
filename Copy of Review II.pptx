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305" r:id="rId9"/>
    <p:sldId id="304" r:id="rId1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4EBB01-4183-4C18-ADB1-ED7D24C6778D}">
  <a:tblStyle styleId="{0F4EBB01-4183-4C18-ADB1-ED7D24C677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725301-C874-4286-AA2F-B4394AF332A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D8EA996-76BC-4C04-BE99-B52401552906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C6E5584-45BD-4547-9FC4-75ED15BFE129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D5D070E-EE66-4E6E-80DE-E93B5A59C127}" styleName="Table_4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336" autoAdjust="0"/>
  </p:normalViewPr>
  <p:slideViewPr>
    <p:cSldViewPr snapToGrid="0">
      <p:cViewPr>
        <p:scale>
          <a:sx n="50" d="100"/>
          <a:sy n="50" d="100"/>
        </p:scale>
        <p:origin x="1764" y="2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2a453669c_1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82a453669c_1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82a453669c_1_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4C0A6BE2-25CC-ECE3-879B-A4760F6EA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2a453669c_1_59:notes">
            <a:extLst>
              <a:ext uri="{FF2B5EF4-FFF2-40B4-BE49-F238E27FC236}">
                <a16:creationId xmlns:a16="http://schemas.microsoft.com/office/drawing/2014/main" id="{F75DD4E2-A5B4-57F2-310F-A8A22CFDDF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82a453669c_1_59:notes">
            <a:extLst>
              <a:ext uri="{FF2B5EF4-FFF2-40B4-BE49-F238E27FC236}">
                <a16:creationId xmlns:a16="http://schemas.microsoft.com/office/drawing/2014/main" id="{710DC152-8FF7-49A5-299F-0C04A04CAA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82a453669c_1_59:notes">
            <a:extLst>
              <a:ext uri="{FF2B5EF4-FFF2-40B4-BE49-F238E27FC236}">
                <a16:creationId xmlns:a16="http://schemas.microsoft.com/office/drawing/2014/main" id="{923C7557-DA84-9E1E-5221-47C19955AA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8504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 descr="Anna University Logo PNG vector in SVG, PDF, AI, CDR forma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9228"/>
            <a:ext cx="2091254" cy="156964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676941" y="311527"/>
            <a:ext cx="6029231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</a:rPr>
              <a:t>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ECE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College of Engineering Guindy, Anna University, Chennai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93283" y="117353"/>
            <a:ext cx="1415250" cy="165339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/>
          <p:nvPr/>
        </p:nvSpPr>
        <p:spPr>
          <a:xfrm>
            <a:off x="4049" y="3123325"/>
            <a:ext cx="9144000" cy="1135500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1"/>
                </a:solidFill>
              </a:rPr>
              <a:t>DESIGN AND VERIFICATION OF UART COMMUNICATION PROTOCOL USING SYSTEM VERILOG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2720551" y="1606768"/>
            <a:ext cx="371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EC5030 – Project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Review 2</a:t>
            </a: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2389928" y="2137602"/>
            <a:ext cx="447821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Presentation for the First Review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29</a:t>
            </a:r>
            <a:r>
              <a:rPr lang="en-US" sz="2400" b="1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October, 2025.</a:t>
            </a:r>
            <a:endParaRPr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5221599" y="4484625"/>
            <a:ext cx="371100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Presented by:</a:t>
            </a: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Umesh Kanna. K. B   (2022105010)   </a:t>
            </a: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Rubesh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Jaganath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B.E - ECE (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IV</a:t>
            </a:r>
            <a:r>
              <a:rPr lang="en-US" sz="1800" b="1" baseline="30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1800" b="1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year)</a:t>
            </a: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265471" y="4692330"/>
            <a:ext cx="31365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the Guidance of:</a:t>
            </a:r>
            <a:endParaRPr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S. R. SRIRAM</a:t>
            </a: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Associate Professor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ECE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CEG Campus, Anna University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>
            <a:spLocks noGrp="1"/>
          </p:cNvSpPr>
          <p:nvPr>
            <p:ph type="body" idx="1"/>
          </p:nvPr>
        </p:nvSpPr>
        <p:spPr>
          <a:xfrm>
            <a:off x="0" y="1052623"/>
            <a:ext cx="9271000" cy="580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Phase: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synthesizable UART communication module capable of transmitting and receiving serial data using parameterized timing control.</a:t>
            </a:r>
          </a:p>
          <a:p>
            <a:pPr marL="11430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Work Completed:</a:t>
            </a:r>
            <a:endParaRPr lang="en-IN" sz="1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UART protocol fundamentals – start bit, data bits, stop bit, and baud rate.</a:t>
            </a:r>
          </a:p>
          <a:p>
            <a:pPr marL="1143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design specifications and timing parameters (CLK_FREQ, BAUD_RATE, CLK_PER_BIT).</a:t>
            </a:r>
          </a:p>
          <a:p>
            <a:pPr marL="1143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Transmitter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(serialization)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Receiver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(deserialization) modules in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SystemVerilog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functionality using a simple RTL-level testbench (direct stimulus).</a:t>
            </a:r>
          </a:p>
          <a:p>
            <a:pPr marL="1143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using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Playground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observed correct TX-RX operation in waveform and log outputs.</a:t>
            </a:r>
          </a:p>
          <a:p>
            <a:pPr marL="11430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 (Review 1):</a:t>
            </a:r>
            <a:endParaRPr lang="en-IN" sz="1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RTL design files: uart_tx.sv, uart_rx.sv</a:t>
            </a:r>
          </a:p>
          <a:p>
            <a:pPr marL="1143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testbench</a:t>
            </a:r>
          </a:p>
          <a:p>
            <a:pPr marL="1143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 (waveform + console output)</a:t>
            </a:r>
          </a:p>
          <a:p>
            <a:pPr marL="1143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Preliminary report documenting design flow and results</a:t>
            </a:r>
          </a:p>
          <a:p>
            <a:pPr marL="1079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endParaRPr lang="en-US" sz="19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0" y="0"/>
            <a:ext cx="9144000" cy="1052623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Overview of Review-I</a:t>
            </a:r>
            <a:endParaRPr lang="en-US" dirty="0"/>
          </a:p>
        </p:txBody>
      </p:sp>
      <p:pic>
        <p:nvPicPr>
          <p:cNvPr id="102" name="Google Shape;10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28731" y="5543662"/>
            <a:ext cx="1174719" cy="115234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4329500" y="4768600"/>
            <a:ext cx="4842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>
            <a:spLocks noGrp="1"/>
          </p:cNvSpPr>
          <p:nvPr>
            <p:ph type="body" idx="1"/>
          </p:nvPr>
        </p:nvSpPr>
        <p:spPr>
          <a:xfrm>
            <a:off x="0" y="1010093"/>
            <a:ext cx="9144000" cy="5682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Phase</a:t>
            </a:r>
          </a:p>
          <a:p>
            <a:pPr>
              <a:lnSpc>
                <a:spcPct val="100000"/>
              </a:lnSpc>
              <a:buAutoNum type="arabicPeriod"/>
            </a:pPr>
            <a:r>
              <a:rPr lang="en-US" sz="145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</a:t>
            </a:r>
            <a:r>
              <a:rPr lang="en-US" sz="14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SystemVerilog</a:t>
            </a: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functional verification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UART design using advanced verification techniques.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n-US" sz="145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Proposed Methodology:</a:t>
            </a:r>
            <a:endParaRPr lang="en-US" sz="145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buNone/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class-based verification environment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including Generator, Driver, Monitor, and Scoreboard.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represent UART data frames and randomize test cases.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mailbox communication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synchronization between components.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 </a:t>
            </a: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Scoreboard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compare transmitted and received data for automatic checking.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constrained random testing and coverage-driven simulation.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simulation results using </a:t>
            </a: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waveform and console logs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UART functionality under multiple test scenarios.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n-US" sz="145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Expected Deliverables:</a:t>
            </a:r>
            <a:endParaRPr lang="en-US" sz="145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buNone/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verification environment in </a:t>
            </a:r>
            <a:r>
              <a:rPr lang="en-US" sz="14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SystemVerilog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buNone/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Self-checking testbench and transaction classes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report (log + waveform)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Coverage analysis and verification summary</a:t>
            </a:r>
          </a:p>
        </p:txBody>
      </p:sp>
      <p:sp>
        <p:nvSpPr>
          <p:cNvPr id="109" name="Google Shape;109;p15"/>
          <p:cNvSpPr/>
          <p:nvPr/>
        </p:nvSpPr>
        <p:spPr>
          <a:xfrm>
            <a:off x="0" y="0"/>
            <a:ext cx="9144000" cy="1135500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Review-II</a:t>
            </a:r>
            <a:endParaRPr sz="30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28731" y="5658374"/>
            <a:ext cx="1174719" cy="1152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>
            <a:spLocks noGrp="1"/>
          </p:cNvSpPr>
          <p:nvPr>
            <p:ph type="body" idx="1"/>
          </p:nvPr>
        </p:nvSpPr>
        <p:spPr>
          <a:xfrm>
            <a:off x="83899" y="1358900"/>
            <a:ext cx="9060101" cy="5458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verify UART Transmitter and Receiver functionality using 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SystemVerilog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UVM-like architecture.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Testbench Components:</a:t>
            </a:r>
          </a:p>
          <a:p>
            <a:pPr marL="571500" lvl="1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(Top Level)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Initializes the entire testbench and controls simulation flow.</a:t>
            </a:r>
          </a:p>
          <a:p>
            <a:pPr marL="571500" lvl="1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Creates and connects all components using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mailboxes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028700" lvl="2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gen2drv mailbox: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Transfers transactions from Generator to Driver.</a:t>
            </a:r>
          </a:p>
          <a:p>
            <a:pPr marL="1028700" lvl="2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mon2scb mailbox: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Transfers observed data from Monitor to Scoreboard.</a:t>
            </a:r>
          </a:p>
          <a:p>
            <a:pPr marL="571500" lvl="1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Generator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Creates test stimulus (UART transactions).</a:t>
            </a:r>
          </a:p>
          <a:p>
            <a:pPr marL="571500" lvl="1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Class object holding a single data byte for UART transfer.</a:t>
            </a:r>
          </a:p>
          <a:p>
            <a:pPr marL="571500" lvl="1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Retrieves transactions from gen2drv mailbox and drives DUT inputs.</a:t>
            </a:r>
          </a:p>
          <a:p>
            <a:pPr marL="571500" lvl="1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Captures DUT outputs and sends them to mon2scb mailbox.</a:t>
            </a:r>
          </a:p>
          <a:p>
            <a:pPr marL="571500" lvl="1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Scoreboard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Compares expected vs. actual data and gives PASS/FAIL results.</a:t>
            </a:r>
          </a:p>
          <a:p>
            <a:pPr marL="571500" lvl="1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Connects Testbench to DUT (Tx and Rx lines).</a:t>
            </a:r>
          </a:p>
          <a:p>
            <a:pPr marL="571500" lvl="1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DUT (UART)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Transmitter and Receiver logic to be verified</a:t>
            </a:r>
          </a:p>
          <a:p>
            <a:pPr marL="0" lvl="0" indent="0">
              <a:lnSpc>
                <a:spcPct val="115000"/>
              </a:lnSpc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0" y="0"/>
            <a:ext cx="9144000" cy="1175746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lt1"/>
                </a:solidFill>
              </a:rPr>
              <a:t>Proposed Methodology</a:t>
            </a:r>
            <a:endParaRPr sz="30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3114" y="5705657"/>
            <a:ext cx="1174719" cy="1152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/>
          <p:nvPr/>
        </p:nvSpPr>
        <p:spPr>
          <a:xfrm>
            <a:off x="0" y="0"/>
            <a:ext cx="9144000" cy="1135500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lt1"/>
                </a:solidFill>
              </a:rPr>
              <a:t>System Verilog </a:t>
            </a:r>
            <a:r>
              <a:rPr lang="en-US" sz="3000" b="1" dirty="0" err="1">
                <a:solidFill>
                  <a:schemeClr val="lt1"/>
                </a:solidFill>
              </a:rPr>
              <a:t>TestBench</a:t>
            </a:r>
            <a:r>
              <a:rPr lang="en-US" sz="3000" b="1" dirty="0">
                <a:solidFill>
                  <a:schemeClr val="lt1"/>
                </a:solidFill>
              </a:rPr>
              <a:t> Architecture</a:t>
            </a:r>
            <a:endParaRPr sz="30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9289" y="5705657"/>
            <a:ext cx="1174719" cy="115234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246FA-2FB7-8C47-4F12-C3A02E55F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135500"/>
            <a:ext cx="9144000" cy="5722500"/>
          </a:xfrm>
        </p:spPr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Flow: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GENERATOR ⇄ (gen2drv) ⇨ DRIVER ⇨ [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TxData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transmit] ⇨ DUT 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Tx→Rx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⇨ MONITOR ⇨ (mon2scb) ⇨ SCOREBOARD ⇨ Pass/Fail Results</a:t>
            </a:r>
          </a:p>
        </p:txBody>
      </p:sp>
      <p:pic>
        <p:nvPicPr>
          <p:cNvPr id="1026" name="Picture 2" descr="SystemVerilog Testbench">
            <a:extLst>
              <a:ext uri="{FF2B5EF4-FFF2-40B4-BE49-F238E27FC236}">
                <a16:creationId xmlns:a16="http://schemas.microsoft.com/office/drawing/2014/main" id="{415AC8C7-08A1-0CBF-B610-6F680AD9A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00" y="1135500"/>
            <a:ext cx="4250992" cy="4830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>
            <a:spLocks noGrp="1"/>
          </p:cNvSpPr>
          <p:nvPr>
            <p:ph type="body" idx="1"/>
          </p:nvPr>
        </p:nvSpPr>
        <p:spPr>
          <a:xfrm>
            <a:off x="0" y="1152343"/>
            <a:ext cx="9144000" cy="547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600" b="1" dirty="0"/>
              <a:t>Testbench initialises</a:t>
            </a:r>
            <a:r>
              <a:rPr lang="en-IN" sz="1600" dirty="0"/>
              <a:t> interface signals, toggles clock, drops reset.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/>
              <a:t>Environment</a:t>
            </a:r>
            <a:r>
              <a:rPr lang="en-IN" sz="1600" dirty="0"/>
              <a:t> starts: </a:t>
            </a:r>
            <a:r>
              <a:rPr lang="en-IN" sz="1600" dirty="0" err="1"/>
              <a:t>generator.run</a:t>
            </a:r>
            <a:r>
              <a:rPr lang="en-IN" sz="1600" dirty="0"/>
              <a:t>() pushes 6 </a:t>
            </a:r>
            <a:r>
              <a:rPr lang="en-IN" sz="1600" dirty="0" err="1"/>
              <a:t>uart_transactions</a:t>
            </a:r>
            <a:r>
              <a:rPr lang="en-IN" sz="1600" dirty="0"/>
              <a:t> into gen2drv mailbox spaced by #1000.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 err="1"/>
              <a:t>Driver.run</a:t>
            </a:r>
            <a:r>
              <a:rPr lang="en-IN" sz="1600" b="1" dirty="0"/>
              <a:t>()</a:t>
            </a:r>
            <a:r>
              <a:rPr lang="en-IN" sz="1600" dirty="0"/>
              <a:t> waits on gen2drv.get(tr). When it gets a transaction: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600" dirty="0"/>
              <a:t>Waits for Tx not busy.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600" dirty="0"/>
              <a:t>Writes </a:t>
            </a:r>
            <a:r>
              <a:rPr lang="en-IN" sz="1600" dirty="0" err="1"/>
              <a:t>uart.TxData</a:t>
            </a:r>
            <a:r>
              <a:rPr lang="en-IN" sz="1600" dirty="0"/>
              <a:t> = </a:t>
            </a:r>
            <a:r>
              <a:rPr lang="en-IN" sz="1600" dirty="0" err="1"/>
              <a:t>tr.data</a:t>
            </a:r>
            <a:r>
              <a:rPr lang="en-IN" sz="1600" dirty="0"/>
              <a:t>, pulses </a:t>
            </a:r>
            <a:r>
              <a:rPr lang="en-IN" sz="1600" dirty="0" err="1"/>
              <a:t>uart.transmit</a:t>
            </a:r>
            <a:r>
              <a:rPr lang="en-IN" sz="1600" dirty="0"/>
              <a:t> = 1 for one clock.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 err="1"/>
              <a:t>Uart_Transmitter</a:t>
            </a:r>
            <a:r>
              <a:rPr lang="en-IN" sz="1600" dirty="0"/>
              <a:t> sees </a:t>
            </a:r>
            <a:r>
              <a:rPr lang="en-IN" sz="1600" dirty="0" err="1"/>
              <a:t>uart.transmit</a:t>
            </a:r>
            <a:r>
              <a:rPr lang="en-IN" sz="1600" dirty="0"/>
              <a:t> == 1 on next clock, builds </a:t>
            </a:r>
            <a:r>
              <a:rPr lang="en-IN" sz="1600" dirty="0" err="1"/>
              <a:t>tx_shift</a:t>
            </a:r>
            <a:r>
              <a:rPr lang="en-IN" sz="1600" dirty="0"/>
              <a:t> and sets </a:t>
            </a:r>
            <a:r>
              <a:rPr lang="en-IN" sz="1600" dirty="0" err="1"/>
              <a:t>uart.busy</a:t>
            </a:r>
            <a:r>
              <a:rPr lang="en-IN" sz="1600" dirty="0"/>
              <a:t>=1. It then begins shifting bits out on </a:t>
            </a:r>
            <a:r>
              <a:rPr lang="en-IN" sz="1600" dirty="0" err="1"/>
              <a:t>uart.TxD</a:t>
            </a:r>
            <a:r>
              <a:rPr lang="en-IN" sz="1600" dirty="0"/>
              <a:t> once every </a:t>
            </a:r>
            <a:r>
              <a:rPr lang="en-IN" sz="1600" dirty="0" err="1"/>
              <a:t>div_counter</a:t>
            </a:r>
            <a:r>
              <a:rPr lang="en-IN" sz="1600" dirty="0"/>
              <a:t> clocks — generating start, data bits LSB→MSB, then stop.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dirty="0"/>
              <a:t>The </a:t>
            </a:r>
            <a:r>
              <a:rPr lang="en-IN" sz="1600" b="1" dirty="0"/>
              <a:t>wire </a:t>
            </a:r>
            <a:r>
              <a:rPr lang="en-IN" sz="1600" b="1" dirty="0" err="1"/>
              <a:t>uart.TxD</a:t>
            </a:r>
            <a:r>
              <a:rPr lang="en-IN" sz="1600" dirty="0"/>
              <a:t> is simultaneously connected to the receiver via the interface. Receiver samples </a:t>
            </a:r>
            <a:r>
              <a:rPr lang="en-IN" sz="1600" dirty="0" err="1"/>
              <a:t>uart.TxD</a:t>
            </a:r>
            <a:r>
              <a:rPr lang="en-IN" sz="1600" dirty="0"/>
              <a:t> using oversampling: it waits for start edge (</a:t>
            </a:r>
            <a:r>
              <a:rPr lang="en-IN" sz="1600" dirty="0" err="1"/>
              <a:t>TxD</a:t>
            </a:r>
            <a:r>
              <a:rPr lang="en-IN" sz="1600" dirty="0"/>
              <a:t> == 0), then advances sample counters and samples at </a:t>
            </a:r>
            <a:r>
              <a:rPr lang="en-IN" sz="1600" dirty="0" err="1"/>
              <a:t>mid_sample</a:t>
            </a:r>
            <a:r>
              <a:rPr lang="en-IN" sz="1600" dirty="0"/>
              <a:t> in each </a:t>
            </a:r>
            <a:r>
              <a:rPr lang="en-IN" sz="1600" dirty="0" err="1"/>
              <a:t>div_sample</a:t>
            </a:r>
            <a:r>
              <a:rPr lang="en-IN" sz="1600" dirty="0"/>
              <a:t> window; collects bits into shift register </a:t>
            </a:r>
            <a:r>
              <a:rPr lang="en-IN" sz="1600" dirty="0" err="1"/>
              <a:t>rxshift_reg</a:t>
            </a:r>
            <a:r>
              <a:rPr lang="en-IN" sz="1600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dirty="0"/>
              <a:t>After the full frame, receiver checks stop bit validity. If valid, it asserts </a:t>
            </a:r>
            <a:r>
              <a:rPr lang="en-IN" sz="1600" dirty="0" err="1"/>
              <a:t>uart.valid_rx</a:t>
            </a:r>
            <a:r>
              <a:rPr lang="en-IN" sz="1600" dirty="0"/>
              <a:t> and writes </a:t>
            </a:r>
            <a:r>
              <a:rPr lang="en-IN" sz="1600" dirty="0" err="1"/>
              <a:t>uart.RxData</a:t>
            </a:r>
            <a:r>
              <a:rPr lang="en-IN" sz="1600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 err="1"/>
              <a:t>Monitor.run</a:t>
            </a:r>
            <a:r>
              <a:rPr lang="en-IN" sz="1600" b="1" dirty="0"/>
              <a:t>()</a:t>
            </a:r>
            <a:r>
              <a:rPr lang="en-IN" sz="1600" dirty="0"/>
              <a:t> polls </a:t>
            </a:r>
            <a:r>
              <a:rPr lang="en-IN" sz="1600" dirty="0" err="1"/>
              <a:t>uart.valid_rx</a:t>
            </a:r>
            <a:r>
              <a:rPr lang="en-IN" sz="1600" dirty="0"/>
              <a:t> and when asserted captures </a:t>
            </a:r>
            <a:r>
              <a:rPr lang="en-IN" sz="1600" dirty="0" err="1"/>
              <a:t>uart.RxData</a:t>
            </a:r>
            <a:r>
              <a:rPr lang="en-IN" sz="1600" dirty="0"/>
              <a:t> and puts observed transaction in mon2scb.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 err="1"/>
              <a:t>Scoreboard.run</a:t>
            </a:r>
            <a:r>
              <a:rPr lang="en-IN" sz="1600" b="1" dirty="0"/>
              <a:t>()</a:t>
            </a:r>
            <a:r>
              <a:rPr lang="en-IN" sz="1600" dirty="0"/>
              <a:t> reads observed transactions and compares them to expected list and prints PASS/FAIL.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dirty="0"/>
              <a:t>This loop repeats for all 6 bytes. Then environment tasks complete and testbench ends.</a:t>
            </a: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0" y="0"/>
            <a:ext cx="9144000" cy="1152342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30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n-IN" sz="3200" b="1" dirty="0">
                <a:solidFill>
                  <a:schemeClr val="bg1"/>
                </a:solidFill>
              </a:rPr>
              <a:t>How the entire system works at runtime (pipeline / flow)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28731" y="5658374"/>
            <a:ext cx="1174719" cy="1152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/>
          <p:nvPr/>
        </p:nvSpPr>
        <p:spPr>
          <a:xfrm>
            <a:off x="0" y="0"/>
            <a:ext cx="9144000" cy="1135500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Console Output</a:t>
            </a:r>
            <a:endParaRPr sz="30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28731" y="5658374"/>
            <a:ext cx="1174719" cy="1152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A00778-67CD-7D7D-CDC3-6F84D1CB78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95"/>
          <a:stretch>
            <a:fillRect/>
          </a:stretch>
        </p:blipFill>
        <p:spPr>
          <a:xfrm>
            <a:off x="437875" y="1434627"/>
            <a:ext cx="7459116" cy="49016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2A7AC302-1012-7237-4992-B174E0FD5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>
            <a:extLst>
              <a:ext uri="{FF2B5EF4-FFF2-40B4-BE49-F238E27FC236}">
                <a16:creationId xmlns:a16="http://schemas.microsoft.com/office/drawing/2014/main" id="{638CF42B-6E01-DC4D-7764-4C2CB01B2269}"/>
              </a:ext>
            </a:extLst>
          </p:cNvPr>
          <p:cNvSpPr/>
          <p:nvPr/>
        </p:nvSpPr>
        <p:spPr>
          <a:xfrm>
            <a:off x="0" y="0"/>
            <a:ext cx="9144000" cy="1135500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Output Waveform</a:t>
            </a:r>
            <a:endParaRPr sz="30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22">
            <a:extLst>
              <a:ext uri="{FF2B5EF4-FFF2-40B4-BE49-F238E27FC236}">
                <a16:creationId xmlns:a16="http://schemas.microsoft.com/office/drawing/2014/main" id="{1CD84944-1C14-89C3-4944-CFC8D47E882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28731" y="5658374"/>
            <a:ext cx="1174719" cy="1152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5053C78-2B6D-6596-5EAC-5EC20F2B42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01686"/>
            <a:ext cx="9143999" cy="605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273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" name="Google Shape;573;p61" descr="Thank You Images – Browse 314,654 Stock Photos, Vectors, and Video | Adobe  Stoc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3114" y="1963238"/>
            <a:ext cx="6269287" cy="2667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850</Words>
  <Application>Microsoft Office PowerPoint</Application>
  <PresentationFormat>On-screen Show (4:3)</PresentationFormat>
  <Paragraphs>89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Calibri</vt:lpstr>
      <vt:lpstr>Wingdings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UMESH KANNA K B</cp:lastModifiedBy>
  <cp:revision>6</cp:revision>
  <dcterms:modified xsi:type="dcterms:W3CDTF">2025-11-13T14:58:26Z</dcterms:modified>
</cp:coreProperties>
</file>