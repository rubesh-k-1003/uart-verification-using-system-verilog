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y="6858000" cx="9144000"/>
  <p:notesSz cx="6858000" cy="9144000"/>
  <p:embeddedFontLst>
    <p:embeddedFont>
      <p:font typeface="Roboto Mono"/>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7" roundtripDataSignature="AMtx7mjFz6oOUV6Zbq7PVwzWQvt8Ti6Z4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C3321EE-C17E-4128-9709-CE3C54129072}">
  <a:tblStyle styleId="{DC3321EE-C17E-4128-9709-CE3C54129072}" styleName="Table_0">
    <a:wholeTbl>
      <a:tcTxStyle b="off" i="off">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3BA866C1-92CD-40EC-9C3B-37DC41D14C48}" styleName="Table_1">
    <a:wholeTbl>
      <a:tcTxStyle b="off" i="off">
        <a:font>
          <a:latin typeface="Arial"/>
          <a:ea typeface="Arial"/>
          <a:cs typeface="Arial"/>
        </a:font>
        <a:srgbClr val="000000"/>
      </a:tcTxStyle>
      <a:tcStyle>
        <a:tcBdr>
          <a:left>
            <a:ln cap="flat" cmpd="sng" w="9525">
              <a:solidFill>
                <a:srgbClr val="000000"/>
              </a:solidFill>
              <a:prstDash val="solid"/>
              <a:round/>
              <a:headEnd len="sm" w="sm" type="none"/>
              <a:tailEnd len="sm" w="sm" type="none"/>
            </a:ln>
          </a:left>
          <a:right>
            <a:ln cap="flat" cmpd="sng" w="9525">
              <a:solidFill>
                <a:srgbClr val="000000"/>
              </a:solidFill>
              <a:prstDash val="solid"/>
              <a:round/>
              <a:headEnd len="sm" w="sm" type="none"/>
              <a:tailEnd len="sm" w="sm" type="none"/>
            </a:ln>
          </a:right>
          <a:top>
            <a:ln cap="flat" cmpd="sng" w="9525">
              <a:solidFill>
                <a:srgbClr val="000000"/>
              </a:solidFill>
              <a:prstDash val="solid"/>
              <a:round/>
              <a:headEnd len="sm" w="sm" type="none"/>
              <a:tailEnd len="sm" w="sm" type="none"/>
            </a:ln>
          </a:top>
          <a:bottom>
            <a:ln cap="flat" cmpd="sng" w="9525">
              <a:solidFill>
                <a:srgbClr val="000000"/>
              </a:solidFill>
              <a:prstDash val="solid"/>
              <a:round/>
              <a:headEnd len="sm" w="sm" type="none"/>
              <a:tailEnd len="sm" w="sm" type="none"/>
            </a:ln>
          </a:bottom>
          <a:insideH>
            <a:ln cap="flat" cmpd="sng" w="9525">
              <a:solidFill>
                <a:srgbClr val="000000"/>
              </a:solidFill>
              <a:prstDash val="solid"/>
              <a:round/>
              <a:headEnd len="sm" w="sm" type="none"/>
              <a:tailEnd len="sm" w="sm" type="none"/>
            </a:ln>
          </a:insideH>
          <a:insideV>
            <a:ln cap="flat" cmpd="sng" w="9525">
              <a:solidFill>
                <a:srgbClr val="000000"/>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RobotoMono-regular.fntdata"/><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RobotoMono-italic.fntdata"/><Relationship Id="rId12" Type="http://schemas.openxmlformats.org/officeDocument/2006/relationships/slide" Target="slides/slide6.xml"/><Relationship Id="rId34" Type="http://schemas.openxmlformats.org/officeDocument/2006/relationships/font" Target="fonts/RobotoMono-bold.fntdata"/><Relationship Id="rId15" Type="http://schemas.openxmlformats.org/officeDocument/2006/relationships/slide" Target="slides/slide9.xml"/><Relationship Id="rId37" Type="http://customschemas.google.com/relationships/presentationmetadata" Target="metadata"/><Relationship Id="rId14" Type="http://schemas.openxmlformats.org/officeDocument/2006/relationships/slide" Target="slides/slide8.xml"/><Relationship Id="rId36" Type="http://schemas.openxmlformats.org/officeDocument/2006/relationships/font" Target="fonts/RobotoMono-bold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 name="Google Shape;98;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 name="Google Shape;115;p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 name="Google Shape;122;p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9" name="Google Shape;139;p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p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7" name="Google Shape;147;p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 name="Google Shape;153;p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4" name="Google Shape;154;p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p1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7" name="Google Shape;167;p1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4" name="Google Shape;174;p1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947ad69879_0_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g3947ad69879_0_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8c5b24ce4b_0_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0" name="Google Shape;190;g38c5b24ce4b_0_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947ad69879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8" name="Google Shape;198;g3947ad69879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8c651119bc_1_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5" name="Google Shape;205;g38c651119bc_1_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2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2" name="Google Shape;212;p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3" name="Google Shape;213;p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8c364ef59e_0_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 name="Google Shape;224;g38c364ef59e_0_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5" name="Google Shape;225;g38c364ef59e_0_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8c66511e69_0_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6" name="Google Shape;236;g38c66511e69_0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7" name="Google Shape;237;g38c66511e69_0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8c66511e69_0_1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 name="Google Shape;248;g38c66511e69_0_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9" name="Google Shape;249;g38c66511e69_0_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8c66511e69_0_2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8" name="Google Shape;258;g38c66511e69_0_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9" name="Google Shape;259;g38c66511e69_0_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8c66511e69_0_3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 name="Google Shape;268;g38c66511e69_0_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9" name="Google Shape;269;g38c66511e69_0_3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8c66511e69_0_4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8" name="Google Shape;278;g38c66511e69_0_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9" name="Google Shape;279;g38c66511e69_0_4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0" name="Google Shape;290;p4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947ad69879_0_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7" name="Google Shape;297;g3947ad69879_0_1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4" name="Google Shape;304;p4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51"/>
          <p:cNvSpPr txBox="1"/>
          <p:nvPr>
            <p:ph type="ctrTitle"/>
          </p:nvPr>
        </p:nvSpPr>
        <p:spPr>
          <a:xfrm>
            <a:off x="685800" y="1122363"/>
            <a:ext cx="77724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51"/>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51"/>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51"/>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5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52"/>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52"/>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52"/>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52"/>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5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3"/>
          <p:cNvSpPr txBox="1"/>
          <p:nvPr>
            <p:ph type="title"/>
          </p:nvPr>
        </p:nvSpPr>
        <p:spPr>
          <a:xfrm>
            <a:off x="623888" y="1709739"/>
            <a:ext cx="78867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53"/>
          <p:cNvSpPr txBox="1"/>
          <p:nvPr>
            <p:ph idx="1" type="body"/>
          </p:nvPr>
        </p:nvSpPr>
        <p:spPr>
          <a:xfrm>
            <a:off x="623888" y="4589464"/>
            <a:ext cx="78867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sz="2400">
                <a:solidFill>
                  <a:schemeClr val="dk1"/>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53"/>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53"/>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54"/>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54"/>
          <p:cNvSpPr txBox="1"/>
          <p:nvPr>
            <p:ph idx="1" type="body"/>
          </p:nvPr>
        </p:nvSpPr>
        <p:spPr>
          <a:xfrm>
            <a:off x="6286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54"/>
          <p:cNvSpPr txBox="1"/>
          <p:nvPr>
            <p:ph idx="2" type="body"/>
          </p:nvPr>
        </p:nvSpPr>
        <p:spPr>
          <a:xfrm>
            <a:off x="46291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54"/>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54"/>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5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55"/>
          <p:cNvSpPr txBox="1"/>
          <p:nvPr>
            <p:ph type="title"/>
          </p:nvPr>
        </p:nvSpPr>
        <p:spPr>
          <a:xfrm>
            <a:off x="629841"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55"/>
          <p:cNvSpPr txBox="1"/>
          <p:nvPr>
            <p:ph idx="1" type="body"/>
          </p:nvPr>
        </p:nvSpPr>
        <p:spPr>
          <a:xfrm>
            <a:off x="629842" y="1681163"/>
            <a:ext cx="386834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55"/>
          <p:cNvSpPr txBox="1"/>
          <p:nvPr>
            <p:ph idx="2" type="body"/>
          </p:nvPr>
        </p:nvSpPr>
        <p:spPr>
          <a:xfrm>
            <a:off x="629842" y="2505075"/>
            <a:ext cx="3868340"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55"/>
          <p:cNvSpPr txBox="1"/>
          <p:nvPr>
            <p:ph idx="3" type="body"/>
          </p:nvPr>
        </p:nvSpPr>
        <p:spPr>
          <a:xfrm>
            <a:off x="4629150" y="1681163"/>
            <a:ext cx="3887391"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55"/>
          <p:cNvSpPr txBox="1"/>
          <p:nvPr>
            <p:ph idx="4" type="body"/>
          </p:nvPr>
        </p:nvSpPr>
        <p:spPr>
          <a:xfrm>
            <a:off x="4629150" y="2505075"/>
            <a:ext cx="3887391"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55"/>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55"/>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55"/>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56"/>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56"/>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56"/>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56"/>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57"/>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57"/>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57"/>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58"/>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58"/>
          <p:cNvSpPr txBox="1"/>
          <p:nvPr>
            <p:ph idx="1" type="body"/>
          </p:nvPr>
        </p:nvSpPr>
        <p:spPr>
          <a:xfrm>
            <a:off x="3887391" y="987426"/>
            <a:ext cx="462915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58"/>
          <p:cNvSpPr txBox="1"/>
          <p:nvPr>
            <p:ph idx="2"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58"/>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58"/>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58"/>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59"/>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59"/>
          <p:cNvSpPr/>
          <p:nvPr>
            <p:ph idx="2" type="pic"/>
          </p:nvPr>
        </p:nvSpPr>
        <p:spPr>
          <a:xfrm>
            <a:off x="3887391" y="987426"/>
            <a:ext cx="4629150" cy="4873625"/>
          </a:xfrm>
          <a:prstGeom prst="rect">
            <a:avLst/>
          </a:prstGeom>
          <a:noFill/>
          <a:ln>
            <a:noFill/>
          </a:ln>
        </p:spPr>
      </p:sp>
      <p:sp>
        <p:nvSpPr>
          <p:cNvPr id="68" name="Google Shape;68;p59"/>
          <p:cNvSpPr txBox="1"/>
          <p:nvPr>
            <p:ph idx="1"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59"/>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59"/>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59"/>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60"/>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60"/>
          <p:cNvSpPr txBox="1"/>
          <p:nvPr>
            <p:ph idx="1" type="body"/>
          </p:nvPr>
        </p:nvSpPr>
        <p:spPr>
          <a:xfrm rot="5400000">
            <a:off x="2396331" y="57944"/>
            <a:ext cx="4351338"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60"/>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60"/>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60"/>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61"/>
          <p:cNvSpPr txBox="1"/>
          <p:nvPr>
            <p:ph type="title"/>
          </p:nvPr>
        </p:nvSpPr>
        <p:spPr>
          <a:xfrm rot="5400000">
            <a:off x="4623594" y="2285207"/>
            <a:ext cx="5811838" cy="19716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61"/>
          <p:cNvSpPr txBox="1"/>
          <p:nvPr>
            <p:ph idx="1" type="body"/>
          </p:nvPr>
        </p:nvSpPr>
        <p:spPr>
          <a:xfrm rot="5400000">
            <a:off x="623094" y="370681"/>
            <a:ext cx="5811838" cy="58007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61"/>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61"/>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6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50"/>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50"/>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50"/>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50"/>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50"/>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png"/><Relationship Id="rId4" Type="http://schemas.openxmlformats.org/officeDocument/2006/relationships/image" Target="../media/image11.png"/><Relationship Id="rId5"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0.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descr="Anna University Logo PNG vector in SVG, PDF, AI, CDR format" id="88" name="Google Shape;88;p1"/>
          <p:cNvPicPr preferRelativeResize="0"/>
          <p:nvPr/>
        </p:nvPicPr>
        <p:blipFill rotWithShape="1">
          <a:blip r:embed="rId3">
            <a:alphaModFix/>
          </a:blip>
          <a:srcRect b="0" l="0" r="0" t="0"/>
          <a:stretch/>
        </p:blipFill>
        <p:spPr>
          <a:xfrm>
            <a:off x="0" y="159228"/>
            <a:ext cx="2091254" cy="1569648"/>
          </a:xfrm>
          <a:prstGeom prst="rect">
            <a:avLst/>
          </a:prstGeom>
          <a:noFill/>
          <a:ln>
            <a:noFill/>
          </a:ln>
        </p:spPr>
      </p:pic>
      <p:sp>
        <p:nvSpPr>
          <p:cNvPr id="89" name="Google Shape;89;p1"/>
          <p:cNvSpPr txBox="1"/>
          <p:nvPr/>
        </p:nvSpPr>
        <p:spPr>
          <a:xfrm>
            <a:off x="1676941" y="311527"/>
            <a:ext cx="6029231" cy="1169551"/>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Clr>
                <a:srgbClr val="000000"/>
              </a:buClr>
              <a:buSzPts val="2000"/>
              <a:buFont typeface="Arial"/>
              <a:buNone/>
            </a:pPr>
            <a:r>
              <a:rPr b="1" i="0" lang="en-US" sz="2000" u="none" cap="none" strike="noStrike">
                <a:solidFill>
                  <a:schemeClr val="dk1"/>
                </a:solidFill>
                <a:latin typeface="Arial"/>
                <a:ea typeface="Arial"/>
                <a:cs typeface="Arial"/>
                <a:sym typeface="Arial"/>
              </a:rPr>
              <a:t> Department of ECE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Arial"/>
                <a:ea typeface="Arial"/>
                <a:cs typeface="Arial"/>
                <a:sym typeface="Arial"/>
              </a:rPr>
              <a:t>   College of Engineering Guindy, Anna University, Chennai</a:t>
            </a:r>
            <a:endParaRPr b="0" i="0" sz="2000" u="none" cap="none" strike="noStrike">
              <a:solidFill>
                <a:schemeClr val="dk1"/>
              </a:solidFill>
              <a:latin typeface="Arial"/>
              <a:ea typeface="Arial"/>
              <a:cs typeface="Arial"/>
              <a:sym typeface="Arial"/>
            </a:endParaRPr>
          </a:p>
        </p:txBody>
      </p:sp>
      <p:pic>
        <p:nvPicPr>
          <p:cNvPr id="90" name="Google Shape;90;p1"/>
          <p:cNvPicPr preferRelativeResize="0"/>
          <p:nvPr/>
        </p:nvPicPr>
        <p:blipFill rotWithShape="1">
          <a:blip r:embed="rId4">
            <a:alphaModFix/>
          </a:blip>
          <a:srcRect b="0" l="0" r="0" t="0"/>
          <a:stretch/>
        </p:blipFill>
        <p:spPr>
          <a:xfrm>
            <a:off x="7593283" y="117353"/>
            <a:ext cx="1415250" cy="1653393"/>
          </a:xfrm>
          <a:prstGeom prst="rect">
            <a:avLst/>
          </a:prstGeom>
          <a:noFill/>
          <a:ln>
            <a:noFill/>
          </a:ln>
        </p:spPr>
      </p:pic>
      <p:sp>
        <p:nvSpPr>
          <p:cNvPr id="91" name="Google Shape;91;p1"/>
          <p:cNvSpPr/>
          <p:nvPr/>
        </p:nvSpPr>
        <p:spPr>
          <a:xfrm>
            <a:off x="4049" y="3123325"/>
            <a:ext cx="9144000" cy="1135500"/>
          </a:xfrm>
          <a:prstGeom prst="rect">
            <a:avLst/>
          </a:prstGeom>
          <a:solidFill>
            <a:srgbClr val="B01B20"/>
          </a:solidFill>
          <a:ln>
            <a:noFill/>
          </a:ln>
        </p:spPr>
        <p:txBody>
          <a:bodyPr anchorCtr="0" anchor="ctr" bIns="45700" lIns="91425" spcFirstLastPara="1" rIns="91425" wrap="square" tIns="45700">
            <a:noAutofit/>
          </a:bodyPr>
          <a:lstStyle/>
          <a:p>
            <a:pPr indent="0" lvl="0" marL="0" rtl="0" algn="ctr">
              <a:lnSpc>
                <a:spcPct val="115000"/>
              </a:lnSpc>
              <a:spcBef>
                <a:spcPts val="0"/>
              </a:spcBef>
              <a:spcAft>
                <a:spcPts val="0"/>
              </a:spcAft>
              <a:buClr>
                <a:schemeClr val="dk1"/>
              </a:buClr>
              <a:buSzPts val="1100"/>
              <a:buFont typeface="Arial"/>
              <a:buNone/>
            </a:pPr>
            <a:r>
              <a:t/>
            </a:r>
            <a:endParaRPr b="1" sz="2400">
              <a:solidFill>
                <a:srgbClr val="FFFFFF"/>
              </a:solidFill>
            </a:endParaRPr>
          </a:p>
          <a:p>
            <a:pPr indent="0" lvl="0" marL="0" rtl="0" algn="ctr">
              <a:lnSpc>
                <a:spcPct val="115000"/>
              </a:lnSpc>
              <a:spcBef>
                <a:spcPts val="0"/>
              </a:spcBef>
              <a:spcAft>
                <a:spcPts val="0"/>
              </a:spcAft>
              <a:buClr>
                <a:schemeClr val="dk1"/>
              </a:buClr>
              <a:buSzPts val="1100"/>
              <a:buFont typeface="Arial"/>
              <a:buNone/>
            </a:pPr>
            <a:r>
              <a:rPr b="1" lang="en-US" sz="2400">
                <a:solidFill>
                  <a:srgbClr val="FFFFFF"/>
                </a:solidFill>
              </a:rPr>
              <a:t>DESIGN AND VERIFICATION OF UART COMMUNICATION PROTOCOL USING SYSTEM VERILOG</a:t>
            </a:r>
            <a:endParaRPr b="1" sz="2400">
              <a:solidFill>
                <a:srgbClr val="FFFFFF"/>
              </a:solidFill>
            </a:endParaRPr>
          </a:p>
          <a:p>
            <a:pPr indent="0" lvl="0" marL="0" marR="0" rtl="0" algn="ctr">
              <a:lnSpc>
                <a:spcPct val="100000"/>
              </a:lnSpc>
              <a:spcBef>
                <a:spcPts val="0"/>
              </a:spcBef>
              <a:spcAft>
                <a:spcPts val="0"/>
              </a:spcAft>
              <a:buClr>
                <a:srgbClr val="000000"/>
              </a:buClr>
              <a:buSzPts val="2400"/>
              <a:buFont typeface="Arial"/>
              <a:buNone/>
            </a:pPr>
            <a:r>
              <a:t/>
            </a:r>
            <a:endParaRPr b="1" sz="2400">
              <a:solidFill>
                <a:schemeClr val="lt1"/>
              </a:solidFill>
            </a:endParaRPr>
          </a:p>
        </p:txBody>
      </p:sp>
      <p:sp>
        <p:nvSpPr>
          <p:cNvPr id="92" name="Google Shape;92;p1"/>
          <p:cNvSpPr txBox="1"/>
          <p:nvPr/>
        </p:nvSpPr>
        <p:spPr>
          <a:xfrm>
            <a:off x="2720551" y="1606768"/>
            <a:ext cx="37110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alibri"/>
                <a:ea typeface="Calibri"/>
                <a:cs typeface="Calibri"/>
                <a:sym typeface="Calibri"/>
              </a:rPr>
              <a:t> EC5</a:t>
            </a:r>
            <a:r>
              <a:rPr b="1" lang="en-US" sz="2400">
                <a:solidFill>
                  <a:schemeClr val="dk1"/>
                </a:solidFill>
                <a:latin typeface="Calibri"/>
                <a:ea typeface="Calibri"/>
                <a:cs typeface="Calibri"/>
                <a:sym typeface="Calibri"/>
              </a:rPr>
              <a:t>030</a:t>
            </a:r>
            <a:r>
              <a:rPr b="1" i="0" lang="en-US" sz="2400" u="none" cap="none" strike="noStrike">
                <a:solidFill>
                  <a:schemeClr val="dk1"/>
                </a:solidFill>
                <a:latin typeface="Calibri"/>
                <a:ea typeface="Calibri"/>
                <a:cs typeface="Calibri"/>
                <a:sym typeface="Calibri"/>
              </a:rPr>
              <a:t>– Project Review 1</a:t>
            </a:r>
            <a:endParaRPr b="1" i="0" sz="2400" u="none" cap="none" strike="noStrike">
              <a:solidFill>
                <a:schemeClr val="dk1"/>
              </a:solidFill>
              <a:latin typeface="Calibri"/>
              <a:ea typeface="Calibri"/>
              <a:cs typeface="Calibri"/>
              <a:sym typeface="Calibri"/>
            </a:endParaRPr>
          </a:p>
        </p:txBody>
      </p:sp>
      <p:sp>
        <p:nvSpPr>
          <p:cNvPr id="93" name="Google Shape;93;p1"/>
          <p:cNvSpPr txBox="1"/>
          <p:nvPr/>
        </p:nvSpPr>
        <p:spPr>
          <a:xfrm>
            <a:off x="2389928" y="2137602"/>
            <a:ext cx="4478214"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alibri"/>
                <a:ea typeface="Calibri"/>
                <a:cs typeface="Calibri"/>
                <a:sym typeface="Calibri"/>
              </a:rPr>
              <a:t>Presentation for the First Review</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alibri"/>
                <a:ea typeface="Calibri"/>
                <a:cs typeface="Calibri"/>
                <a:sym typeface="Calibri"/>
              </a:rPr>
              <a:t>              </a:t>
            </a:r>
            <a:r>
              <a:rPr b="1" lang="en-US" sz="2400">
                <a:solidFill>
                  <a:schemeClr val="dk1"/>
                </a:solidFill>
                <a:latin typeface="Calibri"/>
                <a:ea typeface="Calibri"/>
                <a:cs typeface="Calibri"/>
                <a:sym typeface="Calibri"/>
              </a:rPr>
              <a:t>14</a:t>
            </a:r>
            <a:r>
              <a:rPr b="1" baseline="30000" i="0" lang="en-US" sz="2400" u="none" cap="none" strike="noStrike">
                <a:solidFill>
                  <a:schemeClr val="dk1"/>
                </a:solidFill>
                <a:latin typeface="Calibri"/>
                <a:ea typeface="Calibri"/>
                <a:cs typeface="Calibri"/>
                <a:sym typeface="Calibri"/>
              </a:rPr>
              <a:t>th</a:t>
            </a:r>
            <a:r>
              <a:rPr b="1" i="0" lang="en-US" sz="2400" u="none" cap="none" strike="noStrike">
                <a:solidFill>
                  <a:schemeClr val="dk1"/>
                </a:solidFill>
                <a:latin typeface="Calibri"/>
                <a:ea typeface="Calibri"/>
                <a:cs typeface="Calibri"/>
                <a:sym typeface="Calibri"/>
              </a:rPr>
              <a:t> </a:t>
            </a:r>
            <a:r>
              <a:rPr b="1" lang="en-US" sz="2400">
                <a:solidFill>
                  <a:schemeClr val="dk1"/>
                </a:solidFill>
                <a:latin typeface="Calibri"/>
                <a:ea typeface="Calibri"/>
                <a:cs typeface="Calibri"/>
                <a:sym typeface="Calibri"/>
              </a:rPr>
              <a:t>October </a:t>
            </a:r>
            <a:r>
              <a:rPr b="1" i="0" lang="en-US" sz="2400" u="none" cap="none" strike="noStrike">
                <a:solidFill>
                  <a:schemeClr val="dk1"/>
                </a:solidFill>
                <a:latin typeface="Calibri"/>
                <a:ea typeface="Calibri"/>
                <a:cs typeface="Calibri"/>
                <a:sym typeface="Calibri"/>
              </a:rPr>
              <a:t>, 2025.</a:t>
            </a:r>
            <a:endParaRPr b="0" i="0" sz="1400" u="none" cap="none" strike="noStrike">
              <a:solidFill>
                <a:srgbClr val="000000"/>
              </a:solidFill>
              <a:latin typeface="Arial"/>
              <a:ea typeface="Arial"/>
              <a:cs typeface="Arial"/>
              <a:sym typeface="Arial"/>
            </a:endParaRPr>
          </a:p>
        </p:txBody>
      </p:sp>
      <p:sp>
        <p:nvSpPr>
          <p:cNvPr id="94" name="Google Shape;94;p1"/>
          <p:cNvSpPr txBox="1"/>
          <p:nvPr/>
        </p:nvSpPr>
        <p:spPr>
          <a:xfrm>
            <a:off x="5221599" y="4484625"/>
            <a:ext cx="3711000" cy="1754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sng" cap="none" strike="noStrike">
                <a:solidFill>
                  <a:schemeClr val="dk1"/>
                </a:solidFill>
                <a:latin typeface="Calibri"/>
                <a:ea typeface="Calibri"/>
                <a:cs typeface="Calibri"/>
                <a:sym typeface="Calibri"/>
              </a:rPr>
              <a:t>Presented by</a:t>
            </a:r>
            <a:r>
              <a:rPr b="1" lang="en-US" sz="1800" u="sng">
                <a:solidFill>
                  <a:schemeClr val="dk1"/>
                </a:solidFill>
                <a:latin typeface="Calibri"/>
                <a:ea typeface="Calibri"/>
                <a:cs typeface="Calibri"/>
                <a:sym typeface="Calibri"/>
              </a:rPr>
              <a:t>:</a:t>
            </a:r>
            <a:endParaRPr b="1" i="0" sz="1800" u="none" cap="none" strike="noStrike">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Umesh Kanna. K. B    (2022105010)   </a:t>
            </a:r>
            <a:endParaRPr b="1"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1" lang="en-US" sz="1800">
                <a:solidFill>
                  <a:schemeClr val="dk1"/>
                </a:solidFill>
                <a:latin typeface="Calibri"/>
                <a:ea typeface="Calibri"/>
                <a:cs typeface="Calibri"/>
                <a:sym typeface="Calibri"/>
              </a:rPr>
              <a:t>Rubesh K                      (2022105702) </a:t>
            </a:r>
            <a:endParaRPr b="1"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1" lang="en-US" sz="1800">
                <a:solidFill>
                  <a:schemeClr val="dk1"/>
                </a:solidFill>
                <a:latin typeface="Calibri"/>
                <a:ea typeface="Calibri"/>
                <a:cs typeface="Calibri"/>
                <a:sym typeface="Calibri"/>
              </a:rPr>
              <a:t>Jaganath 	B                   (2022105522)</a:t>
            </a:r>
            <a:endParaRPr b="1"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1" lang="en-US" sz="1800">
                <a:solidFill>
                  <a:schemeClr val="dk1"/>
                </a:solidFill>
                <a:latin typeface="Calibri"/>
                <a:ea typeface="Calibri"/>
                <a:cs typeface="Calibri"/>
                <a:sym typeface="Calibri"/>
              </a:rPr>
              <a:t>B</a:t>
            </a:r>
            <a:r>
              <a:rPr b="1" i="0" lang="en-US" sz="1800" u="none" cap="none" strike="noStrike">
                <a:solidFill>
                  <a:schemeClr val="dk1"/>
                </a:solidFill>
                <a:latin typeface="Calibri"/>
                <a:ea typeface="Calibri"/>
                <a:cs typeface="Calibri"/>
                <a:sym typeface="Calibri"/>
              </a:rPr>
              <a:t>.E - ECE (IV</a:t>
            </a:r>
            <a:r>
              <a:rPr b="1" baseline="30000" i="0" lang="en-US" sz="1800" u="none" cap="none" strike="noStrike">
                <a:solidFill>
                  <a:schemeClr val="dk1"/>
                </a:solidFill>
                <a:latin typeface="Calibri"/>
                <a:ea typeface="Calibri"/>
                <a:cs typeface="Calibri"/>
                <a:sym typeface="Calibri"/>
              </a:rPr>
              <a:t>th  </a:t>
            </a:r>
            <a:r>
              <a:rPr b="1" i="0" lang="en-US" sz="1800" u="none" cap="none" strike="noStrike">
                <a:solidFill>
                  <a:schemeClr val="dk1"/>
                </a:solidFill>
                <a:latin typeface="Calibri"/>
                <a:ea typeface="Calibri"/>
                <a:cs typeface="Calibri"/>
                <a:sym typeface="Calibri"/>
              </a:rPr>
              <a:t>year)</a:t>
            </a:r>
            <a:endParaRPr b="1" i="0" sz="1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Calibri"/>
              <a:ea typeface="Calibri"/>
              <a:cs typeface="Calibri"/>
              <a:sym typeface="Calibri"/>
            </a:endParaRPr>
          </a:p>
        </p:txBody>
      </p:sp>
      <p:sp>
        <p:nvSpPr>
          <p:cNvPr id="95" name="Google Shape;95;p1"/>
          <p:cNvSpPr txBox="1"/>
          <p:nvPr/>
        </p:nvSpPr>
        <p:spPr>
          <a:xfrm>
            <a:off x="265471" y="4692330"/>
            <a:ext cx="3136500" cy="1754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Under the Guidance of:</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Dr. S. </a:t>
            </a:r>
            <a:r>
              <a:rPr b="1" lang="en-US" sz="1800">
                <a:solidFill>
                  <a:schemeClr val="dk1"/>
                </a:solidFill>
                <a:latin typeface="Calibri"/>
                <a:ea typeface="Calibri"/>
                <a:cs typeface="Calibri"/>
                <a:sym typeface="Calibri"/>
              </a:rPr>
              <a:t>R. Sriram</a:t>
            </a:r>
            <a:endParaRPr b="1"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Associate Professor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Department of ECE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CEG Campus, Anna University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
          <p:cNvSpPr txBox="1"/>
          <p:nvPr>
            <p:ph idx="1" type="body"/>
          </p:nvPr>
        </p:nvSpPr>
        <p:spPr>
          <a:xfrm>
            <a:off x="230850" y="1278625"/>
            <a:ext cx="7886700" cy="4265100"/>
          </a:xfrm>
          <a:prstGeom prst="rect">
            <a:avLst/>
          </a:prstGeom>
          <a:noFill/>
          <a:ln>
            <a:noFill/>
          </a:ln>
        </p:spPr>
        <p:txBody>
          <a:bodyPr anchorCtr="0" anchor="t" bIns="45700" lIns="91425" spcFirstLastPara="1" rIns="91425" wrap="square" tIns="45700">
            <a:noAutofit/>
          </a:bodyPr>
          <a:lstStyle/>
          <a:p>
            <a:pPr indent="-349250" lvl="0" marL="457200" rtl="0" algn="l">
              <a:lnSpc>
                <a:spcPct val="150000"/>
              </a:lnSpc>
              <a:spcBef>
                <a:spcPts val="0"/>
              </a:spcBef>
              <a:spcAft>
                <a:spcPts val="0"/>
              </a:spcAft>
              <a:buSzPts val="1900"/>
              <a:buFont typeface="Times New Roman"/>
              <a:buChar char="•"/>
            </a:pPr>
            <a:r>
              <a:rPr lang="en-US" sz="1900">
                <a:latin typeface="Times New Roman"/>
                <a:ea typeface="Times New Roman"/>
                <a:cs typeface="Times New Roman"/>
                <a:sym typeface="Times New Roman"/>
              </a:rPr>
              <a:t>Introduction</a:t>
            </a:r>
            <a:endParaRPr sz="1900">
              <a:latin typeface="Times New Roman"/>
              <a:ea typeface="Times New Roman"/>
              <a:cs typeface="Times New Roman"/>
              <a:sym typeface="Times New Roman"/>
            </a:endParaRPr>
          </a:p>
          <a:p>
            <a:pPr indent="-349250" lvl="0" marL="457200" rtl="0" algn="l">
              <a:lnSpc>
                <a:spcPct val="150000"/>
              </a:lnSpc>
              <a:spcBef>
                <a:spcPts val="0"/>
              </a:spcBef>
              <a:spcAft>
                <a:spcPts val="0"/>
              </a:spcAft>
              <a:buSzPts val="1900"/>
              <a:buFont typeface="Times New Roman"/>
              <a:buChar char="•"/>
            </a:pPr>
            <a:r>
              <a:rPr lang="en-US" sz="1900">
                <a:latin typeface="Times New Roman"/>
                <a:ea typeface="Times New Roman"/>
                <a:cs typeface="Times New Roman"/>
                <a:sym typeface="Times New Roman"/>
              </a:rPr>
              <a:t>Advantages and Disadvantages</a:t>
            </a:r>
            <a:endParaRPr sz="1900">
              <a:latin typeface="Times New Roman"/>
              <a:ea typeface="Times New Roman"/>
              <a:cs typeface="Times New Roman"/>
              <a:sym typeface="Times New Roman"/>
            </a:endParaRPr>
          </a:p>
          <a:p>
            <a:pPr indent="-349250" lvl="0" marL="457200" rtl="0" algn="l">
              <a:lnSpc>
                <a:spcPct val="150000"/>
              </a:lnSpc>
              <a:spcBef>
                <a:spcPts val="0"/>
              </a:spcBef>
              <a:spcAft>
                <a:spcPts val="0"/>
              </a:spcAft>
              <a:buSzPts val="1900"/>
              <a:buFont typeface="Times New Roman"/>
              <a:buChar char="•"/>
            </a:pPr>
            <a:r>
              <a:rPr lang="en-US" sz="1900">
                <a:latin typeface="Times New Roman"/>
                <a:ea typeface="Times New Roman"/>
                <a:cs typeface="Times New Roman"/>
                <a:sym typeface="Times New Roman"/>
              </a:rPr>
              <a:t>Literature Review</a:t>
            </a:r>
            <a:endParaRPr sz="1900">
              <a:latin typeface="Times New Roman"/>
              <a:ea typeface="Times New Roman"/>
              <a:cs typeface="Times New Roman"/>
              <a:sym typeface="Times New Roman"/>
            </a:endParaRPr>
          </a:p>
          <a:p>
            <a:pPr indent="-349250" lvl="0" marL="457200" rtl="0" algn="l">
              <a:lnSpc>
                <a:spcPct val="150000"/>
              </a:lnSpc>
              <a:spcBef>
                <a:spcPts val="0"/>
              </a:spcBef>
              <a:spcAft>
                <a:spcPts val="0"/>
              </a:spcAft>
              <a:buSzPts val="1900"/>
              <a:buFont typeface="Times New Roman"/>
              <a:buChar char="•"/>
            </a:pPr>
            <a:r>
              <a:rPr lang="en-US" sz="1900">
                <a:latin typeface="Times New Roman"/>
                <a:ea typeface="Times New Roman"/>
                <a:cs typeface="Times New Roman"/>
                <a:sym typeface="Times New Roman"/>
              </a:rPr>
              <a:t>Inference from Literature review</a:t>
            </a:r>
            <a:endParaRPr sz="1900">
              <a:latin typeface="Times New Roman"/>
              <a:ea typeface="Times New Roman"/>
              <a:cs typeface="Times New Roman"/>
              <a:sym typeface="Times New Roman"/>
            </a:endParaRPr>
          </a:p>
          <a:p>
            <a:pPr indent="-349250" lvl="0" marL="457200" rtl="0" algn="l">
              <a:lnSpc>
                <a:spcPct val="150000"/>
              </a:lnSpc>
              <a:spcBef>
                <a:spcPts val="0"/>
              </a:spcBef>
              <a:spcAft>
                <a:spcPts val="0"/>
              </a:spcAft>
              <a:buSzPts val="1900"/>
              <a:buFont typeface="Times New Roman"/>
              <a:buChar char="•"/>
            </a:pPr>
            <a:r>
              <a:rPr lang="en-US" sz="1900">
                <a:latin typeface="Times New Roman"/>
                <a:ea typeface="Times New Roman"/>
                <a:cs typeface="Times New Roman"/>
                <a:sym typeface="Times New Roman"/>
              </a:rPr>
              <a:t>Block Diagram</a:t>
            </a:r>
            <a:endParaRPr sz="1900">
              <a:latin typeface="Times New Roman"/>
              <a:ea typeface="Times New Roman"/>
              <a:cs typeface="Times New Roman"/>
              <a:sym typeface="Times New Roman"/>
            </a:endParaRPr>
          </a:p>
          <a:p>
            <a:pPr indent="-349250" lvl="0" marL="457200" rtl="0" algn="l">
              <a:lnSpc>
                <a:spcPct val="150000"/>
              </a:lnSpc>
              <a:spcBef>
                <a:spcPts val="0"/>
              </a:spcBef>
              <a:spcAft>
                <a:spcPts val="0"/>
              </a:spcAft>
              <a:buSzPts val="1900"/>
              <a:buFont typeface="Times New Roman"/>
              <a:buChar char="•"/>
            </a:pPr>
            <a:r>
              <a:rPr lang="en-US" sz="1900">
                <a:latin typeface="Times New Roman"/>
                <a:ea typeface="Times New Roman"/>
                <a:cs typeface="Times New Roman"/>
                <a:sym typeface="Times New Roman"/>
              </a:rPr>
              <a:t>Existing Techniques</a:t>
            </a:r>
            <a:endParaRPr sz="1900">
              <a:latin typeface="Times New Roman"/>
              <a:ea typeface="Times New Roman"/>
              <a:cs typeface="Times New Roman"/>
              <a:sym typeface="Times New Roman"/>
            </a:endParaRPr>
          </a:p>
          <a:p>
            <a:pPr indent="-349250" lvl="0" marL="457200" rtl="0" algn="l">
              <a:lnSpc>
                <a:spcPct val="150000"/>
              </a:lnSpc>
              <a:spcBef>
                <a:spcPts val="0"/>
              </a:spcBef>
              <a:spcAft>
                <a:spcPts val="0"/>
              </a:spcAft>
              <a:buSzPts val="1900"/>
              <a:buFont typeface="Times New Roman"/>
              <a:buChar char="•"/>
            </a:pPr>
            <a:r>
              <a:rPr lang="en-US" sz="1900">
                <a:latin typeface="Times New Roman"/>
                <a:ea typeface="Times New Roman"/>
                <a:cs typeface="Times New Roman"/>
                <a:sym typeface="Times New Roman"/>
              </a:rPr>
              <a:t>Work done</a:t>
            </a:r>
            <a:endParaRPr sz="1900">
              <a:latin typeface="Times New Roman"/>
              <a:ea typeface="Times New Roman"/>
              <a:cs typeface="Times New Roman"/>
              <a:sym typeface="Times New Roman"/>
            </a:endParaRPr>
          </a:p>
          <a:p>
            <a:pPr indent="-349250" lvl="0" marL="457200" rtl="0" algn="l">
              <a:lnSpc>
                <a:spcPct val="150000"/>
              </a:lnSpc>
              <a:spcBef>
                <a:spcPts val="0"/>
              </a:spcBef>
              <a:spcAft>
                <a:spcPts val="0"/>
              </a:spcAft>
              <a:buSzPts val="1900"/>
              <a:buFont typeface="Times New Roman"/>
              <a:buChar char="•"/>
            </a:pPr>
            <a:r>
              <a:rPr lang="en-US" sz="1900">
                <a:latin typeface="Times New Roman"/>
                <a:ea typeface="Times New Roman"/>
                <a:cs typeface="Times New Roman"/>
                <a:sym typeface="Times New Roman"/>
              </a:rPr>
              <a:t>Conclusion</a:t>
            </a:r>
            <a:endParaRPr sz="1900">
              <a:latin typeface="Times New Roman"/>
              <a:ea typeface="Times New Roman"/>
              <a:cs typeface="Times New Roman"/>
              <a:sym typeface="Times New Roman"/>
            </a:endParaRPr>
          </a:p>
          <a:p>
            <a:pPr indent="-349250" lvl="0" marL="457200" rtl="0" algn="l">
              <a:lnSpc>
                <a:spcPct val="150000"/>
              </a:lnSpc>
              <a:spcBef>
                <a:spcPts val="0"/>
              </a:spcBef>
              <a:spcAft>
                <a:spcPts val="0"/>
              </a:spcAft>
              <a:buSzPts val="1900"/>
              <a:buFont typeface="Times New Roman"/>
              <a:buChar char="•"/>
            </a:pPr>
            <a:r>
              <a:rPr lang="en-US" sz="1900">
                <a:latin typeface="Times New Roman"/>
                <a:ea typeface="Times New Roman"/>
                <a:cs typeface="Times New Roman"/>
                <a:sym typeface="Times New Roman"/>
              </a:rPr>
              <a:t>References</a:t>
            </a:r>
            <a:endParaRPr sz="1900">
              <a:latin typeface="Times New Roman"/>
              <a:ea typeface="Times New Roman"/>
              <a:cs typeface="Times New Roman"/>
              <a:sym typeface="Times New Roman"/>
            </a:endParaRPr>
          </a:p>
        </p:txBody>
      </p:sp>
      <p:sp>
        <p:nvSpPr>
          <p:cNvPr id="101" name="Google Shape;101;p2"/>
          <p:cNvSpPr/>
          <p:nvPr/>
        </p:nvSpPr>
        <p:spPr>
          <a:xfrm>
            <a:off x="0" y="0"/>
            <a:ext cx="9144000" cy="1135500"/>
          </a:xfrm>
          <a:prstGeom prst="rect">
            <a:avLst/>
          </a:prstGeom>
          <a:solidFill>
            <a:srgbClr val="B01B2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chemeClr val="lt1"/>
                </a:solidFill>
                <a:latin typeface="Arial"/>
                <a:ea typeface="Arial"/>
                <a:cs typeface="Arial"/>
                <a:sym typeface="Arial"/>
              </a:rPr>
              <a:t>Table of Contents</a:t>
            </a:r>
            <a:endParaRPr b="0" i="0" sz="1400" u="none" cap="none" strike="noStrike">
              <a:solidFill>
                <a:srgbClr val="000000"/>
              </a:solidFill>
              <a:latin typeface="Arial"/>
              <a:ea typeface="Arial"/>
              <a:cs typeface="Arial"/>
              <a:sym typeface="Arial"/>
            </a:endParaRPr>
          </a:p>
        </p:txBody>
      </p:sp>
      <p:pic>
        <p:nvPicPr>
          <p:cNvPr id="102" name="Google Shape;102;p2"/>
          <p:cNvPicPr preferRelativeResize="0"/>
          <p:nvPr/>
        </p:nvPicPr>
        <p:blipFill rotWithShape="1">
          <a:blip r:embed="rId3">
            <a:alphaModFix/>
          </a:blip>
          <a:srcRect b="0" l="0" r="0" t="0"/>
          <a:stretch/>
        </p:blipFill>
        <p:spPr>
          <a:xfrm>
            <a:off x="7828731" y="5543662"/>
            <a:ext cx="1174719" cy="1152343"/>
          </a:xfrm>
          <a:prstGeom prst="rect">
            <a:avLst/>
          </a:prstGeom>
          <a:noFill/>
          <a:ln>
            <a:noFill/>
          </a:ln>
        </p:spPr>
      </p:pic>
      <p:sp>
        <p:nvSpPr>
          <p:cNvPr id="103" name="Google Shape;103;p2"/>
          <p:cNvSpPr txBox="1"/>
          <p:nvPr/>
        </p:nvSpPr>
        <p:spPr>
          <a:xfrm>
            <a:off x="4329500" y="4768600"/>
            <a:ext cx="48426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3"/>
          <p:cNvSpPr txBox="1"/>
          <p:nvPr>
            <p:ph idx="1" type="body"/>
          </p:nvPr>
        </p:nvSpPr>
        <p:spPr>
          <a:xfrm>
            <a:off x="4293224" y="1312750"/>
            <a:ext cx="4599000" cy="5658300"/>
          </a:xfrm>
          <a:prstGeom prst="rect">
            <a:avLst/>
          </a:prstGeom>
          <a:noFill/>
          <a:ln>
            <a:noFill/>
          </a:ln>
        </p:spPr>
        <p:txBody>
          <a:bodyPr anchorCtr="0" anchor="t" bIns="45700" lIns="91425" spcFirstLastPara="1" rIns="91425" wrap="square" tIns="45700">
            <a:noAutofit/>
          </a:bodyPr>
          <a:lstStyle/>
          <a:p>
            <a:pPr indent="0" lvl="0" marL="0" rtl="0" algn="just">
              <a:lnSpc>
                <a:spcPct val="115000"/>
              </a:lnSpc>
              <a:spcBef>
                <a:spcPts val="1000"/>
              </a:spcBef>
              <a:spcAft>
                <a:spcPts val="0"/>
              </a:spcAft>
              <a:buSzPts val="1800"/>
              <a:buNone/>
            </a:pPr>
            <a:r>
              <a:t/>
            </a:r>
            <a:endParaRPr b="1" sz="2000" u="sng">
              <a:latin typeface="Times New Roman"/>
              <a:ea typeface="Times New Roman"/>
              <a:cs typeface="Times New Roman"/>
              <a:sym typeface="Times New Roman"/>
            </a:endParaRPr>
          </a:p>
          <a:p>
            <a:pPr indent="0" lvl="0" marL="0" rtl="0" algn="just">
              <a:lnSpc>
                <a:spcPct val="115000"/>
              </a:lnSpc>
              <a:spcBef>
                <a:spcPts val="1000"/>
              </a:spcBef>
              <a:spcAft>
                <a:spcPts val="0"/>
              </a:spcAft>
              <a:buNone/>
            </a:pPr>
            <a:r>
              <a:t/>
            </a:r>
            <a:endParaRPr sz="2000">
              <a:latin typeface="Times New Roman"/>
              <a:ea typeface="Times New Roman"/>
              <a:cs typeface="Times New Roman"/>
              <a:sym typeface="Times New Roman"/>
            </a:endParaRPr>
          </a:p>
          <a:p>
            <a:pPr indent="0" lvl="0" marL="228600" rtl="0" algn="just">
              <a:lnSpc>
                <a:spcPct val="115000"/>
              </a:lnSpc>
              <a:spcBef>
                <a:spcPts val="1000"/>
              </a:spcBef>
              <a:spcAft>
                <a:spcPts val="0"/>
              </a:spcAft>
              <a:buSzPts val="1800"/>
              <a:buNone/>
            </a:pPr>
            <a:r>
              <a:t/>
            </a:r>
            <a:endParaRPr sz="2000">
              <a:latin typeface="Times New Roman"/>
              <a:ea typeface="Times New Roman"/>
              <a:cs typeface="Times New Roman"/>
              <a:sym typeface="Times New Roman"/>
            </a:endParaRPr>
          </a:p>
        </p:txBody>
      </p:sp>
      <p:sp>
        <p:nvSpPr>
          <p:cNvPr id="109" name="Google Shape;109;p3"/>
          <p:cNvSpPr/>
          <p:nvPr/>
        </p:nvSpPr>
        <p:spPr>
          <a:xfrm>
            <a:off x="0" y="0"/>
            <a:ext cx="9144000" cy="1135500"/>
          </a:xfrm>
          <a:prstGeom prst="rect">
            <a:avLst/>
          </a:prstGeom>
          <a:solidFill>
            <a:srgbClr val="B01B2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chemeClr val="lt1"/>
                </a:solidFill>
                <a:latin typeface="Arial"/>
                <a:ea typeface="Arial"/>
                <a:cs typeface="Arial"/>
                <a:sym typeface="Arial"/>
              </a:rPr>
              <a:t>Introduction  </a:t>
            </a:r>
            <a:endParaRPr b="1" i="0" sz="3000" u="none" cap="none" strike="noStrike">
              <a:solidFill>
                <a:schemeClr val="lt1"/>
              </a:solidFill>
              <a:latin typeface="Arial"/>
              <a:ea typeface="Arial"/>
              <a:cs typeface="Arial"/>
              <a:sym typeface="Arial"/>
            </a:endParaRPr>
          </a:p>
        </p:txBody>
      </p:sp>
      <p:pic>
        <p:nvPicPr>
          <p:cNvPr id="110" name="Google Shape;110;p3"/>
          <p:cNvPicPr preferRelativeResize="0"/>
          <p:nvPr/>
        </p:nvPicPr>
        <p:blipFill rotWithShape="1">
          <a:blip r:embed="rId3">
            <a:alphaModFix/>
          </a:blip>
          <a:srcRect b="0" l="0" r="0" t="0"/>
          <a:stretch/>
        </p:blipFill>
        <p:spPr>
          <a:xfrm>
            <a:off x="7828731" y="5658374"/>
            <a:ext cx="1174719" cy="1152343"/>
          </a:xfrm>
          <a:prstGeom prst="rect">
            <a:avLst/>
          </a:prstGeom>
          <a:noFill/>
          <a:ln>
            <a:noFill/>
          </a:ln>
        </p:spPr>
      </p:pic>
      <p:sp>
        <p:nvSpPr>
          <p:cNvPr id="111" name="Google Shape;111;p3"/>
          <p:cNvSpPr txBox="1"/>
          <p:nvPr/>
        </p:nvSpPr>
        <p:spPr>
          <a:xfrm>
            <a:off x="140900" y="6503900"/>
            <a:ext cx="4532100" cy="306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t/>
            </a:r>
            <a:endParaRPr b="0" i="1" sz="1200" u="none" cap="none" strike="noStrike">
              <a:solidFill>
                <a:schemeClr val="dk1"/>
              </a:solidFill>
              <a:latin typeface="Calibri"/>
              <a:ea typeface="Calibri"/>
              <a:cs typeface="Calibri"/>
              <a:sym typeface="Calibri"/>
            </a:endParaRPr>
          </a:p>
        </p:txBody>
      </p:sp>
      <p:sp>
        <p:nvSpPr>
          <p:cNvPr id="112" name="Google Shape;112;p3"/>
          <p:cNvSpPr txBox="1"/>
          <p:nvPr/>
        </p:nvSpPr>
        <p:spPr>
          <a:xfrm>
            <a:off x="243175" y="1490150"/>
            <a:ext cx="8649000" cy="4901400"/>
          </a:xfrm>
          <a:prstGeom prst="rect">
            <a:avLst/>
          </a:prstGeom>
          <a:noFill/>
          <a:ln>
            <a:noFill/>
          </a:ln>
        </p:spPr>
        <p:txBody>
          <a:bodyPr anchorCtr="0" anchor="t" bIns="91425" lIns="91425" spcFirstLastPara="1" rIns="91425" wrap="square" tIns="91425">
            <a:noAutofit/>
          </a:bodyPr>
          <a:lstStyle/>
          <a:p>
            <a:pPr indent="-406400" lvl="0" marL="457200" rtl="0" algn="l">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UART - Universal Asynchronous Receiver Transmitter</a:t>
            </a:r>
            <a:endParaRPr sz="2800">
              <a:solidFill>
                <a:schemeClr val="dk1"/>
              </a:solidFill>
              <a:latin typeface="Times New Roman"/>
              <a:ea typeface="Times New Roman"/>
              <a:cs typeface="Times New Roman"/>
              <a:sym typeface="Times New Roman"/>
            </a:endParaRPr>
          </a:p>
          <a:p>
            <a:pPr indent="-406400" lvl="0" marL="457200" rtl="0" algn="l">
              <a:spcBef>
                <a:spcPts val="0"/>
              </a:spcBef>
              <a:spcAft>
                <a:spcPts val="0"/>
              </a:spcAft>
              <a:buClr>
                <a:schemeClr val="dk1"/>
              </a:buClr>
              <a:buSzPts val="2800"/>
              <a:buFont typeface="Times New Roman"/>
              <a:buChar char="●"/>
            </a:pPr>
            <a:r>
              <a:rPr i="1" lang="en-US" sz="2800">
                <a:solidFill>
                  <a:schemeClr val="dk1"/>
                </a:solidFill>
                <a:latin typeface="Times New Roman"/>
                <a:ea typeface="Times New Roman"/>
                <a:cs typeface="Times New Roman"/>
                <a:sym typeface="Times New Roman"/>
              </a:rPr>
              <a:t>Why it’s called “Universal”?</a:t>
            </a:r>
            <a:endParaRPr i="1" sz="2800">
              <a:solidFill>
                <a:schemeClr val="dk1"/>
              </a:solidFill>
              <a:latin typeface="Times New Roman"/>
              <a:ea typeface="Times New Roman"/>
              <a:cs typeface="Times New Roman"/>
              <a:sym typeface="Times New Roman"/>
            </a:endParaRPr>
          </a:p>
          <a:p>
            <a:pPr indent="0" lvl="0" marL="457200" rtl="0" algn="l">
              <a:spcBef>
                <a:spcPts val="0"/>
              </a:spcBef>
              <a:spcAft>
                <a:spcPts val="0"/>
              </a:spcAft>
              <a:buNone/>
            </a:pPr>
            <a:r>
              <a:rPr lang="en-US" sz="2800">
                <a:solidFill>
                  <a:schemeClr val="dk1"/>
                </a:solidFill>
                <a:latin typeface="Times New Roman"/>
                <a:ea typeface="Times New Roman"/>
                <a:cs typeface="Times New Roman"/>
                <a:sym typeface="Times New Roman"/>
              </a:rPr>
              <a:t>       </a:t>
            </a:r>
            <a:r>
              <a:rPr b="1" lang="en-US" sz="2800">
                <a:solidFill>
                  <a:schemeClr val="dk1"/>
                </a:solidFill>
                <a:latin typeface="Times New Roman"/>
                <a:ea typeface="Times New Roman"/>
                <a:cs typeface="Times New Roman"/>
                <a:sym typeface="Times New Roman"/>
              </a:rPr>
              <a:t>Because its parameters - speed, data size and so on- are not fixed, and can be configured.</a:t>
            </a:r>
            <a:endParaRPr b="1" sz="2800">
              <a:solidFill>
                <a:schemeClr val="dk1"/>
              </a:solidFill>
              <a:latin typeface="Times New Roman"/>
              <a:ea typeface="Times New Roman"/>
              <a:cs typeface="Times New Roman"/>
              <a:sym typeface="Times New Roman"/>
            </a:endParaRPr>
          </a:p>
          <a:p>
            <a:pPr indent="-406400" lvl="0" marL="457200" rtl="0" algn="l">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It is used for asynchronous serial communication.</a:t>
            </a:r>
            <a:endParaRPr sz="2800">
              <a:solidFill>
                <a:schemeClr val="dk1"/>
              </a:solidFill>
              <a:latin typeface="Times New Roman"/>
              <a:ea typeface="Times New Roman"/>
              <a:cs typeface="Times New Roman"/>
              <a:sym typeface="Times New Roman"/>
            </a:endParaRPr>
          </a:p>
          <a:p>
            <a:pPr indent="-406400" lvl="0" marL="457200" rtl="0" algn="l">
              <a:spcBef>
                <a:spcPts val="0"/>
              </a:spcBef>
              <a:spcAft>
                <a:spcPts val="0"/>
              </a:spcAft>
              <a:buClr>
                <a:schemeClr val="dk1"/>
              </a:buClr>
              <a:buSzPts val="2800"/>
              <a:buChar char="●"/>
            </a:pPr>
            <a:r>
              <a:rPr lang="en-US" sz="2800">
                <a:solidFill>
                  <a:schemeClr val="dk1"/>
                </a:solidFill>
                <a:latin typeface="Times New Roman"/>
                <a:ea typeface="Times New Roman"/>
                <a:cs typeface="Times New Roman"/>
                <a:sym typeface="Times New Roman"/>
              </a:rPr>
              <a:t>Baud Rate is a measure of the speed of data transfer, expressed as symbol per sec/bits per sec.</a:t>
            </a:r>
            <a:r>
              <a:rPr lang="en-US" sz="2800">
                <a:solidFill>
                  <a:schemeClr val="dk1"/>
                </a:solidFill>
                <a:latin typeface="Calibri"/>
                <a:ea typeface="Calibri"/>
                <a:cs typeface="Calibri"/>
                <a:sym typeface="Calibri"/>
              </a:rPr>
              <a:t> </a:t>
            </a:r>
            <a:endParaRPr sz="2800">
              <a:solidFill>
                <a:schemeClr val="dk1"/>
              </a:solidFill>
              <a:latin typeface="Calibri"/>
              <a:ea typeface="Calibri"/>
              <a:cs typeface="Calibri"/>
              <a:sym typeface="Calibri"/>
            </a:endParaRPr>
          </a:p>
          <a:p>
            <a:pPr indent="-406400" lvl="0" marL="457200" rtl="0" algn="just">
              <a:lnSpc>
                <a:spcPct val="115000"/>
              </a:lnSpc>
              <a:spcBef>
                <a:spcPts val="1000"/>
              </a:spcBef>
              <a:spcAft>
                <a:spcPts val="0"/>
              </a:spcAft>
              <a:buClr>
                <a:schemeClr val="dk1"/>
              </a:buClr>
              <a:buSzPts val="2800"/>
              <a:buFont typeface="Calibri"/>
              <a:buChar char="●"/>
            </a:pPr>
            <a:r>
              <a:rPr lang="en-US" sz="2800">
                <a:solidFill>
                  <a:schemeClr val="dk1"/>
                </a:solidFill>
                <a:latin typeface="Times New Roman"/>
                <a:ea typeface="Times New Roman"/>
                <a:cs typeface="Times New Roman"/>
                <a:sym typeface="Times New Roman"/>
              </a:rPr>
              <a:t>Bit rate = No. of bits transferred per sec. Common baud rates: 9600, 4800, 19200, 38400 etc.</a:t>
            </a:r>
            <a:endParaRPr sz="2800">
              <a:solidFill>
                <a:schemeClr val="dk1"/>
              </a:solidFill>
              <a:latin typeface="Calibri"/>
              <a:ea typeface="Calibri"/>
              <a:cs typeface="Calibri"/>
              <a:sym typeface="Calibri"/>
            </a:endParaRPr>
          </a:p>
          <a:p>
            <a:pPr indent="0" lvl="0" marL="0" rtl="0" algn="l">
              <a:spcBef>
                <a:spcPts val="0"/>
              </a:spcBef>
              <a:spcAft>
                <a:spcPts val="0"/>
              </a:spcAft>
              <a:buNone/>
            </a:pPr>
            <a:r>
              <a:t/>
            </a:r>
            <a:endParaRPr sz="2800">
              <a:solidFill>
                <a:schemeClr val="dk1"/>
              </a:solidFill>
              <a:latin typeface="Calibri"/>
              <a:ea typeface="Calibri"/>
              <a:cs typeface="Calibri"/>
              <a:sym typeface="Calibri"/>
            </a:endParaRPr>
          </a:p>
          <a:p>
            <a:pPr indent="0" lvl="0" marL="0" rtl="0" algn="l">
              <a:spcBef>
                <a:spcPts val="0"/>
              </a:spcBef>
              <a:spcAft>
                <a:spcPts val="0"/>
              </a:spcAft>
              <a:buNone/>
            </a:pPr>
            <a:r>
              <a:t/>
            </a:r>
            <a:endParaRPr sz="2800">
              <a:solidFill>
                <a:schemeClr val="dk1"/>
              </a:solidFill>
              <a:latin typeface="Calibri"/>
              <a:ea typeface="Calibri"/>
              <a:cs typeface="Calibri"/>
              <a:sym typeface="Calibri"/>
            </a:endParaRPr>
          </a:p>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4"/>
          <p:cNvSpPr txBox="1"/>
          <p:nvPr>
            <p:ph idx="1" type="body"/>
          </p:nvPr>
        </p:nvSpPr>
        <p:spPr>
          <a:xfrm>
            <a:off x="83900" y="1329075"/>
            <a:ext cx="8863800" cy="4376700"/>
          </a:xfrm>
          <a:prstGeom prst="rect">
            <a:avLst/>
          </a:prstGeom>
          <a:noFill/>
          <a:ln>
            <a:noFill/>
          </a:ln>
        </p:spPr>
        <p:txBody>
          <a:bodyPr anchorCtr="0" anchor="t" bIns="45700" lIns="91425" spcFirstLastPara="1" rIns="91425" wrap="square" tIns="45700">
            <a:noAutofit/>
          </a:bodyPr>
          <a:lstStyle/>
          <a:p>
            <a:pPr indent="0" lvl="0" marL="0" rtl="0" algn="just">
              <a:lnSpc>
                <a:spcPct val="115000"/>
              </a:lnSpc>
              <a:spcBef>
                <a:spcPts val="1000"/>
              </a:spcBef>
              <a:spcAft>
                <a:spcPts val="0"/>
              </a:spcAft>
              <a:buNone/>
            </a:pPr>
            <a:r>
              <a:rPr b="1" lang="en-US" sz="2700">
                <a:latin typeface="Times New Roman"/>
                <a:ea typeface="Times New Roman"/>
                <a:cs typeface="Times New Roman"/>
                <a:sym typeface="Times New Roman"/>
              </a:rPr>
              <a:t>Synchronisation in UART:</a:t>
            </a:r>
            <a:endParaRPr b="1" sz="2700">
              <a:latin typeface="Times New Roman"/>
              <a:ea typeface="Times New Roman"/>
              <a:cs typeface="Times New Roman"/>
              <a:sym typeface="Times New Roman"/>
            </a:endParaRPr>
          </a:p>
          <a:p>
            <a:pPr indent="0" lvl="0" marL="0" rtl="0" algn="just">
              <a:lnSpc>
                <a:spcPct val="115000"/>
              </a:lnSpc>
              <a:spcBef>
                <a:spcPts val="1000"/>
              </a:spcBef>
              <a:spcAft>
                <a:spcPts val="0"/>
              </a:spcAft>
              <a:buNone/>
            </a:pPr>
            <a:r>
              <a:rPr lang="en-US" sz="2700">
                <a:latin typeface="Times New Roman"/>
                <a:ea typeface="Times New Roman"/>
                <a:cs typeface="Times New Roman"/>
                <a:sym typeface="Times New Roman"/>
              </a:rPr>
              <a:t>1.Start Bit - </a:t>
            </a:r>
            <a:r>
              <a:rPr lang="en-US" sz="2400">
                <a:latin typeface="Times New Roman"/>
                <a:ea typeface="Times New Roman"/>
                <a:cs typeface="Times New Roman"/>
                <a:sym typeface="Times New Roman"/>
              </a:rPr>
              <a:t>Every data frame begins with a start bit(logic 0)</a:t>
            </a:r>
            <a:endParaRPr sz="2400">
              <a:latin typeface="Times New Roman"/>
              <a:ea typeface="Times New Roman"/>
              <a:cs typeface="Times New Roman"/>
              <a:sym typeface="Times New Roman"/>
            </a:endParaRPr>
          </a:p>
          <a:p>
            <a:pPr indent="0" lvl="0" marL="0" rtl="0" algn="just">
              <a:lnSpc>
                <a:spcPct val="115000"/>
              </a:lnSpc>
              <a:spcBef>
                <a:spcPts val="1000"/>
              </a:spcBef>
              <a:spcAft>
                <a:spcPts val="0"/>
              </a:spcAft>
              <a:buNone/>
            </a:pPr>
            <a:r>
              <a:rPr lang="en-US" sz="2700">
                <a:latin typeface="Times New Roman"/>
                <a:ea typeface="Times New Roman"/>
                <a:cs typeface="Times New Roman"/>
                <a:sym typeface="Times New Roman"/>
              </a:rPr>
              <a:t>2.Baud Rate Agreement - </a:t>
            </a:r>
            <a:r>
              <a:rPr lang="en-US" sz="2400">
                <a:latin typeface="Times New Roman"/>
                <a:ea typeface="Times New Roman"/>
                <a:cs typeface="Times New Roman"/>
                <a:sym typeface="Times New Roman"/>
              </a:rPr>
              <a:t>Both transmitter and receiver must be configured to the same baud rate</a:t>
            </a:r>
            <a:endParaRPr sz="2400">
              <a:latin typeface="Times New Roman"/>
              <a:ea typeface="Times New Roman"/>
              <a:cs typeface="Times New Roman"/>
              <a:sym typeface="Times New Roman"/>
            </a:endParaRPr>
          </a:p>
          <a:p>
            <a:pPr indent="0" lvl="0" marL="0" rtl="0" algn="just">
              <a:lnSpc>
                <a:spcPct val="115000"/>
              </a:lnSpc>
              <a:spcBef>
                <a:spcPts val="1000"/>
              </a:spcBef>
              <a:spcAft>
                <a:spcPts val="0"/>
              </a:spcAft>
              <a:buNone/>
            </a:pPr>
            <a:r>
              <a:rPr lang="en-US" sz="2700">
                <a:latin typeface="Times New Roman"/>
                <a:ea typeface="Times New Roman"/>
                <a:cs typeface="Times New Roman"/>
                <a:sym typeface="Times New Roman"/>
              </a:rPr>
              <a:t>3.Stop Bits(s)- </a:t>
            </a:r>
            <a:r>
              <a:rPr lang="en-US" sz="2400">
                <a:latin typeface="Times New Roman"/>
                <a:ea typeface="Times New Roman"/>
                <a:cs typeface="Times New Roman"/>
                <a:sym typeface="Times New Roman"/>
              </a:rPr>
              <a:t>Marks the end of the data frame(logic 1)</a:t>
            </a:r>
            <a:endParaRPr sz="2400">
              <a:latin typeface="Times New Roman"/>
              <a:ea typeface="Times New Roman"/>
              <a:cs typeface="Times New Roman"/>
              <a:sym typeface="Times New Roman"/>
            </a:endParaRPr>
          </a:p>
          <a:p>
            <a:pPr indent="0" lvl="0" marL="0" rtl="0" algn="just">
              <a:lnSpc>
                <a:spcPct val="115000"/>
              </a:lnSpc>
              <a:spcBef>
                <a:spcPts val="1000"/>
              </a:spcBef>
              <a:spcAft>
                <a:spcPts val="0"/>
              </a:spcAft>
              <a:buNone/>
            </a:pPr>
            <a:r>
              <a:rPr lang="en-US" sz="2700">
                <a:latin typeface="Times New Roman"/>
                <a:ea typeface="Times New Roman"/>
                <a:cs typeface="Times New Roman"/>
                <a:sym typeface="Times New Roman"/>
              </a:rPr>
              <a:t>4.Idle Line State -</a:t>
            </a:r>
            <a:r>
              <a:rPr lang="en-US" sz="2400">
                <a:latin typeface="Times New Roman"/>
                <a:ea typeface="Times New Roman"/>
                <a:cs typeface="Times New Roman"/>
                <a:sym typeface="Times New Roman"/>
              </a:rPr>
              <a:t> Line remains high(logic 1) when no data is being transmitted.</a:t>
            </a:r>
            <a:endParaRPr sz="2400">
              <a:latin typeface="Times New Roman"/>
              <a:ea typeface="Times New Roman"/>
              <a:cs typeface="Times New Roman"/>
              <a:sym typeface="Times New Roman"/>
            </a:endParaRPr>
          </a:p>
          <a:p>
            <a:pPr indent="0" lvl="0" marL="0" rtl="0" algn="just">
              <a:lnSpc>
                <a:spcPct val="115000"/>
              </a:lnSpc>
              <a:spcBef>
                <a:spcPts val="1000"/>
              </a:spcBef>
              <a:spcAft>
                <a:spcPts val="0"/>
              </a:spcAft>
              <a:buNone/>
            </a:pPr>
            <a:r>
              <a:rPr lang="en-US" sz="2700">
                <a:latin typeface="Times New Roman"/>
                <a:ea typeface="Times New Roman"/>
                <a:cs typeface="Times New Roman"/>
                <a:sym typeface="Times New Roman"/>
              </a:rPr>
              <a:t>5.Parity Bit(optional) - </a:t>
            </a:r>
            <a:r>
              <a:rPr lang="en-US" sz="2400">
                <a:latin typeface="Times New Roman"/>
                <a:ea typeface="Times New Roman"/>
                <a:cs typeface="Times New Roman"/>
                <a:sym typeface="Times New Roman"/>
              </a:rPr>
              <a:t>Not for synchronization but helps detect transmission errors.</a:t>
            </a:r>
            <a:endParaRPr sz="2400">
              <a:latin typeface="Times New Roman"/>
              <a:ea typeface="Times New Roman"/>
              <a:cs typeface="Times New Roman"/>
              <a:sym typeface="Times New Roman"/>
            </a:endParaRPr>
          </a:p>
          <a:p>
            <a:pPr indent="0" lvl="0" marL="457200" rtl="0" algn="l">
              <a:lnSpc>
                <a:spcPct val="115000"/>
              </a:lnSpc>
              <a:spcBef>
                <a:spcPts val="1000"/>
              </a:spcBef>
              <a:spcAft>
                <a:spcPts val="0"/>
              </a:spcAft>
              <a:buNone/>
            </a:pPr>
            <a:r>
              <a:rPr lang="en-US" sz="2400">
                <a:latin typeface="Times New Roman"/>
                <a:ea typeface="Times New Roman"/>
                <a:cs typeface="Times New Roman"/>
                <a:sym typeface="Times New Roman"/>
              </a:rPr>
              <a:t> </a:t>
            </a:r>
            <a:endParaRPr sz="2400">
              <a:latin typeface="Times New Roman"/>
              <a:ea typeface="Times New Roman"/>
              <a:cs typeface="Times New Roman"/>
              <a:sym typeface="Times New Roman"/>
            </a:endParaRPr>
          </a:p>
          <a:p>
            <a:pPr indent="0" lvl="0" marL="0" rtl="0" algn="just">
              <a:lnSpc>
                <a:spcPct val="115000"/>
              </a:lnSpc>
              <a:spcBef>
                <a:spcPts val="1000"/>
              </a:spcBef>
              <a:spcAft>
                <a:spcPts val="0"/>
              </a:spcAft>
              <a:buSzPts val="1800"/>
              <a:buNone/>
            </a:pPr>
            <a:r>
              <a:t/>
            </a:r>
            <a:endParaRPr>
              <a:latin typeface="Times New Roman"/>
              <a:ea typeface="Times New Roman"/>
              <a:cs typeface="Times New Roman"/>
              <a:sym typeface="Times New Roman"/>
            </a:endParaRPr>
          </a:p>
        </p:txBody>
      </p:sp>
      <p:sp>
        <p:nvSpPr>
          <p:cNvPr id="118" name="Google Shape;118;p4"/>
          <p:cNvSpPr/>
          <p:nvPr/>
        </p:nvSpPr>
        <p:spPr>
          <a:xfrm>
            <a:off x="0" y="40246"/>
            <a:ext cx="9144000" cy="1135500"/>
          </a:xfrm>
          <a:prstGeom prst="rect">
            <a:avLst/>
          </a:prstGeom>
          <a:solidFill>
            <a:srgbClr val="B01B2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chemeClr val="lt1"/>
                </a:solidFill>
                <a:latin typeface="Arial"/>
                <a:ea typeface="Arial"/>
                <a:cs typeface="Arial"/>
                <a:sym typeface="Arial"/>
              </a:rPr>
              <a:t>Introduction</a:t>
            </a:r>
            <a:endParaRPr b="1" i="0" sz="3000" u="none" cap="none" strike="noStrike">
              <a:solidFill>
                <a:schemeClr val="lt1"/>
              </a:solidFill>
              <a:latin typeface="Arial"/>
              <a:ea typeface="Arial"/>
              <a:cs typeface="Arial"/>
              <a:sym typeface="Arial"/>
            </a:endParaRPr>
          </a:p>
        </p:txBody>
      </p:sp>
      <p:pic>
        <p:nvPicPr>
          <p:cNvPr id="119" name="Google Shape;119;p4"/>
          <p:cNvPicPr preferRelativeResize="0"/>
          <p:nvPr/>
        </p:nvPicPr>
        <p:blipFill rotWithShape="1">
          <a:blip r:embed="rId3">
            <a:alphaModFix/>
          </a:blip>
          <a:srcRect b="0" l="0" r="0" t="0"/>
          <a:stretch/>
        </p:blipFill>
        <p:spPr>
          <a:xfrm>
            <a:off x="7773114" y="5705657"/>
            <a:ext cx="1174719" cy="115234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5"/>
          <p:cNvSpPr txBox="1"/>
          <p:nvPr>
            <p:ph idx="1" type="body"/>
          </p:nvPr>
        </p:nvSpPr>
        <p:spPr>
          <a:xfrm>
            <a:off x="198925" y="1199625"/>
            <a:ext cx="8945100" cy="5658300"/>
          </a:xfrm>
          <a:prstGeom prst="rect">
            <a:avLst/>
          </a:prstGeom>
          <a:noFill/>
          <a:ln>
            <a:noFill/>
          </a:ln>
        </p:spPr>
        <p:txBody>
          <a:bodyPr anchorCtr="0" anchor="t" bIns="45700" lIns="91425" spcFirstLastPara="1" rIns="91425" wrap="square" tIns="45700">
            <a:noAutofit/>
          </a:bodyPr>
          <a:lstStyle/>
          <a:p>
            <a:pPr indent="0" lvl="0" marL="0" rtl="0" algn="just">
              <a:lnSpc>
                <a:spcPct val="115000"/>
              </a:lnSpc>
              <a:spcBef>
                <a:spcPts val="0"/>
              </a:spcBef>
              <a:spcAft>
                <a:spcPts val="0"/>
              </a:spcAft>
              <a:buNone/>
            </a:pPr>
            <a:r>
              <a:rPr lang="en-US" sz="2700">
                <a:latin typeface="Times New Roman"/>
                <a:ea typeface="Times New Roman"/>
                <a:cs typeface="Times New Roman"/>
                <a:sym typeface="Times New Roman"/>
              </a:rPr>
              <a:t>UART Communication may be simplex, full duplex, or half duplex</a:t>
            </a:r>
            <a:endParaRPr sz="2700">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b="1" lang="en-US" sz="2700">
                <a:latin typeface="Times New Roman"/>
                <a:ea typeface="Times New Roman"/>
                <a:cs typeface="Times New Roman"/>
                <a:sym typeface="Times New Roman"/>
              </a:rPr>
              <a:t>Simplex</a:t>
            </a:r>
            <a:r>
              <a:rPr lang="en-US" sz="2700">
                <a:latin typeface="Times New Roman"/>
                <a:ea typeface="Times New Roman"/>
                <a:cs typeface="Times New Roman"/>
                <a:sym typeface="Times New Roman"/>
              </a:rPr>
              <a:t>: One direction only, transmitter to receiver</a:t>
            </a:r>
            <a:endParaRPr sz="2700">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b="1" lang="en-US" sz="2700">
                <a:latin typeface="Times New Roman"/>
                <a:ea typeface="Times New Roman"/>
                <a:cs typeface="Times New Roman"/>
                <a:sym typeface="Times New Roman"/>
              </a:rPr>
              <a:t>Half Duplex</a:t>
            </a:r>
            <a:r>
              <a:rPr lang="en-US" sz="2700">
                <a:latin typeface="Times New Roman"/>
                <a:ea typeface="Times New Roman"/>
                <a:cs typeface="Times New Roman"/>
                <a:sym typeface="Times New Roman"/>
              </a:rPr>
              <a:t>: Devices take turns transmitting and receiving</a:t>
            </a:r>
            <a:endParaRPr sz="2700">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b="1" lang="en-US" sz="2700">
                <a:latin typeface="Times New Roman"/>
                <a:ea typeface="Times New Roman"/>
                <a:cs typeface="Times New Roman"/>
                <a:sym typeface="Times New Roman"/>
              </a:rPr>
              <a:t>Full Duplex</a:t>
            </a:r>
            <a:r>
              <a:rPr lang="en-US" sz="2700">
                <a:latin typeface="Times New Roman"/>
                <a:ea typeface="Times New Roman"/>
                <a:cs typeface="Times New Roman"/>
                <a:sym typeface="Times New Roman"/>
              </a:rPr>
              <a:t>: Devices can send and receive at the same time.</a:t>
            </a:r>
            <a:endParaRPr sz="2700">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lang="en-US" sz="2700">
                <a:latin typeface="Times New Roman"/>
                <a:ea typeface="Times New Roman"/>
                <a:cs typeface="Times New Roman"/>
                <a:sym typeface="Times New Roman"/>
              </a:rPr>
              <a:t>Data format and transmission speed are configurable.</a:t>
            </a:r>
            <a:endParaRPr sz="2700">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lang="en-US" sz="2700">
                <a:latin typeface="Times New Roman"/>
                <a:ea typeface="Times New Roman"/>
                <a:cs typeface="Times New Roman"/>
                <a:sym typeface="Times New Roman"/>
              </a:rPr>
              <a:t>Communication goes through the two independent lines/wires.</a:t>
            </a:r>
            <a:endParaRPr sz="2700">
              <a:latin typeface="Times New Roman"/>
              <a:ea typeface="Times New Roman"/>
              <a:cs typeface="Times New Roman"/>
              <a:sym typeface="Times New Roman"/>
            </a:endParaRPr>
          </a:p>
        </p:txBody>
      </p:sp>
      <p:sp>
        <p:nvSpPr>
          <p:cNvPr id="125" name="Google Shape;125;p5"/>
          <p:cNvSpPr/>
          <p:nvPr/>
        </p:nvSpPr>
        <p:spPr>
          <a:xfrm>
            <a:off x="0" y="0"/>
            <a:ext cx="9144000" cy="1135500"/>
          </a:xfrm>
          <a:prstGeom prst="rect">
            <a:avLst/>
          </a:prstGeom>
          <a:solidFill>
            <a:srgbClr val="B01B2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000"/>
              <a:buFont typeface="Arial"/>
              <a:buNone/>
            </a:pPr>
            <a:r>
              <a:rPr b="1" lang="en-US" sz="3000">
                <a:solidFill>
                  <a:schemeClr val="lt1"/>
                </a:solidFill>
              </a:rPr>
              <a:t>Introduction</a:t>
            </a:r>
            <a:endParaRPr b="1" i="0" sz="3000" u="none" cap="none" strike="noStrike">
              <a:solidFill>
                <a:schemeClr val="lt1"/>
              </a:solidFill>
              <a:latin typeface="Arial"/>
              <a:ea typeface="Arial"/>
              <a:cs typeface="Arial"/>
              <a:sym typeface="Arial"/>
            </a:endParaRPr>
          </a:p>
        </p:txBody>
      </p:sp>
      <p:pic>
        <p:nvPicPr>
          <p:cNvPr id="126" name="Google Shape;126;p5"/>
          <p:cNvPicPr preferRelativeResize="0"/>
          <p:nvPr/>
        </p:nvPicPr>
        <p:blipFill rotWithShape="1">
          <a:blip r:embed="rId3">
            <a:alphaModFix/>
          </a:blip>
          <a:srcRect b="0" l="0" r="0" t="0"/>
          <a:stretch/>
        </p:blipFill>
        <p:spPr>
          <a:xfrm>
            <a:off x="7969289" y="5705657"/>
            <a:ext cx="1174719" cy="1152343"/>
          </a:xfrm>
          <a:prstGeom prst="rect">
            <a:avLst/>
          </a:prstGeom>
          <a:noFill/>
          <a:ln>
            <a:noFill/>
          </a:ln>
        </p:spPr>
      </p:pic>
      <p:sp>
        <p:nvSpPr>
          <p:cNvPr id="127" name="Google Shape;127;p5"/>
          <p:cNvSpPr txBox="1"/>
          <p:nvPr/>
        </p:nvSpPr>
        <p:spPr>
          <a:xfrm>
            <a:off x="198923" y="6474281"/>
            <a:ext cx="4532100" cy="306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t/>
            </a:r>
            <a:endParaRPr b="0" i="1" sz="1200" u="none" cap="none" strike="noStrike">
              <a:solidFill>
                <a:schemeClr val="dk1"/>
              </a:solidFill>
              <a:latin typeface="Calibri"/>
              <a:ea typeface="Calibri"/>
              <a:cs typeface="Calibri"/>
              <a:sym typeface="Calibri"/>
            </a:endParaRPr>
          </a:p>
        </p:txBody>
      </p:sp>
      <p:pic>
        <p:nvPicPr>
          <p:cNvPr id="128" name="Google Shape;128;p5"/>
          <p:cNvPicPr preferRelativeResize="0"/>
          <p:nvPr/>
        </p:nvPicPr>
        <p:blipFill>
          <a:blip r:embed="rId4">
            <a:alphaModFix/>
          </a:blip>
          <a:stretch>
            <a:fillRect/>
          </a:stretch>
        </p:blipFill>
        <p:spPr>
          <a:xfrm>
            <a:off x="2200175" y="4650600"/>
            <a:ext cx="4390076" cy="20393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6"/>
          <p:cNvSpPr txBox="1"/>
          <p:nvPr>
            <p:ph idx="1" type="body"/>
          </p:nvPr>
        </p:nvSpPr>
        <p:spPr>
          <a:xfrm>
            <a:off x="83900" y="1263125"/>
            <a:ext cx="8548800" cy="5111100"/>
          </a:xfrm>
          <a:prstGeom prst="rect">
            <a:avLst/>
          </a:prstGeom>
          <a:noFill/>
          <a:ln>
            <a:noFill/>
          </a:ln>
        </p:spPr>
        <p:txBody>
          <a:bodyPr anchorCtr="0" anchor="t" bIns="45700" lIns="91425" spcFirstLastPara="1" rIns="91425" wrap="square" tIns="45700">
            <a:noAutofit/>
          </a:bodyPr>
          <a:lstStyle/>
          <a:p>
            <a:pPr indent="0" lvl="0" marL="0" rtl="0" algn="just">
              <a:lnSpc>
                <a:spcPct val="115000"/>
              </a:lnSpc>
              <a:spcBef>
                <a:spcPts val="1000"/>
              </a:spcBef>
              <a:spcAft>
                <a:spcPts val="0"/>
              </a:spcAft>
              <a:buNone/>
            </a:pPr>
            <a:r>
              <a:rPr b="1" lang="en-US" sz="2700">
                <a:latin typeface="Times New Roman"/>
                <a:ea typeface="Times New Roman"/>
                <a:cs typeface="Times New Roman"/>
                <a:sym typeface="Times New Roman"/>
              </a:rPr>
              <a:t>Data Framing:</a:t>
            </a:r>
            <a:endParaRPr b="1" sz="2700">
              <a:latin typeface="Times New Roman"/>
              <a:ea typeface="Times New Roman"/>
              <a:cs typeface="Times New Roman"/>
              <a:sym typeface="Times New Roman"/>
            </a:endParaRPr>
          </a:p>
          <a:p>
            <a:pPr indent="0" lvl="0" marL="0" rtl="0" algn="just">
              <a:lnSpc>
                <a:spcPct val="115000"/>
              </a:lnSpc>
              <a:spcBef>
                <a:spcPts val="1000"/>
              </a:spcBef>
              <a:spcAft>
                <a:spcPts val="0"/>
              </a:spcAft>
              <a:buNone/>
            </a:pPr>
            <a:r>
              <a:t/>
            </a:r>
            <a:endParaRPr sz="2700">
              <a:latin typeface="Times New Roman"/>
              <a:ea typeface="Times New Roman"/>
              <a:cs typeface="Times New Roman"/>
              <a:sym typeface="Times New Roman"/>
            </a:endParaRPr>
          </a:p>
          <a:p>
            <a:pPr indent="0" lvl="0" marL="457200" rtl="0" algn="just">
              <a:lnSpc>
                <a:spcPct val="115000"/>
              </a:lnSpc>
              <a:spcBef>
                <a:spcPts val="1000"/>
              </a:spcBef>
              <a:spcAft>
                <a:spcPts val="0"/>
              </a:spcAft>
              <a:buNone/>
            </a:pPr>
            <a:r>
              <a:t/>
            </a:r>
            <a:endParaRPr sz="2700">
              <a:latin typeface="Times New Roman"/>
              <a:ea typeface="Times New Roman"/>
              <a:cs typeface="Times New Roman"/>
              <a:sym typeface="Times New Roman"/>
            </a:endParaRPr>
          </a:p>
          <a:p>
            <a:pPr indent="0" lvl="0" marL="457200" rtl="0" algn="just">
              <a:lnSpc>
                <a:spcPct val="115000"/>
              </a:lnSpc>
              <a:spcBef>
                <a:spcPts val="1000"/>
              </a:spcBef>
              <a:spcAft>
                <a:spcPts val="0"/>
              </a:spcAft>
              <a:buNone/>
            </a:pPr>
            <a:r>
              <a:t/>
            </a:r>
            <a:endParaRPr sz="2700">
              <a:latin typeface="Times New Roman"/>
              <a:ea typeface="Times New Roman"/>
              <a:cs typeface="Times New Roman"/>
              <a:sym typeface="Times New Roman"/>
            </a:endParaRPr>
          </a:p>
          <a:p>
            <a:pPr indent="0" lvl="0" marL="0" rtl="0" algn="just">
              <a:lnSpc>
                <a:spcPct val="115000"/>
              </a:lnSpc>
              <a:spcBef>
                <a:spcPts val="1000"/>
              </a:spcBef>
              <a:spcAft>
                <a:spcPts val="0"/>
              </a:spcAft>
              <a:buNone/>
            </a:pPr>
            <a:r>
              <a:rPr lang="en-US" sz="2700">
                <a:latin typeface="Times New Roman"/>
                <a:ea typeface="Times New Roman"/>
                <a:cs typeface="Times New Roman"/>
                <a:sym typeface="Times New Roman"/>
              </a:rPr>
              <a:t>1.Start Bit: The UART transmission line is normally held at a high voltage level when idle (ie. its not transmitting data)</a:t>
            </a:r>
            <a:endParaRPr sz="2700">
              <a:latin typeface="Times New Roman"/>
              <a:ea typeface="Times New Roman"/>
              <a:cs typeface="Times New Roman"/>
              <a:sym typeface="Times New Roman"/>
            </a:endParaRPr>
          </a:p>
          <a:p>
            <a:pPr indent="0" lvl="0" marL="0" rtl="0" algn="just">
              <a:lnSpc>
                <a:spcPct val="115000"/>
              </a:lnSpc>
              <a:spcBef>
                <a:spcPts val="1000"/>
              </a:spcBef>
              <a:spcAft>
                <a:spcPts val="1000"/>
              </a:spcAft>
              <a:buNone/>
            </a:pPr>
            <a:r>
              <a:rPr lang="en-US" sz="2700">
                <a:latin typeface="Times New Roman"/>
                <a:ea typeface="Times New Roman"/>
                <a:cs typeface="Times New Roman"/>
                <a:sym typeface="Times New Roman"/>
              </a:rPr>
              <a:t>2.Data Frame: If one parity bit is used, then next 5-8 bits carry the “data bits”(information). Otherwise, data bits can be 5-9 bits.</a:t>
            </a:r>
            <a:endParaRPr sz="2700">
              <a:latin typeface="Times New Roman"/>
              <a:ea typeface="Times New Roman"/>
              <a:cs typeface="Times New Roman"/>
              <a:sym typeface="Times New Roman"/>
            </a:endParaRPr>
          </a:p>
        </p:txBody>
      </p:sp>
      <p:sp>
        <p:nvSpPr>
          <p:cNvPr id="134" name="Google Shape;134;p6"/>
          <p:cNvSpPr/>
          <p:nvPr/>
        </p:nvSpPr>
        <p:spPr>
          <a:xfrm>
            <a:off x="0" y="0"/>
            <a:ext cx="9144000" cy="1135452"/>
          </a:xfrm>
          <a:prstGeom prst="rect">
            <a:avLst/>
          </a:prstGeom>
          <a:solidFill>
            <a:srgbClr val="B01B2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000"/>
              <a:buFont typeface="Arial"/>
              <a:buNone/>
            </a:pPr>
            <a:r>
              <a:rPr b="1" lang="en-US" sz="3000">
                <a:solidFill>
                  <a:schemeClr val="lt1"/>
                </a:solidFill>
              </a:rPr>
              <a:t>Introduction</a:t>
            </a:r>
            <a:endParaRPr b="1" i="0" sz="3000" u="none" cap="none" strike="noStrike">
              <a:solidFill>
                <a:schemeClr val="lt1"/>
              </a:solidFill>
              <a:latin typeface="Arial"/>
              <a:ea typeface="Arial"/>
              <a:cs typeface="Arial"/>
              <a:sym typeface="Arial"/>
            </a:endParaRPr>
          </a:p>
        </p:txBody>
      </p:sp>
      <p:pic>
        <p:nvPicPr>
          <p:cNvPr id="135" name="Google Shape;135;p6"/>
          <p:cNvPicPr preferRelativeResize="0"/>
          <p:nvPr/>
        </p:nvPicPr>
        <p:blipFill rotWithShape="1">
          <a:blip r:embed="rId3">
            <a:alphaModFix/>
          </a:blip>
          <a:srcRect b="0" l="0" r="0" t="0"/>
          <a:stretch/>
        </p:blipFill>
        <p:spPr>
          <a:xfrm>
            <a:off x="7828731" y="5658374"/>
            <a:ext cx="1174719" cy="1152343"/>
          </a:xfrm>
          <a:prstGeom prst="rect">
            <a:avLst/>
          </a:prstGeom>
          <a:noFill/>
          <a:ln>
            <a:noFill/>
          </a:ln>
        </p:spPr>
      </p:pic>
      <p:pic>
        <p:nvPicPr>
          <p:cNvPr id="136" name="Google Shape;136;p6"/>
          <p:cNvPicPr preferRelativeResize="0"/>
          <p:nvPr/>
        </p:nvPicPr>
        <p:blipFill>
          <a:blip r:embed="rId4">
            <a:alphaModFix/>
          </a:blip>
          <a:stretch>
            <a:fillRect/>
          </a:stretch>
        </p:blipFill>
        <p:spPr>
          <a:xfrm>
            <a:off x="465750" y="1892450"/>
            <a:ext cx="8212492" cy="17861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7"/>
          <p:cNvSpPr txBox="1"/>
          <p:nvPr>
            <p:ph idx="1" type="body"/>
          </p:nvPr>
        </p:nvSpPr>
        <p:spPr>
          <a:xfrm>
            <a:off x="83900" y="1285950"/>
            <a:ext cx="8718900" cy="4747800"/>
          </a:xfrm>
          <a:prstGeom prst="rect">
            <a:avLst/>
          </a:prstGeom>
          <a:noFill/>
          <a:ln>
            <a:noFill/>
          </a:ln>
        </p:spPr>
        <p:txBody>
          <a:bodyPr anchorCtr="0" anchor="t" bIns="45700" lIns="91425" spcFirstLastPara="1" rIns="91425" wrap="square" tIns="45700">
            <a:noAutofit/>
          </a:bodyPr>
          <a:lstStyle/>
          <a:p>
            <a:pPr indent="0" lvl="0" marL="0" rtl="0" algn="just">
              <a:lnSpc>
                <a:spcPct val="115000"/>
              </a:lnSpc>
              <a:spcBef>
                <a:spcPts val="1200"/>
              </a:spcBef>
              <a:spcAft>
                <a:spcPts val="0"/>
              </a:spcAft>
              <a:buSzPts val="1800"/>
              <a:buNone/>
            </a:pPr>
            <a:r>
              <a:rPr lang="en-US" sz="2700">
                <a:latin typeface="Times New Roman"/>
                <a:ea typeface="Times New Roman"/>
                <a:cs typeface="Times New Roman"/>
                <a:sym typeface="Times New Roman"/>
              </a:rPr>
              <a:t>3. </a:t>
            </a:r>
            <a:r>
              <a:rPr b="1" lang="en-US" sz="2700">
                <a:latin typeface="Times New Roman"/>
                <a:ea typeface="Times New Roman"/>
                <a:cs typeface="Times New Roman"/>
                <a:sym typeface="Times New Roman"/>
              </a:rPr>
              <a:t>Parity</a:t>
            </a:r>
            <a:r>
              <a:rPr lang="en-US" sz="2700">
                <a:latin typeface="Times New Roman"/>
                <a:ea typeface="Times New Roman"/>
                <a:cs typeface="Times New Roman"/>
                <a:sym typeface="Times New Roman"/>
              </a:rPr>
              <a:t>: </a:t>
            </a:r>
            <a:endParaRPr sz="2700">
              <a:latin typeface="Times New Roman"/>
              <a:ea typeface="Times New Roman"/>
              <a:cs typeface="Times New Roman"/>
              <a:sym typeface="Times New Roman"/>
            </a:endParaRPr>
          </a:p>
          <a:p>
            <a:pPr indent="-400050" lvl="0" marL="457200" rtl="0" algn="just">
              <a:lnSpc>
                <a:spcPct val="115000"/>
              </a:lnSpc>
              <a:spcBef>
                <a:spcPts val="1200"/>
              </a:spcBef>
              <a:spcAft>
                <a:spcPts val="0"/>
              </a:spcAft>
              <a:buSzPts val="2700"/>
              <a:buFont typeface="Times New Roman"/>
              <a:buChar char="●"/>
            </a:pPr>
            <a:r>
              <a:rPr lang="en-US" sz="2700">
                <a:latin typeface="Times New Roman"/>
                <a:ea typeface="Times New Roman"/>
                <a:cs typeface="Times New Roman"/>
                <a:sym typeface="Times New Roman"/>
              </a:rPr>
              <a:t>It is an optional bit.</a:t>
            </a:r>
            <a:endParaRPr sz="2700">
              <a:latin typeface="Times New Roman"/>
              <a:ea typeface="Times New Roman"/>
              <a:cs typeface="Times New Roman"/>
              <a:sym typeface="Times New Roman"/>
            </a:endParaRPr>
          </a:p>
          <a:p>
            <a:pPr indent="-400050" lvl="0" marL="457200" rtl="0" algn="just">
              <a:lnSpc>
                <a:spcPct val="115000"/>
              </a:lnSpc>
              <a:spcBef>
                <a:spcPts val="0"/>
              </a:spcBef>
              <a:spcAft>
                <a:spcPts val="0"/>
              </a:spcAft>
              <a:buSzPts val="2700"/>
              <a:buFont typeface="Times New Roman"/>
              <a:buChar char="●"/>
            </a:pPr>
            <a:r>
              <a:rPr lang="en-US" sz="2700">
                <a:latin typeface="Times New Roman"/>
                <a:ea typeface="Times New Roman"/>
                <a:cs typeface="Times New Roman"/>
                <a:sym typeface="Times New Roman"/>
              </a:rPr>
              <a:t>It is used to detect the wrong data packets, ie. error during transmission.</a:t>
            </a:r>
            <a:endParaRPr sz="2700">
              <a:latin typeface="Times New Roman"/>
              <a:ea typeface="Times New Roman"/>
              <a:cs typeface="Times New Roman"/>
              <a:sym typeface="Times New Roman"/>
            </a:endParaRPr>
          </a:p>
          <a:p>
            <a:pPr indent="-400050" lvl="0" marL="457200" rtl="0" algn="just">
              <a:lnSpc>
                <a:spcPct val="115000"/>
              </a:lnSpc>
              <a:spcBef>
                <a:spcPts val="0"/>
              </a:spcBef>
              <a:spcAft>
                <a:spcPts val="0"/>
              </a:spcAft>
              <a:buSzPts val="2700"/>
              <a:buFont typeface="Times New Roman"/>
              <a:buChar char="●"/>
            </a:pPr>
            <a:r>
              <a:rPr lang="en-US" sz="2700">
                <a:latin typeface="Times New Roman"/>
                <a:ea typeface="Times New Roman"/>
                <a:cs typeface="Times New Roman"/>
                <a:sym typeface="Times New Roman"/>
              </a:rPr>
              <a:t>Two type of parity bit used: even parity, odd parity.</a:t>
            </a:r>
            <a:endParaRPr sz="2700">
              <a:latin typeface="Times New Roman"/>
              <a:ea typeface="Times New Roman"/>
              <a:cs typeface="Times New Roman"/>
              <a:sym typeface="Times New Roman"/>
            </a:endParaRPr>
          </a:p>
          <a:p>
            <a:pPr indent="0" lvl="0" marL="0" rtl="0" algn="just">
              <a:lnSpc>
                <a:spcPct val="115000"/>
              </a:lnSpc>
              <a:spcBef>
                <a:spcPts val="1200"/>
              </a:spcBef>
              <a:spcAft>
                <a:spcPts val="0"/>
              </a:spcAft>
              <a:buSzPts val="1800"/>
              <a:buNone/>
            </a:pPr>
            <a:r>
              <a:rPr lang="en-US" sz="2700">
                <a:latin typeface="Times New Roman"/>
                <a:ea typeface="Times New Roman"/>
                <a:cs typeface="Times New Roman"/>
                <a:sym typeface="Times New Roman"/>
              </a:rPr>
              <a:t>4. </a:t>
            </a:r>
            <a:r>
              <a:rPr b="1" lang="en-US" sz="2700">
                <a:latin typeface="Times New Roman"/>
                <a:ea typeface="Times New Roman"/>
                <a:cs typeface="Times New Roman"/>
                <a:sym typeface="Times New Roman"/>
              </a:rPr>
              <a:t>Stop bits</a:t>
            </a:r>
            <a:r>
              <a:rPr lang="en-US" sz="2700">
                <a:latin typeface="Times New Roman"/>
                <a:ea typeface="Times New Roman"/>
                <a:cs typeface="Times New Roman"/>
                <a:sym typeface="Times New Roman"/>
              </a:rPr>
              <a:t>:</a:t>
            </a:r>
            <a:endParaRPr sz="2700">
              <a:latin typeface="Times New Roman"/>
              <a:ea typeface="Times New Roman"/>
              <a:cs typeface="Times New Roman"/>
              <a:sym typeface="Times New Roman"/>
            </a:endParaRPr>
          </a:p>
          <a:p>
            <a:pPr indent="-400050" lvl="0" marL="457200" rtl="0" algn="just">
              <a:lnSpc>
                <a:spcPct val="115000"/>
              </a:lnSpc>
              <a:spcBef>
                <a:spcPts val="1200"/>
              </a:spcBef>
              <a:spcAft>
                <a:spcPts val="0"/>
              </a:spcAft>
              <a:buSzPts val="2700"/>
              <a:buFont typeface="Times New Roman"/>
              <a:buChar char="●"/>
            </a:pPr>
            <a:r>
              <a:rPr lang="en-US" sz="2700">
                <a:latin typeface="Times New Roman"/>
                <a:ea typeface="Times New Roman"/>
                <a:cs typeface="Times New Roman"/>
                <a:sym typeface="Times New Roman"/>
              </a:rPr>
              <a:t>To signal the end of the data packet, the sending UART drives the data transmission line from a low voltage to a high voltage.</a:t>
            </a:r>
            <a:endParaRPr sz="2700">
              <a:latin typeface="Times New Roman"/>
              <a:ea typeface="Times New Roman"/>
              <a:cs typeface="Times New Roman"/>
              <a:sym typeface="Times New Roman"/>
            </a:endParaRPr>
          </a:p>
        </p:txBody>
      </p:sp>
      <p:sp>
        <p:nvSpPr>
          <p:cNvPr id="142" name="Google Shape;142;p7"/>
          <p:cNvSpPr/>
          <p:nvPr/>
        </p:nvSpPr>
        <p:spPr>
          <a:xfrm>
            <a:off x="0" y="0"/>
            <a:ext cx="9144000" cy="1135500"/>
          </a:xfrm>
          <a:prstGeom prst="rect">
            <a:avLst/>
          </a:prstGeom>
          <a:solidFill>
            <a:srgbClr val="B01B2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000"/>
              <a:buFont typeface="Arial"/>
              <a:buNone/>
            </a:pPr>
            <a:r>
              <a:rPr b="1" lang="en-US" sz="3000">
                <a:solidFill>
                  <a:schemeClr val="lt1"/>
                </a:solidFill>
              </a:rPr>
              <a:t>Contd.</a:t>
            </a:r>
            <a:r>
              <a:rPr b="1" i="0" lang="en-US" sz="3000" u="none" cap="none" strike="noStrike">
                <a:solidFill>
                  <a:schemeClr val="lt1"/>
                </a:solidFill>
                <a:latin typeface="Arial"/>
                <a:ea typeface="Arial"/>
                <a:cs typeface="Arial"/>
                <a:sym typeface="Arial"/>
              </a:rPr>
              <a:t> </a:t>
            </a:r>
            <a:endParaRPr b="1" i="0" sz="3000" u="none" cap="none" strike="noStrike">
              <a:solidFill>
                <a:schemeClr val="lt1"/>
              </a:solidFill>
              <a:latin typeface="Arial"/>
              <a:ea typeface="Arial"/>
              <a:cs typeface="Arial"/>
              <a:sym typeface="Arial"/>
            </a:endParaRPr>
          </a:p>
        </p:txBody>
      </p:sp>
      <p:pic>
        <p:nvPicPr>
          <p:cNvPr id="143" name="Google Shape;143;p7"/>
          <p:cNvPicPr preferRelativeResize="0"/>
          <p:nvPr/>
        </p:nvPicPr>
        <p:blipFill rotWithShape="1">
          <a:blip r:embed="rId3">
            <a:alphaModFix/>
          </a:blip>
          <a:srcRect b="0" l="0" r="0" t="0"/>
          <a:stretch/>
        </p:blipFill>
        <p:spPr>
          <a:xfrm>
            <a:off x="7828731" y="5658374"/>
            <a:ext cx="1174719" cy="115234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8"/>
          <p:cNvSpPr txBox="1"/>
          <p:nvPr>
            <p:ph idx="1" type="body"/>
          </p:nvPr>
        </p:nvSpPr>
        <p:spPr>
          <a:xfrm>
            <a:off x="156000" y="1382375"/>
            <a:ext cx="8832000" cy="4863000"/>
          </a:xfrm>
          <a:prstGeom prst="rect">
            <a:avLst/>
          </a:prstGeom>
          <a:noFill/>
          <a:ln>
            <a:noFill/>
          </a:ln>
        </p:spPr>
        <p:txBody>
          <a:bodyPr anchorCtr="0" anchor="t" bIns="45700" lIns="91425" spcFirstLastPara="1" rIns="91425" wrap="square" tIns="45700">
            <a:noAutofit/>
          </a:bodyPr>
          <a:lstStyle/>
          <a:p>
            <a:pPr indent="-400050" lvl="0" marL="457200" rtl="0" algn="l">
              <a:lnSpc>
                <a:spcPct val="115000"/>
              </a:lnSpc>
              <a:spcBef>
                <a:spcPts val="0"/>
              </a:spcBef>
              <a:spcAft>
                <a:spcPts val="0"/>
              </a:spcAft>
              <a:buSzPts val="2700"/>
              <a:buFont typeface="Times New Roman"/>
              <a:buChar char="●"/>
            </a:pPr>
            <a:r>
              <a:rPr lang="en-US" sz="2700">
                <a:latin typeface="Times New Roman"/>
                <a:ea typeface="Times New Roman"/>
                <a:cs typeface="Times New Roman"/>
                <a:sym typeface="Times New Roman"/>
              </a:rPr>
              <a:t>The transmitting UART receives data in parallel from the data bus. Adds start bit, parity bit, and stop bit to the data frame.</a:t>
            </a:r>
            <a:endParaRPr sz="2700">
              <a:latin typeface="Times New Roman"/>
              <a:ea typeface="Times New Roman"/>
              <a:cs typeface="Times New Roman"/>
              <a:sym typeface="Times New Roman"/>
            </a:endParaRPr>
          </a:p>
          <a:p>
            <a:pPr indent="-400050" lvl="0" marL="457200" rtl="0" algn="l">
              <a:lnSpc>
                <a:spcPct val="115000"/>
              </a:lnSpc>
              <a:spcBef>
                <a:spcPts val="0"/>
              </a:spcBef>
              <a:spcAft>
                <a:spcPts val="0"/>
              </a:spcAft>
              <a:buSzPts val="2700"/>
              <a:buFont typeface="Times New Roman"/>
              <a:buChar char="●"/>
            </a:pPr>
            <a:r>
              <a:rPr lang="en-US" sz="2700">
                <a:latin typeface="Times New Roman"/>
                <a:ea typeface="Times New Roman"/>
                <a:cs typeface="Times New Roman"/>
                <a:sym typeface="Times New Roman"/>
              </a:rPr>
              <a:t>The entire packet is sent serially from the transmitting UART to the receiving UART.</a:t>
            </a:r>
            <a:endParaRPr sz="2700">
              <a:latin typeface="Times New Roman"/>
              <a:ea typeface="Times New Roman"/>
              <a:cs typeface="Times New Roman"/>
              <a:sym typeface="Times New Roman"/>
            </a:endParaRPr>
          </a:p>
          <a:p>
            <a:pPr indent="-400050" lvl="0" marL="457200" rtl="0" algn="l">
              <a:lnSpc>
                <a:spcPct val="115000"/>
              </a:lnSpc>
              <a:spcBef>
                <a:spcPts val="0"/>
              </a:spcBef>
              <a:spcAft>
                <a:spcPts val="0"/>
              </a:spcAft>
              <a:buSzPts val="2700"/>
              <a:buFont typeface="Times New Roman"/>
              <a:buChar char="●"/>
            </a:pPr>
            <a:r>
              <a:rPr lang="en-US" sz="2700">
                <a:latin typeface="Times New Roman"/>
                <a:ea typeface="Times New Roman"/>
                <a:cs typeface="Times New Roman"/>
                <a:sym typeface="Times New Roman"/>
              </a:rPr>
              <a:t>The receiving UART samples the data line at the pre-configured baud rate.</a:t>
            </a:r>
            <a:endParaRPr sz="2700">
              <a:latin typeface="Times New Roman"/>
              <a:ea typeface="Times New Roman"/>
              <a:cs typeface="Times New Roman"/>
              <a:sym typeface="Times New Roman"/>
            </a:endParaRPr>
          </a:p>
          <a:p>
            <a:pPr indent="-400050" lvl="0" marL="457200" rtl="0" algn="l">
              <a:lnSpc>
                <a:spcPct val="115000"/>
              </a:lnSpc>
              <a:spcBef>
                <a:spcPts val="0"/>
              </a:spcBef>
              <a:spcAft>
                <a:spcPts val="0"/>
              </a:spcAft>
              <a:buSzPts val="2700"/>
              <a:buFont typeface="Times New Roman"/>
              <a:buChar char="●"/>
            </a:pPr>
            <a:r>
              <a:rPr lang="en-US" sz="2700">
                <a:latin typeface="Times New Roman"/>
                <a:ea typeface="Times New Roman"/>
                <a:cs typeface="Times New Roman"/>
                <a:sym typeface="Times New Roman"/>
              </a:rPr>
              <a:t>The </a:t>
            </a:r>
            <a:r>
              <a:rPr lang="en-US" sz="2700">
                <a:latin typeface="Times New Roman"/>
                <a:ea typeface="Times New Roman"/>
                <a:cs typeface="Times New Roman"/>
                <a:sym typeface="Times New Roman"/>
              </a:rPr>
              <a:t>receiving</a:t>
            </a:r>
            <a:r>
              <a:rPr lang="en-US" sz="2700">
                <a:latin typeface="Times New Roman"/>
                <a:ea typeface="Times New Roman"/>
                <a:cs typeface="Times New Roman"/>
                <a:sym typeface="Times New Roman"/>
              </a:rPr>
              <a:t> UART discards the start bit, parity bit, and stop bit from the data frame.</a:t>
            </a:r>
            <a:endParaRPr sz="2700">
              <a:latin typeface="Times New Roman"/>
              <a:ea typeface="Times New Roman"/>
              <a:cs typeface="Times New Roman"/>
              <a:sym typeface="Times New Roman"/>
            </a:endParaRPr>
          </a:p>
          <a:p>
            <a:pPr indent="-400050" lvl="0" marL="457200" rtl="0" algn="l">
              <a:lnSpc>
                <a:spcPct val="115000"/>
              </a:lnSpc>
              <a:spcBef>
                <a:spcPts val="0"/>
              </a:spcBef>
              <a:spcAft>
                <a:spcPts val="0"/>
              </a:spcAft>
              <a:buSzPts val="2700"/>
              <a:buFont typeface="Times New Roman"/>
              <a:buChar char="●"/>
            </a:pPr>
            <a:r>
              <a:rPr lang="en-US" sz="2700">
                <a:latin typeface="Times New Roman"/>
                <a:ea typeface="Times New Roman"/>
                <a:cs typeface="Times New Roman"/>
                <a:sym typeface="Times New Roman"/>
              </a:rPr>
              <a:t>The receiving UART converts the serial data into parallel and transfers it to the data bus on the receiving end</a:t>
            </a:r>
            <a:endParaRPr sz="2700">
              <a:latin typeface="Times New Roman"/>
              <a:ea typeface="Times New Roman"/>
              <a:cs typeface="Times New Roman"/>
              <a:sym typeface="Times New Roman"/>
            </a:endParaRPr>
          </a:p>
          <a:p>
            <a:pPr indent="0" lvl="0" marL="457200" rtl="0" algn="just">
              <a:lnSpc>
                <a:spcPct val="100000"/>
              </a:lnSpc>
              <a:spcBef>
                <a:spcPts val="1200"/>
              </a:spcBef>
              <a:spcAft>
                <a:spcPts val="0"/>
              </a:spcAft>
              <a:buSzPts val="1800"/>
              <a:buNone/>
            </a:pPr>
            <a:r>
              <a:t/>
            </a:r>
            <a:endParaRPr sz="1700">
              <a:latin typeface="Times New Roman"/>
              <a:ea typeface="Times New Roman"/>
              <a:cs typeface="Times New Roman"/>
              <a:sym typeface="Times New Roman"/>
            </a:endParaRPr>
          </a:p>
          <a:p>
            <a:pPr indent="0" lvl="0" marL="0" rtl="0" algn="just">
              <a:lnSpc>
                <a:spcPct val="100000"/>
              </a:lnSpc>
              <a:spcBef>
                <a:spcPts val="1000"/>
              </a:spcBef>
              <a:spcAft>
                <a:spcPts val="0"/>
              </a:spcAft>
              <a:buSzPts val="1800"/>
              <a:buNone/>
            </a:pPr>
            <a:r>
              <a:t/>
            </a:r>
            <a:endParaRPr sz="1400">
              <a:latin typeface="Times New Roman"/>
              <a:ea typeface="Times New Roman"/>
              <a:cs typeface="Times New Roman"/>
              <a:sym typeface="Times New Roman"/>
            </a:endParaRPr>
          </a:p>
          <a:p>
            <a:pPr indent="0" lvl="0" marL="0" rtl="0" algn="just">
              <a:lnSpc>
                <a:spcPct val="100000"/>
              </a:lnSpc>
              <a:spcBef>
                <a:spcPts val="1000"/>
              </a:spcBef>
              <a:spcAft>
                <a:spcPts val="0"/>
              </a:spcAft>
              <a:buSzPts val="1800"/>
              <a:buNone/>
            </a:pPr>
            <a:r>
              <a:t/>
            </a:r>
            <a:endParaRPr sz="2400"/>
          </a:p>
        </p:txBody>
      </p:sp>
      <p:sp>
        <p:nvSpPr>
          <p:cNvPr id="150" name="Google Shape;150;p8"/>
          <p:cNvSpPr/>
          <p:nvPr/>
        </p:nvSpPr>
        <p:spPr>
          <a:xfrm>
            <a:off x="0" y="0"/>
            <a:ext cx="9144000" cy="1135500"/>
          </a:xfrm>
          <a:prstGeom prst="rect">
            <a:avLst/>
          </a:prstGeom>
          <a:solidFill>
            <a:srgbClr val="B01B2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000"/>
              <a:buFont typeface="Arial"/>
              <a:buNone/>
            </a:pPr>
            <a:r>
              <a:rPr b="1" lang="en-US" sz="3000">
                <a:solidFill>
                  <a:schemeClr val="lt1"/>
                </a:solidFill>
              </a:rPr>
              <a:t>Steps of UART Communication:</a:t>
            </a:r>
            <a:endParaRPr b="1" i="0" sz="3000" u="none" cap="none" strike="noStrike">
              <a:solidFill>
                <a:schemeClr val="lt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9"/>
          <p:cNvSpPr txBox="1"/>
          <p:nvPr>
            <p:ph type="title"/>
          </p:nvPr>
        </p:nvSpPr>
        <p:spPr>
          <a:xfrm>
            <a:off x="628650" y="365126"/>
            <a:ext cx="7886700" cy="2496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45454"/>
              <a:buNone/>
            </a:pPr>
            <a:r>
              <a:t/>
            </a:r>
            <a:endParaRPr/>
          </a:p>
        </p:txBody>
      </p:sp>
      <p:sp>
        <p:nvSpPr>
          <p:cNvPr id="157" name="Google Shape;157;p9"/>
          <p:cNvSpPr/>
          <p:nvPr/>
        </p:nvSpPr>
        <p:spPr>
          <a:xfrm>
            <a:off x="0" y="0"/>
            <a:ext cx="9144000" cy="1135500"/>
          </a:xfrm>
          <a:prstGeom prst="rect">
            <a:avLst/>
          </a:prstGeom>
          <a:solidFill>
            <a:srgbClr val="B01B2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000"/>
              <a:buFont typeface="Arial"/>
              <a:buNone/>
            </a:pPr>
            <a:r>
              <a:rPr b="1" lang="en-US" sz="3000">
                <a:solidFill>
                  <a:schemeClr val="lt1"/>
                </a:solidFill>
              </a:rPr>
              <a:t>Advantages &amp; Disadvantages:</a:t>
            </a:r>
            <a:endParaRPr b="1" i="0" sz="3000" u="none" cap="none" strike="noStrike">
              <a:solidFill>
                <a:schemeClr val="lt1"/>
              </a:solidFill>
              <a:latin typeface="Arial"/>
              <a:ea typeface="Arial"/>
              <a:cs typeface="Arial"/>
              <a:sym typeface="Arial"/>
            </a:endParaRPr>
          </a:p>
        </p:txBody>
      </p:sp>
      <p:sp>
        <p:nvSpPr>
          <p:cNvPr id="158" name="Google Shape;158;p9"/>
          <p:cNvSpPr txBox="1"/>
          <p:nvPr/>
        </p:nvSpPr>
        <p:spPr>
          <a:xfrm>
            <a:off x="192125" y="1320000"/>
            <a:ext cx="8696100" cy="524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800">
                <a:solidFill>
                  <a:schemeClr val="dk1"/>
                </a:solidFill>
                <a:latin typeface="Calibri"/>
                <a:ea typeface="Calibri"/>
                <a:cs typeface="Calibri"/>
                <a:sym typeface="Calibri"/>
              </a:rPr>
              <a:t>Advantages:</a:t>
            </a:r>
            <a:endParaRPr sz="2800">
              <a:solidFill>
                <a:schemeClr val="dk1"/>
              </a:solidFill>
              <a:latin typeface="Calibri"/>
              <a:ea typeface="Calibri"/>
              <a:cs typeface="Calibri"/>
              <a:sym typeface="Calibri"/>
            </a:endParaRPr>
          </a:p>
          <a:p>
            <a:pPr indent="-406400" lvl="0" marL="457200" rtl="0" algn="l">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Only two wires.</a:t>
            </a:r>
            <a:endParaRPr sz="2800">
              <a:solidFill>
                <a:schemeClr val="dk1"/>
              </a:solidFill>
              <a:latin typeface="Calibri"/>
              <a:ea typeface="Calibri"/>
              <a:cs typeface="Calibri"/>
              <a:sym typeface="Calibri"/>
            </a:endParaRPr>
          </a:p>
          <a:p>
            <a:pPr indent="-406400" lvl="0" marL="457200" rtl="0" algn="l">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No clock signal is necessary.</a:t>
            </a:r>
            <a:endParaRPr sz="2800">
              <a:solidFill>
                <a:schemeClr val="dk1"/>
              </a:solidFill>
              <a:latin typeface="Calibri"/>
              <a:ea typeface="Calibri"/>
              <a:cs typeface="Calibri"/>
              <a:sym typeface="Calibri"/>
            </a:endParaRPr>
          </a:p>
          <a:p>
            <a:pPr indent="-406400" lvl="0" marL="457200" rtl="0" algn="l">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Has a parity bit to allow for error checking.</a:t>
            </a:r>
            <a:endParaRPr sz="2800">
              <a:solidFill>
                <a:schemeClr val="dk1"/>
              </a:solidFill>
              <a:latin typeface="Calibri"/>
              <a:ea typeface="Calibri"/>
              <a:cs typeface="Calibri"/>
              <a:sym typeface="Calibri"/>
            </a:endParaRPr>
          </a:p>
          <a:p>
            <a:pPr indent="-406400" lvl="0" marL="457200" rtl="0" algn="l">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The structure of the data packet can be changed as long as both sides are set up for it.</a:t>
            </a:r>
            <a:endParaRPr sz="2800">
              <a:solidFill>
                <a:schemeClr val="dk1"/>
              </a:solidFill>
              <a:latin typeface="Calibri"/>
              <a:ea typeface="Calibri"/>
              <a:cs typeface="Calibri"/>
              <a:sym typeface="Calibri"/>
            </a:endParaRPr>
          </a:p>
          <a:p>
            <a:pPr indent="0" lvl="0" marL="457200" rtl="0" algn="l">
              <a:spcBef>
                <a:spcPts val="0"/>
              </a:spcBef>
              <a:spcAft>
                <a:spcPts val="0"/>
              </a:spcAft>
              <a:buNone/>
            </a:pPr>
            <a:r>
              <a:t/>
            </a:r>
            <a:endParaRPr sz="2800">
              <a:solidFill>
                <a:schemeClr val="dk1"/>
              </a:solidFill>
              <a:latin typeface="Calibri"/>
              <a:ea typeface="Calibri"/>
              <a:cs typeface="Calibri"/>
              <a:sym typeface="Calibri"/>
            </a:endParaRPr>
          </a:p>
          <a:p>
            <a:pPr indent="0" lvl="0" marL="0" rtl="0" algn="l">
              <a:spcBef>
                <a:spcPts val="0"/>
              </a:spcBef>
              <a:spcAft>
                <a:spcPts val="0"/>
              </a:spcAft>
              <a:buNone/>
            </a:pPr>
            <a:r>
              <a:rPr lang="en-US" sz="2800">
                <a:solidFill>
                  <a:schemeClr val="dk1"/>
                </a:solidFill>
                <a:latin typeface="Calibri"/>
                <a:ea typeface="Calibri"/>
                <a:cs typeface="Calibri"/>
                <a:sym typeface="Calibri"/>
              </a:rPr>
              <a:t>Disadvantages:</a:t>
            </a:r>
            <a:endParaRPr sz="2800">
              <a:solidFill>
                <a:schemeClr val="dk1"/>
              </a:solidFill>
              <a:latin typeface="Calibri"/>
              <a:ea typeface="Calibri"/>
              <a:cs typeface="Calibri"/>
              <a:sym typeface="Calibri"/>
            </a:endParaRPr>
          </a:p>
          <a:p>
            <a:pPr indent="-406400" lvl="0" marL="457200" rtl="0" algn="l">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The size of the data frame is limited to max 9 bits.</a:t>
            </a:r>
            <a:endParaRPr sz="2800">
              <a:solidFill>
                <a:schemeClr val="dk1"/>
              </a:solidFill>
              <a:latin typeface="Calibri"/>
              <a:ea typeface="Calibri"/>
              <a:cs typeface="Calibri"/>
              <a:sym typeface="Calibri"/>
            </a:endParaRPr>
          </a:p>
          <a:p>
            <a:pPr indent="-406400" lvl="0" marL="457200" rtl="0" algn="l">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Doesn’t support multiple master-slave systems </a:t>
            </a:r>
            <a:endParaRPr sz="2800">
              <a:solidFill>
                <a:schemeClr val="dk1"/>
              </a:solidFill>
              <a:latin typeface="Calibri"/>
              <a:ea typeface="Calibri"/>
              <a:cs typeface="Calibri"/>
              <a:sym typeface="Calibri"/>
            </a:endParaRPr>
          </a:p>
          <a:p>
            <a:pPr indent="-406400" lvl="0" marL="457200" rtl="0" algn="l">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The baud rate of each UART must be with 10% of each other.</a:t>
            </a:r>
            <a:endParaRPr sz="28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1"/>
          <p:cNvSpPr/>
          <p:nvPr/>
        </p:nvSpPr>
        <p:spPr>
          <a:xfrm>
            <a:off x="0" y="0"/>
            <a:ext cx="9144000" cy="881700"/>
          </a:xfrm>
          <a:prstGeom prst="rect">
            <a:avLst/>
          </a:prstGeom>
          <a:solidFill>
            <a:srgbClr val="B01B2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lt1"/>
                </a:solidFill>
                <a:latin typeface="Arial"/>
                <a:ea typeface="Arial"/>
                <a:cs typeface="Arial"/>
                <a:sym typeface="Arial"/>
              </a:rPr>
              <a:t>Literature Review </a:t>
            </a:r>
            <a:endParaRPr b="1" i="0" sz="2800" u="none" cap="none" strike="noStrike">
              <a:solidFill>
                <a:schemeClr val="lt1"/>
              </a:solidFill>
              <a:latin typeface="Arial"/>
              <a:ea typeface="Arial"/>
              <a:cs typeface="Arial"/>
              <a:sym typeface="Arial"/>
            </a:endParaRPr>
          </a:p>
        </p:txBody>
      </p:sp>
      <p:graphicFrame>
        <p:nvGraphicFramePr>
          <p:cNvPr id="164" name="Google Shape;164;p11"/>
          <p:cNvGraphicFramePr/>
          <p:nvPr/>
        </p:nvGraphicFramePr>
        <p:xfrm>
          <a:off x="123825" y="983550"/>
          <a:ext cx="3000000" cy="3000000"/>
        </p:xfrm>
        <a:graphic>
          <a:graphicData uri="http://schemas.openxmlformats.org/drawingml/2006/table">
            <a:tbl>
              <a:tblPr>
                <a:noFill/>
                <a:tableStyleId>{DC3321EE-C17E-4128-9709-CE3C54129072}</a:tableStyleId>
              </a:tblPr>
              <a:tblGrid>
                <a:gridCol w="376125"/>
                <a:gridCol w="1410750"/>
                <a:gridCol w="2091500"/>
                <a:gridCol w="1894225"/>
                <a:gridCol w="1774825"/>
                <a:gridCol w="1348925"/>
              </a:tblGrid>
              <a:tr h="455050">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latin typeface="Times New Roman"/>
                          <a:ea typeface="Times New Roman"/>
                          <a:cs typeface="Times New Roman"/>
                          <a:sym typeface="Times New Roman"/>
                        </a:rPr>
                        <a:t>SNO</a:t>
                      </a:r>
                      <a:endParaRPr b="1"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latin typeface="Times New Roman"/>
                          <a:ea typeface="Times New Roman"/>
                          <a:cs typeface="Times New Roman"/>
                          <a:sym typeface="Times New Roman"/>
                        </a:rPr>
                        <a:t>TITLE</a:t>
                      </a:r>
                      <a:endParaRPr b="1" sz="1200" u="none" cap="none" strike="noStrike">
                        <a:latin typeface="Times New Roman"/>
                        <a:ea typeface="Times New Roman"/>
                        <a:cs typeface="Times New Roman"/>
                        <a:sym typeface="Times New Roman"/>
                      </a:endParaRPr>
                    </a:p>
                  </a:txBody>
                  <a:tcPr marT="63500" marB="63500" marR="63500" marL="63500">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latin typeface="Times New Roman"/>
                          <a:ea typeface="Times New Roman"/>
                          <a:cs typeface="Times New Roman"/>
                          <a:sym typeface="Times New Roman"/>
                        </a:rPr>
                        <a:t>METHODOLOGY</a:t>
                      </a:r>
                      <a:endParaRPr b="1"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latin typeface="Times New Roman"/>
                          <a:ea typeface="Times New Roman"/>
                          <a:cs typeface="Times New Roman"/>
                          <a:sym typeface="Times New Roman"/>
                        </a:rPr>
                        <a:t>NOVELTY/ ADVANTAGES</a:t>
                      </a:r>
                      <a:endParaRPr b="1"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latin typeface="Times New Roman"/>
                          <a:ea typeface="Times New Roman"/>
                          <a:cs typeface="Times New Roman"/>
                          <a:sym typeface="Times New Roman"/>
                        </a:rPr>
                        <a:t>LIMITATIONS/ DISADVANTAGES</a:t>
                      </a:r>
                      <a:endParaRPr b="1" sz="1200" u="none" cap="none" strike="noStrike">
                        <a:latin typeface="Times New Roman"/>
                        <a:ea typeface="Times New Roman"/>
                        <a:cs typeface="Times New Roman"/>
                        <a:sym typeface="Times New Roman"/>
                      </a:endParaRPr>
                    </a:p>
                  </a:txBody>
                  <a:tcPr marT="63500" marB="63500" marR="63500" marL="63500"/>
                </a:tc>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latin typeface="Times New Roman"/>
                          <a:ea typeface="Times New Roman"/>
                          <a:cs typeface="Times New Roman"/>
                          <a:sym typeface="Times New Roman"/>
                        </a:rPr>
                        <a:t>PARAMETERS</a:t>
                      </a:r>
                      <a:endParaRPr b="1" sz="1200" u="none" cap="none" strike="noStrike">
                        <a:latin typeface="Times New Roman"/>
                        <a:ea typeface="Times New Roman"/>
                        <a:cs typeface="Times New Roman"/>
                        <a:sym typeface="Times New Roman"/>
                      </a:endParaRPr>
                    </a:p>
                  </a:txBody>
                  <a:tcPr marT="63500" marB="63500" marR="63500" marL="63500"/>
                </a:tc>
              </a:tr>
              <a:tr h="146560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latin typeface="Times New Roman"/>
                          <a:ea typeface="Times New Roman"/>
                          <a:cs typeface="Times New Roman"/>
                          <a:sym typeface="Times New Roman"/>
                        </a:rPr>
                        <a:t>1.</a:t>
                      </a:r>
                      <a:endParaRPr sz="1200" u="none" cap="none" strike="noStrike">
                        <a:latin typeface="Times New Roman"/>
                        <a:ea typeface="Times New Roman"/>
                        <a:cs typeface="Times New Roman"/>
                        <a:sym typeface="Times New Roman"/>
                      </a:endParaRPr>
                    </a:p>
                  </a:txBody>
                  <a:tcPr marT="63500" marB="63500" marR="63500" marL="63500">
                    <a:lnR cap="flat" cmpd="sng" w="12700">
                      <a:solidFill>
                        <a:srgbClr val="000000"/>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100">
                          <a:solidFill>
                            <a:schemeClr val="dk1"/>
                          </a:solidFill>
                        </a:rPr>
                        <a:t>Yamini R., Ramya M. V. (2020). “Design and Verification of UART using SystemVerilog.” </a:t>
                      </a:r>
                      <a:r>
                        <a:rPr i="1" lang="en-US" sz="1100">
                          <a:solidFill>
                            <a:schemeClr val="dk1"/>
                          </a:solidFill>
                        </a:rPr>
                        <a:t>International Journal of Engineering and Advanced Technology (IJEAT)</a:t>
                      </a:r>
                      <a:r>
                        <a:rPr lang="en-US" sz="1100">
                          <a:solidFill>
                            <a:schemeClr val="dk1"/>
                          </a:solidFill>
                        </a:rPr>
                        <a:t>, Vol. 9 Issue 5, pp. 1208–1211</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100">
                          <a:solidFill>
                            <a:schemeClr val="dk1"/>
                          </a:solidFill>
                        </a:rPr>
                        <a:t>A </a:t>
                      </a:r>
                      <a:r>
                        <a:rPr b="1" lang="en-US" sz="1100">
                          <a:solidFill>
                            <a:schemeClr val="dk1"/>
                          </a:solidFill>
                        </a:rPr>
                        <a:t>full-duplex UART</a:t>
                      </a:r>
                      <a:r>
                        <a:rPr lang="en-US" sz="1100">
                          <a:solidFill>
                            <a:schemeClr val="dk1"/>
                          </a:solidFill>
                        </a:rPr>
                        <a:t> was designed and verified using </a:t>
                      </a:r>
                      <a:r>
                        <a:rPr b="1" lang="en-US" sz="1100">
                          <a:solidFill>
                            <a:schemeClr val="dk1"/>
                          </a:solidFill>
                        </a:rPr>
                        <a:t>SystemVerilog</a:t>
                      </a:r>
                      <a:r>
                        <a:rPr lang="en-US" sz="1100">
                          <a:solidFill>
                            <a:schemeClr val="dk1"/>
                          </a:solidFill>
                        </a:rPr>
                        <a:t>. The design included transmitter, receiver, baud-rate generator, and FIFO modules. A </a:t>
                      </a:r>
                      <a:r>
                        <a:rPr b="1" lang="en-US" sz="1100">
                          <a:solidFill>
                            <a:schemeClr val="dk1"/>
                          </a:solidFill>
                        </a:rPr>
                        <a:t>reusable verification environment</a:t>
                      </a:r>
                      <a:r>
                        <a:rPr lang="en-US" sz="1100">
                          <a:solidFill>
                            <a:schemeClr val="dk1"/>
                          </a:solidFill>
                        </a:rPr>
                        <a:t> was developed using </a:t>
                      </a:r>
                      <a:r>
                        <a:rPr b="1" lang="en-US" sz="1100">
                          <a:solidFill>
                            <a:schemeClr val="dk1"/>
                          </a:solidFill>
                        </a:rPr>
                        <a:t>agents (driver, monitor, sequencer, scoreboard)</a:t>
                      </a:r>
                      <a:r>
                        <a:rPr lang="en-US" sz="1100">
                          <a:solidFill>
                            <a:schemeClr val="dk1"/>
                          </a:solidFill>
                        </a:rPr>
                        <a:t> with </a:t>
                      </a:r>
                      <a:r>
                        <a:rPr b="1" lang="en-US" sz="1100">
                          <a:solidFill>
                            <a:schemeClr val="dk1"/>
                          </a:solidFill>
                        </a:rPr>
                        <a:t>randomized test sequences</a:t>
                      </a:r>
                      <a:r>
                        <a:rPr lang="en-US" sz="1100">
                          <a:solidFill>
                            <a:schemeClr val="dk1"/>
                          </a:solidFill>
                        </a:rPr>
                        <a:t> and </a:t>
                      </a:r>
                      <a:r>
                        <a:rPr b="1" lang="en-US" sz="1100">
                          <a:solidFill>
                            <a:schemeClr val="dk1"/>
                          </a:solidFill>
                        </a:rPr>
                        <a:t>SystemVerilog Assertions (SVA)</a:t>
                      </a:r>
                      <a:r>
                        <a:rPr lang="en-US" sz="1100">
                          <a:solidFill>
                            <a:schemeClr val="dk1"/>
                          </a:solidFill>
                        </a:rPr>
                        <a:t> for checking protocol behavior. Simulation was done using </a:t>
                      </a:r>
                      <a:r>
                        <a:rPr b="1" lang="en-US" sz="1100">
                          <a:solidFill>
                            <a:schemeClr val="dk1"/>
                          </a:solidFill>
                        </a:rPr>
                        <a:t>QuestaSim</a:t>
                      </a:r>
                      <a:r>
                        <a:rPr lang="en-US" sz="1100">
                          <a:solidFill>
                            <a:schemeClr val="dk1"/>
                          </a:solidFill>
                        </a:rPr>
                        <a:t>.</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tcPr>
                </a:tc>
                <a:tc>
                  <a:txBody>
                    <a:bodyPr/>
                    <a:lstStyle/>
                    <a:p>
                      <a:pPr indent="0" lvl="0" marL="0" rtl="0" algn="l">
                        <a:spcBef>
                          <a:spcPts val="0"/>
                        </a:spcBef>
                        <a:spcAft>
                          <a:spcPts val="0"/>
                        </a:spcAft>
                        <a:buClr>
                          <a:schemeClr val="dk1"/>
                        </a:buClr>
                        <a:buSzPts val="1100"/>
                        <a:buFont typeface="Arial"/>
                        <a:buNone/>
                      </a:pPr>
                      <a:r>
                        <a:rPr lang="en-US" sz="1100">
                          <a:solidFill>
                            <a:schemeClr val="dk1"/>
                          </a:solidFill>
                        </a:rPr>
                        <a:t>- Achieved </a:t>
                      </a:r>
                      <a:r>
                        <a:rPr b="1" lang="en-US" sz="1100">
                          <a:solidFill>
                            <a:schemeClr val="dk1"/>
                          </a:solidFill>
                        </a:rPr>
                        <a:t>100% functional coverage</a:t>
                      </a:r>
                      <a:r>
                        <a:rPr lang="en-US" sz="1100">
                          <a:solidFill>
                            <a:schemeClr val="dk1"/>
                          </a:solidFill>
                        </a:rPr>
                        <a:t> and </a:t>
                      </a:r>
                      <a:r>
                        <a:rPr b="1" lang="en-US" sz="1100">
                          <a:solidFill>
                            <a:schemeClr val="dk1"/>
                          </a:solidFill>
                        </a:rPr>
                        <a:t>100% assertion coverage</a:t>
                      </a:r>
                      <a:r>
                        <a:rPr lang="en-US" sz="1100">
                          <a:solidFill>
                            <a:schemeClr val="dk1"/>
                          </a:solidFill>
                        </a:rPr>
                        <a:t>.</a:t>
                      </a:r>
                      <a:endParaRPr sz="1100">
                        <a:solidFill>
                          <a:schemeClr val="dk1"/>
                        </a:solidFill>
                      </a:endParaRPr>
                    </a:p>
                    <a:p>
                      <a:pPr indent="0" lvl="0" marL="0" rtl="0" algn="l">
                        <a:spcBef>
                          <a:spcPts val="0"/>
                        </a:spcBef>
                        <a:spcAft>
                          <a:spcPts val="0"/>
                        </a:spcAft>
                        <a:buClr>
                          <a:schemeClr val="dk1"/>
                        </a:buClr>
                        <a:buSzPts val="1100"/>
                        <a:buFont typeface="Arial"/>
                        <a:buNone/>
                      </a:pPr>
                      <a:r>
                        <a:rPr lang="en-US" sz="1100">
                          <a:solidFill>
                            <a:schemeClr val="dk1"/>
                          </a:solidFill>
                        </a:rPr>
                        <a:t>- Implemented </a:t>
                      </a:r>
                      <a:r>
                        <a:rPr b="1" lang="en-US" sz="1100">
                          <a:solidFill>
                            <a:schemeClr val="dk1"/>
                          </a:solidFill>
                        </a:rPr>
                        <a:t>randomized verification</a:t>
                      </a:r>
                      <a:r>
                        <a:rPr lang="en-US" sz="1100">
                          <a:solidFill>
                            <a:schemeClr val="dk1"/>
                          </a:solidFill>
                        </a:rPr>
                        <a:t> to test corner cases automatically.</a:t>
                      </a:r>
                      <a:endParaRPr sz="1100">
                        <a:solidFill>
                          <a:schemeClr val="dk1"/>
                        </a:solidFill>
                      </a:endParaRPr>
                    </a:p>
                    <a:p>
                      <a:pPr indent="0" lvl="0" marL="0" rtl="0" algn="l">
                        <a:spcBef>
                          <a:spcPts val="0"/>
                        </a:spcBef>
                        <a:spcAft>
                          <a:spcPts val="0"/>
                        </a:spcAft>
                        <a:buClr>
                          <a:schemeClr val="dk1"/>
                        </a:buClr>
                        <a:buSzPts val="1100"/>
                        <a:buFont typeface="Arial"/>
                        <a:buNone/>
                      </a:pPr>
                      <a:r>
                        <a:rPr lang="en-US" sz="1100">
                          <a:solidFill>
                            <a:schemeClr val="dk1"/>
                          </a:solidFill>
                        </a:rPr>
                        <a:t>- Created a </a:t>
                      </a:r>
                      <a:r>
                        <a:rPr b="1" lang="en-US" sz="1100">
                          <a:solidFill>
                            <a:schemeClr val="dk1"/>
                          </a:solidFill>
                        </a:rPr>
                        <a:t>reusable verification environment</a:t>
                      </a:r>
                      <a:r>
                        <a:rPr lang="en-US" sz="1100">
                          <a:solidFill>
                            <a:schemeClr val="dk1"/>
                          </a:solidFill>
                        </a:rPr>
                        <a:t> for multiple UART DUTs.</a:t>
                      </a:r>
                      <a:endParaRPr sz="1100">
                        <a:solidFill>
                          <a:schemeClr val="dk1"/>
                        </a:solidFill>
                      </a:endParaRPr>
                    </a:p>
                    <a:p>
                      <a:pPr indent="0" lvl="0" marL="0" marR="0" rtl="0" algn="l">
                        <a:lnSpc>
                          <a:spcPct val="100000"/>
                        </a:lnSpc>
                        <a:spcBef>
                          <a:spcPts val="0"/>
                        </a:spcBef>
                        <a:spcAft>
                          <a:spcPts val="0"/>
                        </a:spcAft>
                        <a:buClr>
                          <a:srgbClr val="000000"/>
                        </a:buClr>
                        <a:buSzPts val="1200"/>
                        <a:buFont typeface="Arial"/>
                        <a:buNone/>
                      </a:pPr>
                      <a:r>
                        <a:rPr lang="en-US" sz="1100">
                          <a:solidFill>
                            <a:schemeClr val="dk1"/>
                          </a:solidFill>
                        </a:rPr>
                        <a:t>- Demonstrated </a:t>
                      </a:r>
                      <a:r>
                        <a:rPr b="1" lang="en-US" sz="1100">
                          <a:solidFill>
                            <a:schemeClr val="dk1"/>
                          </a:solidFill>
                        </a:rPr>
                        <a:t>reduced verification complexity and time</a:t>
                      </a:r>
                      <a:r>
                        <a:rPr lang="en-US" sz="1100">
                          <a:solidFill>
                            <a:schemeClr val="dk1"/>
                          </a:solidFill>
                        </a:rPr>
                        <a:t> using SV.</a:t>
                      </a:r>
                      <a:endParaRPr sz="12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 No synthesis or FPGA implementation (simulation-only validation).</a:t>
                      </a:r>
                      <a:endParaRPr sz="12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 Focused on standard UART; lacks multi-protocol or configurable-baud validation.</a:t>
                      </a:r>
                      <a:endParaRPr sz="1200">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 Dependent on QuestaSim simulator; not evaluated on hardware timing or power</a:t>
                      </a:r>
                      <a:endParaRPr sz="12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 Coverage: 100% (assertion + functional)</a:t>
                      </a:r>
                      <a:endParaRPr sz="12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 Testbench: SystemVerilog (QuestaSim)</a:t>
                      </a:r>
                      <a:endParaRPr sz="12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 Verification type: Constrained random + assertion-based</a:t>
                      </a:r>
                      <a:endParaRPr sz="1200">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 Operation mode: Full duplex UART</a:t>
                      </a:r>
                      <a:endParaRPr sz="1200">
                        <a:latin typeface="Times New Roman"/>
                        <a:ea typeface="Times New Roman"/>
                        <a:cs typeface="Times New Roman"/>
                        <a:sym typeface="Times New Roman"/>
                      </a:endParaRPr>
                    </a:p>
                  </a:txBody>
                  <a:tcPr marT="63500" marB="63500" marR="63500" marL="63500"/>
                </a:tc>
              </a:tr>
              <a:tr h="1702225">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latin typeface="Times New Roman"/>
                          <a:ea typeface="Times New Roman"/>
                          <a:cs typeface="Times New Roman"/>
                          <a:sym typeface="Times New Roman"/>
                        </a:rPr>
                        <a:t>2.</a:t>
                      </a:r>
                      <a:endParaRPr sz="1200" u="none" cap="none" strike="noStrike">
                        <a:latin typeface="Times New Roman"/>
                        <a:ea typeface="Times New Roman"/>
                        <a:cs typeface="Times New Roman"/>
                        <a:sym typeface="Times New Roman"/>
                      </a:endParaRPr>
                    </a:p>
                  </a:txBody>
                  <a:tcPr marT="63500" marB="63500" marR="63500" marL="63500">
                    <a:lnR cap="flat" cmpd="sng" w="12700">
                      <a:solidFill>
                        <a:srgbClr val="000000"/>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Vikash Prajapati, Alpana Pandey (2025). “FPGA based UART Design: Simulation, Synthesis &amp; SystemVerilog Functional Verification.” IEEE GC-ON Conference, 2025</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100">
                          <a:solidFill>
                            <a:schemeClr val="dk1"/>
                          </a:solidFill>
                        </a:rPr>
                        <a:t>Developed a </a:t>
                      </a:r>
                      <a:r>
                        <a:rPr b="1" lang="en-US" sz="1100">
                          <a:solidFill>
                            <a:schemeClr val="dk1"/>
                          </a:solidFill>
                        </a:rPr>
                        <a:t>multi-UART architecture</a:t>
                      </a:r>
                      <a:r>
                        <a:rPr lang="en-US" sz="1100">
                          <a:solidFill>
                            <a:schemeClr val="dk1"/>
                          </a:solidFill>
                        </a:rPr>
                        <a:t> on </a:t>
                      </a:r>
                      <a:r>
                        <a:rPr b="1" lang="en-US" sz="1100">
                          <a:solidFill>
                            <a:schemeClr val="dk1"/>
                          </a:solidFill>
                        </a:rPr>
                        <a:t>Nexys 4 DDR FPGA</a:t>
                      </a:r>
                      <a:r>
                        <a:rPr lang="en-US" sz="1100">
                          <a:solidFill>
                            <a:schemeClr val="dk1"/>
                          </a:solidFill>
                        </a:rPr>
                        <a:t> supporting multiple baud rates (9600–230400 bps). The design integrates </a:t>
                      </a:r>
                      <a:r>
                        <a:rPr b="1" lang="en-US" sz="1100">
                          <a:solidFill>
                            <a:schemeClr val="dk1"/>
                          </a:solidFill>
                        </a:rPr>
                        <a:t>Baud Rate Generator</a:t>
                      </a:r>
                      <a:r>
                        <a:rPr lang="en-US" sz="1100">
                          <a:solidFill>
                            <a:schemeClr val="dk1"/>
                          </a:solidFill>
                        </a:rPr>
                        <a:t>, </a:t>
                      </a:r>
                      <a:r>
                        <a:rPr b="1" lang="en-US" sz="1100">
                          <a:solidFill>
                            <a:schemeClr val="dk1"/>
                          </a:solidFill>
                        </a:rPr>
                        <a:t>Transmitter</a:t>
                      </a:r>
                      <a:r>
                        <a:rPr lang="en-US" sz="1100">
                          <a:solidFill>
                            <a:schemeClr val="dk1"/>
                          </a:solidFill>
                        </a:rPr>
                        <a:t>, </a:t>
                      </a:r>
                      <a:r>
                        <a:rPr b="1" lang="en-US" sz="1100">
                          <a:solidFill>
                            <a:schemeClr val="dk1"/>
                          </a:solidFill>
                        </a:rPr>
                        <a:t>Receiver</a:t>
                      </a:r>
                      <a:r>
                        <a:rPr lang="en-US" sz="1100">
                          <a:solidFill>
                            <a:schemeClr val="dk1"/>
                          </a:solidFill>
                        </a:rPr>
                        <a:t>, and </a:t>
                      </a:r>
                      <a:r>
                        <a:rPr b="1" lang="en-US" sz="1100">
                          <a:solidFill>
                            <a:schemeClr val="dk1"/>
                          </a:solidFill>
                        </a:rPr>
                        <a:t>Debouncing logic</a:t>
                      </a:r>
                      <a:r>
                        <a:rPr lang="en-US" sz="1100">
                          <a:solidFill>
                            <a:schemeClr val="dk1"/>
                          </a:solidFill>
                        </a:rPr>
                        <a:t>. Verification was performed using </a:t>
                      </a:r>
                      <a:r>
                        <a:rPr b="1" lang="en-US" sz="1100">
                          <a:solidFill>
                            <a:schemeClr val="dk1"/>
                          </a:solidFill>
                        </a:rPr>
                        <a:t>SystemVerilog testbench</a:t>
                      </a:r>
                      <a:r>
                        <a:rPr lang="en-US" sz="1100">
                          <a:solidFill>
                            <a:schemeClr val="dk1"/>
                          </a:solidFill>
                        </a:rPr>
                        <a:t> with </a:t>
                      </a:r>
                      <a:r>
                        <a:rPr b="1" lang="en-US" sz="1100">
                          <a:solidFill>
                            <a:schemeClr val="dk1"/>
                          </a:solidFill>
                        </a:rPr>
                        <a:t>Assertions (SVA)</a:t>
                      </a:r>
                      <a:r>
                        <a:rPr lang="en-US" sz="1100">
                          <a:solidFill>
                            <a:schemeClr val="dk1"/>
                          </a:solidFill>
                        </a:rPr>
                        <a:t> and </a:t>
                      </a:r>
                      <a:r>
                        <a:rPr b="1" lang="en-US" sz="1100">
                          <a:solidFill>
                            <a:schemeClr val="dk1"/>
                          </a:solidFill>
                        </a:rPr>
                        <a:t>Functional Coverage</a:t>
                      </a:r>
                      <a:r>
                        <a:rPr lang="en-US" sz="1100">
                          <a:solidFill>
                            <a:schemeClr val="dk1"/>
                          </a:solidFill>
                        </a:rPr>
                        <a:t> in QuestaSim. Hardware demonstration was done via RS-232 communication and Tera Term interface.</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tcPr>
                </a:tc>
                <a:tc>
                  <a:txBody>
                    <a:bodyPr/>
                    <a:lstStyle/>
                    <a:p>
                      <a:pPr indent="0" lvl="0" marL="0" rtl="0" algn="l">
                        <a:spcBef>
                          <a:spcPts val="0"/>
                        </a:spcBef>
                        <a:spcAft>
                          <a:spcPts val="0"/>
                        </a:spcAft>
                        <a:buClr>
                          <a:schemeClr val="dk1"/>
                        </a:buClr>
                        <a:buSzPts val="1100"/>
                        <a:buFont typeface="Arial"/>
                        <a:buNone/>
                      </a:pPr>
                      <a:r>
                        <a:rPr lang="en-US" sz="1100">
                          <a:solidFill>
                            <a:schemeClr val="dk1"/>
                          </a:solidFill>
                        </a:rPr>
                        <a:t>- Implemented </a:t>
                      </a:r>
                      <a:r>
                        <a:rPr b="1" lang="en-US" sz="1100">
                          <a:solidFill>
                            <a:schemeClr val="dk1"/>
                          </a:solidFill>
                        </a:rPr>
                        <a:t>multi-UART with configurable baud rate</a:t>
                      </a:r>
                      <a:r>
                        <a:rPr lang="en-US" sz="1100">
                          <a:solidFill>
                            <a:schemeClr val="dk1"/>
                          </a:solidFill>
                        </a:rPr>
                        <a:t> on FPGA.</a:t>
                      </a:r>
                      <a:endParaRPr sz="1100">
                        <a:solidFill>
                          <a:schemeClr val="dk1"/>
                        </a:solidFill>
                      </a:endParaRPr>
                    </a:p>
                    <a:p>
                      <a:pPr indent="0" lvl="0" marL="0" rtl="0" algn="l">
                        <a:spcBef>
                          <a:spcPts val="0"/>
                        </a:spcBef>
                        <a:spcAft>
                          <a:spcPts val="0"/>
                        </a:spcAft>
                        <a:buClr>
                          <a:schemeClr val="dk1"/>
                        </a:buClr>
                        <a:buSzPts val="1100"/>
                        <a:buFont typeface="Arial"/>
                        <a:buNone/>
                      </a:pPr>
                      <a:r>
                        <a:rPr lang="en-US" sz="1100">
                          <a:solidFill>
                            <a:schemeClr val="dk1"/>
                          </a:solidFill>
                        </a:rPr>
                        <a:t>- Verified using </a:t>
                      </a:r>
                      <a:r>
                        <a:rPr b="1" lang="en-US" sz="1100">
                          <a:solidFill>
                            <a:schemeClr val="dk1"/>
                          </a:solidFill>
                        </a:rPr>
                        <a:t>SVA + coverage-based verification</a:t>
                      </a:r>
                      <a:r>
                        <a:rPr lang="en-US" sz="1100">
                          <a:solidFill>
                            <a:schemeClr val="dk1"/>
                          </a:solidFill>
                        </a:rPr>
                        <a:t> achieving 100% correctness.</a:t>
                      </a:r>
                      <a:endParaRPr sz="1100">
                        <a:solidFill>
                          <a:schemeClr val="dk1"/>
                        </a:solidFill>
                      </a:endParaRPr>
                    </a:p>
                    <a:p>
                      <a:pPr indent="0" lvl="0" marL="0" rtl="0" algn="l">
                        <a:spcBef>
                          <a:spcPts val="0"/>
                        </a:spcBef>
                        <a:spcAft>
                          <a:spcPts val="0"/>
                        </a:spcAft>
                        <a:buClr>
                          <a:schemeClr val="dk1"/>
                        </a:buClr>
                        <a:buSzPts val="1100"/>
                        <a:buFont typeface="Arial"/>
                        <a:buNone/>
                      </a:pPr>
                      <a:r>
                        <a:rPr lang="en-US" sz="1100">
                          <a:solidFill>
                            <a:schemeClr val="dk1"/>
                          </a:solidFill>
                        </a:rPr>
                        <a:t>- </a:t>
                      </a:r>
                      <a:r>
                        <a:rPr b="1" lang="en-US" sz="1100">
                          <a:solidFill>
                            <a:schemeClr val="dk1"/>
                          </a:solidFill>
                        </a:rPr>
                        <a:t>Hardware-in-loop validation</a:t>
                      </a:r>
                      <a:r>
                        <a:rPr lang="en-US" sz="1100">
                          <a:solidFill>
                            <a:schemeClr val="dk1"/>
                          </a:solidFill>
                        </a:rPr>
                        <a:t> on Nexys 4 DDR board.</a:t>
                      </a:r>
                      <a:endParaRPr sz="1100">
                        <a:solidFill>
                          <a:schemeClr val="dk1"/>
                        </a:solidFill>
                      </a:endParaRPr>
                    </a:p>
                    <a:p>
                      <a:pPr indent="0" lvl="0" marL="0" rtl="0" algn="l">
                        <a:spcBef>
                          <a:spcPts val="0"/>
                        </a:spcBef>
                        <a:spcAft>
                          <a:spcPts val="0"/>
                        </a:spcAft>
                        <a:buClr>
                          <a:schemeClr val="dk1"/>
                        </a:buClr>
                        <a:buSzPts val="1100"/>
                        <a:buFont typeface="Arial"/>
                        <a:buNone/>
                      </a:pPr>
                      <a:r>
                        <a:rPr lang="en-US" sz="1100">
                          <a:solidFill>
                            <a:schemeClr val="dk1"/>
                          </a:solidFill>
                        </a:rPr>
                        <a:t>- </a:t>
                      </a:r>
                      <a:r>
                        <a:rPr b="1" lang="en-US" sz="1100">
                          <a:solidFill>
                            <a:schemeClr val="dk1"/>
                          </a:solidFill>
                        </a:rPr>
                        <a:t>Low latency</a:t>
                      </a:r>
                      <a:r>
                        <a:rPr lang="en-US" sz="1100">
                          <a:solidFill>
                            <a:schemeClr val="dk1"/>
                          </a:solidFill>
                        </a:rPr>
                        <a:t> and accurate full-duplex data transfer.</a:t>
                      </a:r>
                      <a:endParaRPr sz="1100">
                        <a:solidFill>
                          <a:schemeClr val="dk1"/>
                        </a:solidFill>
                      </a:endParaRPr>
                    </a:p>
                    <a:p>
                      <a:pPr indent="0" lvl="0" marL="0" marR="0" rtl="0" algn="l">
                        <a:lnSpc>
                          <a:spcPct val="100000"/>
                        </a:lnSpc>
                        <a:spcBef>
                          <a:spcPts val="0"/>
                        </a:spcBef>
                        <a:spcAft>
                          <a:spcPts val="0"/>
                        </a:spcAft>
                        <a:buClr>
                          <a:srgbClr val="000000"/>
                        </a:buClr>
                        <a:buSzPts val="1200"/>
                        <a:buFont typeface="Arial"/>
                        <a:buNone/>
                      </a:pPr>
                      <a:r>
                        <a:rPr lang="en-US" sz="1100">
                          <a:solidFill>
                            <a:schemeClr val="dk1"/>
                          </a:solidFill>
                        </a:rPr>
                        <a:t>- Combines </a:t>
                      </a:r>
                      <a:r>
                        <a:rPr b="1" lang="en-US" sz="1100">
                          <a:solidFill>
                            <a:schemeClr val="dk1"/>
                          </a:solidFill>
                        </a:rPr>
                        <a:t>design, synthesis, and verification</a:t>
                      </a:r>
                      <a:r>
                        <a:rPr lang="en-US" sz="1100">
                          <a:solidFill>
                            <a:schemeClr val="dk1"/>
                          </a:solidFill>
                        </a:rPr>
                        <a:t> in a unified flow.</a:t>
                      </a:r>
                      <a:endParaRPr sz="12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 Limited to fixed oversampling rate; scalability to high-speed interfaces untested.</a:t>
                      </a:r>
                      <a:endParaRPr sz="12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 Demonstration restricted to single FPGA board.</a:t>
                      </a:r>
                      <a:endParaRPr sz="12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 No power or resource optimization reported.</a:t>
                      </a:r>
                      <a:endParaRPr sz="1200">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 Focused mainly on UART; not generalized to other serial protocols.</a:t>
                      </a:r>
                      <a:endParaRPr sz="12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 Baud rates: 9600–230400 bps</a:t>
                      </a:r>
                      <a:endParaRPr sz="12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 FPGA: Nexys 4 DDR (Xilinx)</a:t>
                      </a:r>
                      <a:endParaRPr sz="12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 Simulation tools: Vivado, QuestaSim</a:t>
                      </a:r>
                      <a:endParaRPr sz="12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 Coverage: 100% functional and assertion</a:t>
                      </a:r>
                      <a:endParaRPr sz="1200">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 Interface: RS-232 via Tera Term terminal</a:t>
                      </a:r>
                      <a:endParaRPr sz="1200">
                        <a:latin typeface="Times New Roman"/>
                        <a:ea typeface="Times New Roman"/>
                        <a:cs typeface="Times New Roman"/>
                        <a:sym typeface="Times New Roman"/>
                      </a:endParaRPr>
                    </a:p>
                  </a:txBody>
                  <a:tcPr marT="63500" marB="63500" marR="63500" marL="63500"/>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2"/>
          <p:cNvSpPr/>
          <p:nvPr/>
        </p:nvSpPr>
        <p:spPr>
          <a:xfrm>
            <a:off x="0" y="0"/>
            <a:ext cx="9144000" cy="881700"/>
          </a:xfrm>
          <a:prstGeom prst="rect">
            <a:avLst/>
          </a:prstGeom>
          <a:solidFill>
            <a:srgbClr val="B01B2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lt1"/>
                </a:solidFill>
                <a:latin typeface="Arial"/>
                <a:ea typeface="Arial"/>
                <a:cs typeface="Arial"/>
                <a:sym typeface="Arial"/>
              </a:rPr>
              <a:t>Literature Review </a:t>
            </a:r>
            <a:endParaRPr b="1" i="0" sz="2800" u="none" cap="none" strike="noStrike">
              <a:solidFill>
                <a:schemeClr val="lt1"/>
              </a:solidFill>
              <a:latin typeface="Arial"/>
              <a:ea typeface="Arial"/>
              <a:cs typeface="Arial"/>
              <a:sym typeface="Arial"/>
            </a:endParaRPr>
          </a:p>
        </p:txBody>
      </p:sp>
      <p:graphicFrame>
        <p:nvGraphicFramePr>
          <p:cNvPr id="170" name="Google Shape;170;p12"/>
          <p:cNvGraphicFramePr/>
          <p:nvPr/>
        </p:nvGraphicFramePr>
        <p:xfrm>
          <a:off x="152400" y="152400"/>
          <a:ext cx="3000000" cy="3000000"/>
        </p:xfrm>
        <a:graphic>
          <a:graphicData uri="http://schemas.openxmlformats.org/drawingml/2006/table">
            <a:tbl>
              <a:tblPr>
                <a:noFill/>
                <a:tableStyleId>{3BA866C1-92CD-40EC-9C3B-37DC41D14C48}</a:tableStyleId>
              </a:tblPr>
              <a:tblGrid>
                <a:gridCol w="1657350"/>
              </a:tblGrid>
              <a:tr h="660400">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graphicFrame>
        <p:nvGraphicFramePr>
          <p:cNvPr id="171" name="Google Shape;171;p12"/>
          <p:cNvGraphicFramePr/>
          <p:nvPr/>
        </p:nvGraphicFramePr>
        <p:xfrm>
          <a:off x="152400" y="964800"/>
          <a:ext cx="3000000" cy="3000000"/>
        </p:xfrm>
        <a:graphic>
          <a:graphicData uri="http://schemas.openxmlformats.org/drawingml/2006/table">
            <a:tbl>
              <a:tblPr>
                <a:noFill/>
                <a:tableStyleId>{DC3321EE-C17E-4128-9709-CE3C54129072}</a:tableStyleId>
              </a:tblPr>
              <a:tblGrid>
                <a:gridCol w="428625"/>
                <a:gridCol w="1621800"/>
                <a:gridCol w="2085725"/>
                <a:gridCol w="1634150"/>
                <a:gridCol w="1371425"/>
                <a:gridCol w="1726050"/>
              </a:tblGrid>
              <a:tr h="12700">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latin typeface="Times New Roman"/>
                          <a:ea typeface="Times New Roman"/>
                          <a:cs typeface="Times New Roman"/>
                          <a:sym typeface="Times New Roman"/>
                        </a:rPr>
                        <a:t>SNO</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latin typeface="Times New Roman"/>
                          <a:ea typeface="Times New Roman"/>
                          <a:cs typeface="Times New Roman"/>
                          <a:sym typeface="Times New Roman"/>
                        </a:rPr>
                        <a:t>TITLE</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latin typeface="Times New Roman"/>
                          <a:ea typeface="Times New Roman"/>
                          <a:cs typeface="Times New Roman"/>
                          <a:sym typeface="Times New Roman"/>
                        </a:rPr>
                        <a:t>METHODOLOGY</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latin typeface="Times New Roman"/>
                          <a:ea typeface="Times New Roman"/>
                          <a:cs typeface="Times New Roman"/>
                          <a:sym typeface="Times New Roman"/>
                        </a:rPr>
                        <a:t>NOVELTY/ ADVANTAGES</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latin typeface="Times New Roman"/>
                          <a:ea typeface="Times New Roman"/>
                          <a:cs typeface="Times New Roman"/>
                          <a:sym typeface="Times New Roman"/>
                        </a:rPr>
                        <a:t>LIMITATIONS/ DISADVANTAGES</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latin typeface="Times New Roman"/>
                          <a:ea typeface="Times New Roman"/>
                          <a:cs typeface="Times New Roman"/>
                          <a:sym typeface="Times New Roman"/>
                        </a:rPr>
                        <a:t>PARAMETERS</a:t>
                      </a:r>
                      <a:endParaRPr b="1" sz="1200" u="none" cap="none" strike="noStrike">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2700">
                <a:tc>
                  <a:txBody>
                    <a:bodyPr/>
                    <a:lstStyle/>
                    <a:p>
                      <a:pPr indent="0" lvl="0" marL="0" rtl="0" algn="l">
                        <a:spcBef>
                          <a:spcPts val="0"/>
                        </a:spcBef>
                        <a:spcAft>
                          <a:spcPts val="0"/>
                        </a:spcAft>
                        <a:buNone/>
                      </a:pPr>
                      <a:r>
                        <a:rPr lang="en-US"/>
                        <a:t>3.</a:t>
                      </a:r>
                      <a:endParaRPr/>
                    </a:p>
                  </a:txBody>
                  <a:tcPr marT="63500" marB="63500" marR="63500" marL="63500">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100">
                          <a:solidFill>
                            <a:schemeClr val="dk1"/>
                          </a:solidFill>
                        </a:rPr>
                        <a:t>Sravani S., &amp; Srujana R. (2023). “Design and Verification of Autoconfigurable UART Controller.” </a:t>
                      </a:r>
                      <a:r>
                        <a:rPr i="1" lang="en-US" sz="1100">
                          <a:solidFill>
                            <a:schemeClr val="dk1"/>
                          </a:solidFill>
                        </a:rPr>
                        <a:t>International Journal of Research in Engineering and Technology (IJRET)</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100">
                          <a:solidFill>
                            <a:schemeClr val="dk1"/>
                          </a:solidFill>
                        </a:rPr>
                        <a:t>Developed an </a:t>
                      </a:r>
                      <a:r>
                        <a:rPr b="1" lang="en-US" sz="1100">
                          <a:solidFill>
                            <a:schemeClr val="dk1"/>
                          </a:solidFill>
                        </a:rPr>
                        <a:t>autoconfigurable UART controller</a:t>
                      </a:r>
                      <a:r>
                        <a:rPr lang="en-US" sz="1100">
                          <a:solidFill>
                            <a:schemeClr val="dk1"/>
                          </a:solidFill>
                        </a:rPr>
                        <a:t> using </a:t>
                      </a:r>
                      <a:r>
                        <a:rPr b="1" lang="en-US" sz="1100">
                          <a:solidFill>
                            <a:schemeClr val="dk1"/>
                          </a:solidFill>
                        </a:rPr>
                        <a:t>Verilog HDL</a:t>
                      </a:r>
                      <a:r>
                        <a:rPr lang="en-US" sz="1100">
                          <a:solidFill>
                            <a:schemeClr val="dk1"/>
                          </a:solidFill>
                        </a:rPr>
                        <a:t> and verified through </a:t>
                      </a:r>
                      <a:r>
                        <a:rPr b="1" lang="en-US" sz="1100">
                          <a:solidFill>
                            <a:schemeClr val="dk1"/>
                          </a:solidFill>
                        </a:rPr>
                        <a:t>SystemVerilog testbench</a:t>
                      </a:r>
                      <a:r>
                        <a:rPr lang="en-US" sz="1100">
                          <a:solidFill>
                            <a:schemeClr val="dk1"/>
                          </a:solidFill>
                        </a:rPr>
                        <a:t>. The system automatically adjusts to various baud rates, data lengths, and parity configurations without manual reprogramming. Verification was performed with </a:t>
                      </a:r>
                      <a:r>
                        <a:rPr b="1" lang="en-US" sz="1100">
                          <a:solidFill>
                            <a:schemeClr val="dk1"/>
                          </a:solidFill>
                        </a:rPr>
                        <a:t>assertion-based simulation</a:t>
                      </a:r>
                      <a:r>
                        <a:rPr lang="en-US" sz="1100">
                          <a:solidFill>
                            <a:schemeClr val="dk1"/>
                          </a:solidFill>
                        </a:rPr>
                        <a:t> to validate data integrity and synchronization.</a:t>
                      </a:r>
                      <a:endParaRPr sz="1200" u="none" cap="none" strike="noStrike">
                        <a:latin typeface="Times New Roman"/>
                        <a:ea typeface="Times New Roman"/>
                        <a:cs typeface="Times New Roman"/>
                        <a:sym typeface="Times New Roman"/>
                      </a:endParaRPr>
                    </a:p>
                  </a:txBody>
                  <a:tcPr marT="63500" marB="63500" marR="63500" marL="63500">
                    <a:lnL cap="flat" cmpd="sng" w="12700">
                      <a:solidFill>
                        <a:srgbClr val="000000"/>
                      </a:solidFill>
                      <a:prstDash val="solid"/>
                      <a:round/>
                      <a:headEnd len="sm" w="sm" type="none"/>
                      <a:tailEnd len="sm" w="sm" type="none"/>
                    </a:lnL>
                    <a:lnT cap="flat" cmpd="sng" w="12700">
                      <a:solidFill>
                        <a:srgbClr val="000000"/>
                      </a:solidFill>
                      <a:prstDash val="solid"/>
                      <a:round/>
                      <a:headEnd len="sm" w="sm" type="none"/>
                      <a:tailEnd len="sm" w="sm" type="none"/>
                    </a:lnT>
                  </a:tcPr>
                </a:tc>
                <a:tc>
                  <a:txBody>
                    <a:bodyPr/>
                    <a:lstStyle/>
                    <a:p>
                      <a:pPr indent="0" lvl="0" marL="0" rtl="0" algn="l">
                        <a:spcBef>
                          <a:spcPts val="0"/>
                        </a:spcBef>
                        <a:spcAft>
                          <a:spcPts val="0"/>
                        </a:spcAft>
                        <a:buClr>
                          <a:schemeClr val="dk1"/>
                        </a:buClr>
                        <a:buSzPts val="1100"/>
                        <a:buFont typeface="Arial"/>
                        <a:buNone/>
                      </a:pPr>
                      <a:r>
                        <a:rPr lang="en-US" sz="1100">
                          <a:solidFill>
                            <a:schemeClr val="dk1"/>
                          </a:solidFill>
                        </a:rPr>
                        <a:t>- </a:t>
                      </a:r>
                      <a:r>
                        <a:rPr b="1" lang="en-US" sz="1100">
                          <a:solidFill>
                            <a:schemeClr val="dk1"/>
                          </a:solidFill>
                        </a:rPr>
                        <a:t>Automatic configuration</a:t>
                      </a:r>
                      <a:r>
                        <a:rPr lang="en-US" sz="1100">
                          <a:solidFill>
                            <a:schemeClr val="dk1"/>
                          </a:solidFill>
                        </a:rPr>
                        <a:t> of UART parameters enhances flexibility.</a:t>
                      </a:r>
                      <a:endParaRPr sz="1100">
                        <a:solidFill>
                          <a:schemeClr val="dk1"/>
                        </a:solidFill>
                      </a:endParaRPr>
                    </a:p>
                    <a:p>
                      <a:pPr indent="0" lvl="0" marL="0" rtl="0" algn="l">
                        <a:spcBef>
                          <a:spcPts val="0"/>
                        </a:spcBef>
                        <a:spcAft>
                          <a:spcPts val="0"/>
                        </a:spcAft>
                        <a:buClr>
                          <a:schemeClr val="dk1"/>
                        </a:buClr>
                        <a:buSzPts val="1100"/>
                        <a:buFont typeface="Arial"/>
                        <a:buNone/>
                      </a:pPr>
                      <a:r>
                        <a:rPr lang="en-US" sz="1100">
                          <a:solidFill>
                            <a:schemeClr val="dk1"/>
                          </a:solidFill>
                        </a:rPr>
                        <a:t>- Eliminates manual setup for baud rate, stop bits, and parity selection.</a:t>
                      </a:r>
                      <a:endParaRPr sz="1100">
                        <a:solidFill>
                          <a:schemeClr val="dk1"/>
                        </a:solidFill>
                      </a:endParaRPr>
                    </a:p>
                    <a:p>
                      <a:pPr indent="0" lvl="0" marL="0" rtl="0" algn="l">
                        <a:spcBef>
                          <a:spcPts val="0"/>
                        </a:spcBef>
                        <a:spcAft>
                          <a:spcPts val="0"/>
                        </a:spcAft>
                        <a:buClr>
                          <a:schemeClr val="dk1"/>
                        </a:buClr>
                        <a:buSzPts val="1100"/>
                        <a:buFont typeface="Arial"/>
                        <a:buNone/>
                      </a:pPr>
                      <a:r>
                        <a:rPr lang="en-US" sz="1100">
                          <a:solidFill>
                            <a:schemeClr val="dk1"/>
                          </a:solidFill>
                        </a:rPr>
                        <a:t>- Verified using </a:t>
                      </a:r>
                      <a:r>
                        <a:rPr b="1" lang="en-US" sz="1100">
                          <a:solidFill>
                            <a:schemeClr val="dk1"/>
                          </a:solidFill>
                        </a:rPr>
                        <a:t>SystemVerilog assertions</a:t>
                      </a:r>
                      <a:r>
                        <a:rPr lang="en-US" sz="1100">
                          <a:solidFill>
                            <a:schemeClr val="dk1"/>
                          </a:solidFill>
                        </a:rPr>
                        <a:t> ensuring protocol accuracy.</a:t>
                      </a:r>
                      <a:endParaRPr sz="1100">
                        <a:solidFill>
                          <a:schemeClr val="dk1"/>
                        </a:solidFill>
                      </a:endParaRPr>
                    </a:p>
                    <a:p>
                      <a:pPr indent="0" lvl="0" marL="0" marR="0" rtl="0" algn="l">
                        <a:lnSpc>
                          <a:spcPct val="100000"/>
                        </a:lnSpc>
                        <a:spcBef>
                          <a:spcPts val="0"/>
                        </a:spcBef>
                        <a:spcAft>
                          <a:spcPts val="0"/>
                        </a:spcAft>
                        <a:buClr>
                          <a:srgbClr val="000000"/>
                        </a:buClr>
                        <a:buSzPts val="1200"/>
                        <a:buFont typeface="Arial"/>
                        <a:buNone/>
                      </a:pPr>
                      <a:r>
                        <a:rPr lang="en-US" sz="1100">
                          <a:solidFill>
                            <a:schemeClr val="dk1"/>
                          </a:solidFill>
                        </a:rPr>
                        <a:t>- Provides adaptability for heterogeneous communication systems.</a:t>
                      </a:r>
                      <a:endParaRPr sz="1200">
                        <a:latin typeface="Times New Roman"/>
                        <a:ea typeface="Times New Roman"/>
                        <a:cs typeface="Times New Roman"/>
                        <a:sym typeface="Times New Roman"/>
                      </a:endParaRPr>
                    </a:p>
                  </a:txBody>
                  <a:tcPr marT="63500" marB="63500" marR="63500" marL="63500">
                    <a:lnT cap="flat" cmpd="sng" w="12700">
                      <a:solidFill>
                        <a:srgbClr val="000000"/>
                      </a:solidFill>
                      <a:prstDash val="solid"/>
                      <a:round/>
                      <a:headEnd len="sm" w="sm" type="none"/>
                      <a:tailEnd len="sm" w="sm" type="none"/>
                    </a:lnT>
                  </a:tcPr>
                </a:tc>
                <a:tc>
                  <a:txBody>
                    <a:bodyPr/>
                    <a:lstStyle/>
                    <a:p>
                      <a:pPr indent="0" lvl="0" marL="0" rtl="0" algn="l">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 No FPGA hardware validation reported.</a:t>
                      </a:r>
                      <a:endParaRPr sz="12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 Limited verification coverage data provided.</a:t>
                      </a:r>
                      <a:endParaRPr sz="12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 Power/resource efficiency not evaluated.</a:t>
                      </a:r>
                      <a:endParaRPr sz="1200">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 Tested for basic UART configurations only.</a:t>
                      </a:r>
                      <a:endParaRPr sz="1200">
                        <a:latin typeface="Times New Roman"/>
                        <a:ea typeface="Times New Roman"/>
                        <a:cs typeface="Times New Roman"/>
                        <a:sym typeface="Times New Roman"/>
                      </a:endParaRPr>
                    </a:p>
                  </a:txBody>
                  <a:tcPr marT="63500" marB="63500" marR="63500" marL="63500">
                    <a:lnT cap="flat" cmpd="sng" w="12700">
                      <a:solidFill>
                        <a:srgbClr val="000000"/>
                      </a:solidFill>
                      <a:prstDash val="solid"/>
                      <a:round/>
                      <a:headEnd len="sm" w="sm" type="none"/>
                      <a:tailEnd len="sm" w="sm" type="none"/>
                    </a:lnT>
                  </a:tcPr>
                </a:tc>
                <a:tc>
                  <a:txBody>
                    <a:bodyPr/>
                    <a:lstStyle/>
                    <a:p>
                      <a:pPr indent="0" lvl="0" marL="0" rtl="0" algn="l">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 Baud rates: 9600–115200 bps (adaptive)</a:t>
                      </a:r>
                      <a:endParaRPr sz="12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 Simulation: QuestaSim</a:t>
                      </a:r>
                      <a:endParaRPr sz="12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 Verification: Assertion-based SV</a:t>
                      </a:r>
                      <a:endParaRPr sz="1200">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 Features: Auto-configuration, error detection</a:t>
                      </a:r>
                      <a:endParaRPr sz="1200">
                        <a:latin typeface="Times New Roman"/>
                        <a:ea typeface="Times New Roman"/>
                        <a:cs typeface="Times New Roman"/>
                        <a:sym typeface="Times New Roman"/>
                      </a:endParaRPr>
                    </a:p>
                  </a:txBody>
                  <a:tcPr marT="63500" marB="63500" marR="63500" marL="63500">
                    <a:lnT cap="flat" cmpd="sng" w="12700">
                      <a:solidFill>
                        <a:srgbClr val="000000"/>
                      </a:solidFill>
                      <a:prstDash val="solid"/>
                      <a:round/>
                      <a:headEnd len="sm" w="sm" type="none"/>
                      <a:tailEnd len="sm" w="sm" type="none"/>
                    </a:lnT>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6"/>
          <p:cNvSpPr txBox="1"/>
          <p:nvPr>
            <p:ph idx="1" type="body"/>
          </p:nvPr>
        </p:nvSpPr>
        <p:spPr>
          <a:xfrm>
            <a:off x="143200" y="1182875"/>
            <a:ext cx="8825100" cy="5609700"/>
          </a:xfrm>
          <a:prstGeom prst="rect">
            <a:avLst/>
          </a:prstGeom>
          <a:noFill/>
          <a:ln>
            <a:noFill/>
          </a:ln>
        </p:spPr>
        <p:txBody>
          <a:bodyPr anchorCtr="0" anchor="t" bIns="45700" lIns="91425" spcFirstLastPara="1" rIns="91425" wrap="square" tIns="45700">
            <a:noAutofit/>
          </a:bodyPr>
          <a:lstStyle/>
          <a:p>
            <a:pPr indent="-349250" lvl="0" marL="457200" rtl="0" algn="just">
              <a:lnSpc>
                <a:spcPct val="150000"/>
              </a:lnSpc>
              <a:spcBef>
                <a:spcPts val="0"/>
              </a:spcBef>
              <a:spcAft>
                <a:spcPts val="0"/>
              </a:spcAft>
              <a:buSzPts val="1900"/>
              <a:buFont typeface="Times New Roman"/>
              <a:buChar char="●"/>
            </a:pPr>
            <a:r>
              <a:rPr lang="en-US" sz="1900">
                <a:latin typeface="Times New Roman"/>
                <a:ea typeface="Times New Roman"/>
                <a:cs typeface="Times New Roman"/>
                <a:sym typeface="Times New Roman"/>
              </a:rPr>
              <a:t>Existing UART designs mainly focus on </a:t>
            </a:r>
            <a:r>
              <a:rPr b="1" lang="en-US" sz="1900">
                <a:latin typeface="Times New Roman"/>
                <a:ea typeface="Times New Roman"/>
                <a:cs typeface="Times New Roman"/>
                <a:sym typeface="Times New Roman"/>
              </a:rPr>
              <a:t>functional simulation</a:t>
            </a:r>
            <a:r>
              <a:rPr lang="en-US" sz="1900">
                <a:latin typeface="Times New Roman"/>
                <a:ea typeface="Times New Roman"/>
                <a:cs typeface="Times New Roman"/>
                <a:sym typeface="Times New Roman"/>
              </a:rPr>
              <a:t> using Verilog or SystemVerilog.</a:t>
            </a:r>
            <a:endParaRPr sz="1900">
              <a:latin typeface="Times New Roman"/>
              <a:ea typeface="Times New Roman"/>
              <a:cs typeface="Times New Roman"/>
              <a:sym typeface="Times New Roman"/>
            </a:endParaRPr>
          </a:p>
          <a:p>
            <a:pPr indent="-349250" lvl="0" marL="457200" rtl="0" algn="just">
              <a:lnSpc>
                <a:spcPct val="150000"/>
              </a:lnSpc>
              <a:spcBef>
                <a:spcPts val="0"/>
              </a:spcBef>
              <a:spcAft>
                <a:spcPts val="0"/>
              </a:spcAft>
              <a:buSzPts val="1900"/>
              <a:buFont typeface="Times New Roman"/>
              <a:buChar char="●"/>
            </a:pPr>
            <a:r>
              <a:rPr lang="en-US" sz="1900">
                <a:latin typeface="Times New Roman"/>
                <a:ea typeface="Times New Roman"/>
                <a:cs typeface="Times New Roman"/>
                <a:sym typeface="Times New Roman"/>
              </a:rPr>
              <a:t>Recent works emphasize </a:t>
            </a:r>
            <a:r>
              <a:rPr b="1" lang="en-US" sz="1900">
                <a:latin typeface="Times New Roman"/>
                <a:ea typeface="Times New Roman"/>
                <a:cs typeface="Times New Roman"/>
                <a:sym typeface="Times New Roman"/>
              </a:rPr>
              <a:t>assertion-based and coverage-driven verification</a:t>
            </a:r>
            <a:r>
              <a:rPr lang="en-US" sz="1900">
                <a:latin typeface="Times New Roman"/>
                <a:ea typeface="Times New Roman"/>
                <a:cs typeface="Times New Roman"/>
                <a:sym typeface="Times New Roman"/>
              </a:rPr>
              <a:t> for higher accuracy.</a:t>
            </a:r>
            <a:endParaRPr sz="1900">
              <a:latin typeface="Times New Roman"/>
              <a:ea typeface="Times New Roman"/>
              <a:cs typeface="Times New Roman"/>
              <a:sym typeface="Times New Roman"/>
            </a:endParaRPr>
          </a:p>
          <a:p>
            <a:pPr indent="-349250" lvl="0" marL="457200" rtl="0" algn="just">
              <a:lnSpc>
                <a:spcPct val="150000"/>
              </a:lnSpc>
              <a:spcBef>
                <a:spcPts val="0"/>
              </a:spcBef>
              <a:spcAft>
                <a:spcPts val="0"/>
              </a:spcAft>
              <a:buSzPts val="1900"/>
              <a:buFont typeface="Times New Roman"/>
              <a:buChar char="●"/>
            </a:pPr>
            <a:r>
              <a:rPr b="1" lang="en-US" sz="1900">
                <a:latin typeface="Times New Roman"/>
                <a:ea typeface="Times New Roman"/>
                <a:cs typeface="Times New Roman"/>
                <a:sym typeface="Times New Roman"/>
              </a:rPr>
              <a:t>FPGA implementations</a:t>
            </a:r>
            <a:r>
              <a:rPr lang="en-US" sz="1900">
                <a:latin typeface="Times New Roman"/>
                <a:ea typeface="Times New Roman"/>
                <a:cs typeface="Times New Roman"/>
                <a:sym typeface="Times New Roman"/>
              </a:rPr>
              <a:t> validate real-time operation but often lack deep verification.</a:t>
            </a:r>
            <a:endParaRPr sz="1900">
              <a:latin typeface="Times New Roman"/>
              <a:ea typeface="Times New Roman"/>
              <a:cs typeface="Times New Roman"/>
              <a:sym typeface="Times New Roman"/>
            </a:endParaRPr>
          </a:p>
          <a:p>
            <a:pPr indent="-349250" lvl="0" marL="457200" rtl="0" algn="just">
              <a:lnSpc>
                <a:spcPct val="150000"/>
              </a:lnSpc>
              <a:spcBef>
                <a:spcPts val="0"/>
              </a:spcBef>
              <a:spcAft>
                <a:spcPts val="0"/>
              </a:spcAft>
              <a:buSzPts val="1900"/>
              <a:buFont typeface="Times New Roman"/>
              <a:buChar char="●"/>
            </a:pPr>
            <a:r>
              <a:rPr b="1" lang="en-US" sz="1900">
                <a:latin typeface="Times New Roman"/>
                <a:ea typeface="Times New Roman"/>
                <a:cs typeface="Times New Roman"/>
                <a:sym typeface="Times New Roman"/>
              </a:rPr>
              <a:t>Autoconfigurable UARTs</a:t>
            </a:r>
            <a:r>
              <a:rPr lang="en-US" sz="1900">
                <a:latin typeface="Times New Roman"/>
                <a:ea typeface="Times New Roman"/>
                <a:cs typeface="Times New Roman"/>
                <a:sym typeface="Times New Roman"/>
              </a:rPr>
              <a:t> improve flexibility with adaptive baud rate and parity settings.</a:t>
            </a:r>
            <a:endParaRPr sz="1900">
              <a:latin typeface="Times New Roman"/>
              <a:ea typeface="Times New Roman"/>
              <a:cs typeface="Times New Roman"/>
              <a:sym typeface="Times New Roman"/>
            </a:endParaRPr>
          </a:p>
          <a:p>
            <a:pPr indent="-349250" lvl="0" marL="457200" rtl="0" algn="just">
              <a:lnSpc>
                <a:spcPct val="150000"/>
              </a:lnSpc>
              <a:spcBef>
                <a:spcPts val="0"/>
              </a:spcBef>
              <a:spcAft>
                <a:spcPts val="0"/>
              </a:spcAft>
              <a:buSzPts val="1900"/>
              <a:buFont typeface="Times New Roman"/>
              <a:buChar char="●"/>
            </a:pPr>
            <a:r>
              <a:rPr lang="en-US" sz="1900">
                <a:latin typeface="Times New Roman"/>
                <a:ea typeface="Times New Roman"/>
                <a:cs typeface="Times New Roman"/>
                <a:sym typeface="Times New Roman"/>
              </a:rPr>
              <a:t>Most studies treat design and verification as </a:t>
            </a:r>
            <a:r>
              <a:rPr b="1" lang="en-US" sz="1900">
                <a:latin typeface="Times New Roman"/>
                <a:ea typeface="Times New Roman"/>
                <a:cs typeface="Times New Roman"/>
                <a:sym typeface="Times New Roman"/>
              </a:rPr>
              <a:t>separate stages</a:t>
            </a:r>
            <a:r>
              <a:rPr lang="en-US" sz="1900">
                <a:latin typeface="Times New Roman"/>
                <a:ea typeface="Times New Roman"/>
                <a:cs typeface="Times New Roman"/>
                <a:sym typeface="Times New Roman"/>
              </a:rPr>
              <a:t>, not integrated.</a:t>
            </a:r>
            <a:endParaRPr sz="1900">
              <a:latin typeface="Times New Roman"/>
              <a:ea typeface="Times New Roman"/>
              <a:cs typeface="Times New Roman"/>
              <a:sym typeface="Times New Roman"/>
            </a:endParaRPr>
          </a:p>
          <a:p>
            <a:pPr indent="-349250" lvl="0" marL="457200" rtl="0" algn="just">
              <a:lnSpc>
                <a:spcPct val="150000"/>
              </a:lnSpc>
              <a:spcBef>
                <a:spcPts val="0"/>
              </a:spcBef>
              <a:spcAft>
                <a:spcPts val="0"/>
              </a:spcAft>
              <a:buSzPts val="1900"/>
              <a:buFont typeface="Times New Roman"/>
              <a:buChar char="●"/>
            </a:pPr>
            <a:r>
              <a:rPr lang="en-US" sz="1900">
                <a:latin typeface="Times New Roman"/>
                <a:ea typeface="Times New Roman"/>
                <a:cs typeface="Times New Roman"/>
                <a:sym typeface="Times New Roman"/>
              </a:rPr>
              <a:t>There is limited focus on </a:t>
            </a:r>
            <a:r>
              <a:rPr b="1" lang="en-US" sz="1900">
                <a:latin typeface="Times New Roman"/>
                <a:ea typeface="Times New Roman"/>
                <a:cs typeface="Times New Roman"/>
                <a:sym typeface="Times New Roman"/>
              </a:rPr>
              <a:t>reusability and automation</a:t>
            </a:r>
            <a:r>
              <a:rPr lang="en-US" sz="1900">
                <a:latin typeface="Times New Roman"/>
                <a:ea typeface="Times New Roman"/>
                <a:cs typeface="Times New Roman"/>
                <a:sym typeface="Times New Roman"/>
              </a:rPr>
              <a:t> in verification environments.</a:t>
            </a:r>
            <a:endParaRPr sz="1900">
              <a:latin typeface="Times New Roman"/>
              <a:ea typeface="Times New Roman"/>
              <a:cs typeface="Times New Roman"/>
              <a:sym typeface="Times New Roman"/>
            </a:endParaRPr>
          </a:p>
          <a:p>
            <a:pPr indent="-349250" lvl="0" marL="457200" rtl="0" algn="just">
              <a:lnSpc>
                <a:spcPct val="150000"/>
              </a:lnSpc>
              <a:spcBef>
                <a:spcPts val="0"/>
              </a:spcBef>
              <a:spcAft>
                <a:spcPts val="0"/>
              </a:spcAft>
              <a:buSzPts val="1900"/>
              <a:buFont typeface="Times New Roman"/>
              <a:buChar char="●"/>
            </a:pPr>
            <a:r>
              <a:rPr lang="en-US" sz="1900">
                <a:latin typeface="Times New Roman"/>
                <a:ea typeface="Times New Roman"/>
                <a:cs typeface="Times New Roman"/>
                <a:sym typeface="Times New Roman"/>
              </a:rPr>
              <a:t>Hence, this project aims to build a </a:t>
            </a:r>
            <a:r>
              <a:rPr b="1" lang="en-US" sz="1900">
                <a:latin typeface="Times New Roman"/>
                <a:ea typeface="Times New Roman"/>
                <a:cs typeface="Times New Roman"/>
                <a:sym typeface="Times New Roman"/>
              </a:rPr>
              <a:t>fully verified, reusable UART design</a:t>
            </a:r>
            <a:r>
              <a:rPr lang="en-US" sz="1900">
                <a:latin typeface="Times New Roman"/>
                <a:ea typeface="Times New Roman"/>
                <a:cs typeface="Times New Roman"/>
                <a:sym typeface="Times New Roman"/>
              </a:rPr>
              <a:t> using SystemVerilog simulation and assertions.</a:t>
            </a:r>
            <a:endParaRPr sz="1900">
              <a:latin typeface="Times New Roman"/>
              <a:ea typeface="Times New Roman"/>
              <a:cs typeface="Times New Roman"/>
              <a:sym typeface="Times New Roman"/>
            </a:endParaRPr>
          </a:p>
          <a:p>
            <a:pPr indent="0" lvl="0" marL="0" rtl="0" algn="just">
              <a:lnSpc>
                <a:spcPct val="150000"/>
              </a:lnSpc>
              <a:spcBef>
                <a:spcPts val="1000"/>
              </a:spcBef>
              <a:spcAft>
                <a:spcPts val="0"/>
              </a:spcAft>
              <a:buNone/>
            </a:pPr>
            <a:r>
              <a:t/>
            </a:r>
            <a:endParaRPr sz="2000">
              <a:latin typeface="Times New Roman"/>
              <a:ea typeface="Times New Roman"/>
              <a:cs typeface="Times New Roman"/>
              <a:sym typeface="Times New Roman"/>
            </a:endParaRPr>
          </a:p>
        </p:txBody>
      </p:sp>
      <p:sp>
        <p:nvSpPr>
          <p:cNvPr id="177" name="Google Shape;177;p16"/>
          <p:cNvSpPr/>
          <p:nvPr/>
        </p:nvSpPr>
        <p:spPr>
          <a:xfrm>
            <a:off x="0" y="0"/>
            <a:ext cx="9144000" cy="971695"/>
          </a:xfrm>
          <a:prstGeom prst="rect">
            <a:avLst/>
          </a:prstGeom>
          <a:solidFill>
            <a:srgbClr val="B01B2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chemeClr val="lt1"/>
                </a:solidFill>
                <a:latin typeface="Arial"/>
                <a:ea typeface="Arial"/>
                <a:cs typeface="Arial"/>
                <a:sym typeface="Arial"/>
              </a:rPr>
              <a:t>Inference from Literature survey</a:t>
            </a:r>
            <a:endParaRPr b="1" i="0" sz="3000" u="none" cap="none" strike="noStrike">
              <a:solidFill>
                <a:schemeClr val="lt1"/>
              </a:solidFill>
              <a:latin typeface="Arial"/>
              <a:ea typeface="Arial"/>
              <a:cs typeface="Arial"/>
              <a:sym typeface="Arial"/>
            </a:endParaRPr>
          </a:p>
        </p:txBody>
      </p:sp>
      <p:pic>
        <p:nvPicPr>
          <p:cNvPr id="178" name="Google Shape;178;p16"/>
          <p:cNvPicPr preferRelativeResize="0"/>
          <p:nvPr/>
        </p:nvPicPr>
        <p:blipFill rotWithShape="1">
          <a:blip r:embed="rId3">
            <a:alphaModFix/>
          </a:blip>
          <a:srcRect b="0" l="0" r="0" t="0"/>
          <a:stretch/>
        </p:blipFill>
        <p:spPr>
          <a:xfrm>
            <a:off x="7887056" y="5640237"/>
            <a:ext cx="1174719" cy="115234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947ad69879_0_7"/>
          <p:cNvSpPr txBox="1"/>
          <p:nvPr>
            <p:ph idx="1" type="body"/>
          </p:nvPr>
        </p:nvSpPr>
        <p:spPr>
          <a:xfrm>
            <a:off x="143200" y="1182875"/>
            <a:ext cx="8825100" cy="5609700"/>
          </a:xfrm>
          <a:prstGeom prst="rect">
            <a:avLst/>
          </a:prstGeom>
          <a:noFill/>
          <a:ln>
            <a:noFill/>
          </a:ln>
        </p:spPr>
        <p:txBody>
          <a:bodyPr anchorCtr="0" anchor="t" bIns="45700" lIns="91425" spcFirstLastPara="1" rIns="91425" wrap="square" tIns="45700">
            <a:noAutofit/>
          </a:bodyPr>
          <a:lstStyle/>
          <a:p>
            <a:pPr indent="0" lvl="0" marL="0" rtl="0" algn="just">
              <a:lnSpc>
                <a:spcPct val="50000"/>
              </a:lnSpc>
              <a:spcBef>
                <a:spcPts val="50"/>
              </a:spcBef>
              <a:spcAft>
                <a:spcPts val="0"/>
              </a:spcAft>
              <a:buNone/>
            </a:pPr>
            <a:r>
              <a:t/>
            </a:r>
            <a:endParaRPr sz="2200">
              <a:latin typeface="Times New Roman"/>
              <a:ea typeface="Times New Roman"/>
              <a:cs typeface="Times New Roman"/>
              <a:sym typeface="Times New Roman"/>
            </a:endParaRPr>
          </a:p>
          <a:p>
            <a:pPr indent="0" lvl="0" marL="0" rtl="0" algn="just">
              <a:lnSpc>
                <a:spcPct val="50000"/>
              </a:lnSpc>
              <a:spcBef>
                <a:spcPts val="50"/>
              </a:spcBef>
              <a:spcAft>
                <a:spcPts val="0"/>
              </a:spcAft>
              <a:buNone/>
            </a:pPr>
            <a:r>
              <a:t/>
            </a:r>
            <a:endParaRPr sz="2200">
              <a:latin typeface="Times New Roman"/>
              <a:ea typeface="Times New Roman"/>
              <a:cs typeface="Times New Roman"/>
              <a:sym typeface="Times New Roman"/>
            </a:endParaRPr>
          </a:p>
          <a:p>
            <a:pPr indent="0" lvl="0" marL="0" rtl="0" algn="just">
              <a:lnSpc>
                <a:spcPct val="50000"/>
              </a:lnSpc>
              <a:spcBef>
                <a:spcPts val="50"/>
              </a:spcBef>
              <a:spcAft>
                <a:spcPts val="0"/>
              </a:spcAft>
              <a:buNone/>
            </a:pPr>
            <a:r>
              <a:t/>
            </a:r>
            <a:endParaRPr sz="2200">
              <a:latin typeface="Times New Roman"/>
              <a:ea typeface="Times New Roman"/>
              <a:cs typeface="Times New Roman"/>
              <a:sym typeface="Times New Roman"/>
            </a:endParaRPr>
          </a:p>
          <a:p>
            <a:pPr indent="0" lvl="0" marL="0" rtl="0" algn="just">
              <a:lnSpc>
                <a:spcPct val="50000"/>
              </a:lnSpc>
              <a:spcBef>
                <a:spcPts val="50"/>
              </a:spcBef>
              <a:spcAft>
                <a:spcPts val="0"/>
              </a:spcAft>
              <a:buNone/>
            </a:pPr>
            <a:r>
              <a:t/>
            </a:r>
            <a:endParaRPr sz="2200">
              <a:latin typeface="Times New Roman"/>
              <a:ea typeface="Times New Roman"/>
              <a:cs typeface="Times New Roman"/>
              <a:sym typeface="Times New Roman"/>
            </a:endParaRPr>
          </a:p>
          <a:p>
            <a:pPr indent="0" lvl="0" marL="0" rtl="0" algn="just">
              <a:lnSpc>
                <a:spcPct val="50000"/>
              </a:lnSpc>
              <a:spcBef>
                <a:spcPts val="50"/>
              </a:spcBef>
              <a:spcAft>
                <a:spcPts val="0"/>
              </a:spcAft>
              <a:buNone/>
            </a:pPr>
            <a:r>
              <a:t/>
            </a:r>
            <a:endParaRPr sz="2200">
              <a:latin typeface="Times New Roman"/>
              <a:ea typeface="Times New Roman"/>
              <a:cs typeface="Times New Roman"/>
              <a:sym typeface="Times New Roman"/>
            </a:endParaRPr>
          </a:p>
          <a:p>
            <a:pPr indent="0" lvl="0" marL="0" rtl="0" algn="just">
              <a:lnSpc>
                <a:spcPct val="50000"/>
              </a:lnSpc>
              <a:spcBef>
                <a:spcPts val="50"/>
              </a:spcBef>
              <a:spcAft>
                <a:spcPts val="0"/>
              </a:spcAft>
              <a:buNone/>
            </a:pPr>
            <a:r>
              <a:t/>
            </a:r>
            <a:endParaRPr sz="2200">
              <a:latin typeface="Times New Roman"/>
              <a:ea typeface="Times New Roman"/>
              <a:cs typeface="Times New Roman"/>
              <a:sym typeface="Times New Roman"/>
            </a:endParaRPr>
          </a:p>
          <a:p>
            <a:pPr indent="457200" lvl="0" marL="3200400" rtl="0" algn="just">
              <a:lnSpc>
                <a:spcPct val="50000"/>
              </a:lnSpc>
              <a:spcBef>
                <a:spcPts val="50"/>
              </a:spcBef>
              <a:spcAft>
                <a:spcPts val="0"/>
              </a:spcAft>
              <a:buNone/>
            </a:pPr>
            <a:r>
              <a:t/>
            </a:r>
            <a:endParaRPr sz="2200">
              <a:latin typeface="Times New Roman"/>
              <a:ea typeface="Times New Roman"/>
              <a:cs typeface="Times New Roman"/>
              <a:sym typeface="Times New Roman"/>
            </a:endParaRPr>
          </a:p>
          <a:p>
            <a:pPr indent="0" lvl="0" marL="3200400" rtl="0" algn="just">
              <a:lnSpc>
                <a:spcPct val="50000"/>
              </a:lnSpc>
              <a:spcBef>
                <a:spcPts val="50"/>
              </a:spcBef>
              <a:spcAft>
                <a:spcPts val="0"/>
              </a:spcAft>
              <a:buNone/>
            </a:pPr>
            <a:r>
              <a:rPr lang="en-US" sz="2200">
                <a:latin typeface="Times New Roman"/>
                <a:ea typeface="Times New Roman"/>
                <a:cs typeface="Times New Roman"/>
                <a:sym typeface="Times New Roman"/>
              </a:rPr>
              <a:t>UART Packet Format</a:t>
            </a:r>
            <a:endParaRPr sz="2200">
              <a:latin typeface="Times New Roman"/>
              <a:ea typeface="Times New Roman"/>
              <a:cs typeface="Times New Roman"/>
              <a:sym typeface="Times New Roman"/>
            </a:endParaRPr>
          </a:p>
          <a:p>
            <a:pPr indent="457200" lvl="0" marL="3200400" rtl="0" algn="just">
              <a:lnSpc>
                <a:spcPct val="50000"/>
              </a:lnSpc>
              <a:spcBef>
                <a:spcPts val="50"/>
              </a:spcBef>
              <a:spcAft>
                <a:spcPts val="0"/>
              </a:spcAft>
              <a:buNone/>
            </a:pPr>
            <a:r>
              <a:t/>
            </a:r>
            <a:endParaRPr sz="2200">
              <a:latin typeface="Times New Roman"/>
              <a:ea typeface="Times New Roman"/>
              <a:cs typeface="Times New Roman"/>
              <a:sym typeface="Times New Roman"/>
            </a:endParaRPr>
          </a:p>
          <a:p>
            <a:pPr indent="457200" lvl="0" marL="3200400" rtl="0" algn="just">
              <a:lnSpc>
                <a:spcPct val="50000"/>
              </a:lnSpc>
              <a:spcBef>
                <a:spcPts val="50"/>
              </a:spcBef>
              <a:spcAft>
                <a:spcPts val="0"/>
              </a:spcAft>
              <a:buNone/>
            </a:pPr>
            <a:r>
              <a:t/>
            </a:r>
            <a:endParaRPr sz="2200">
              <a:latin typeface="Times New Roman"/>
              <a:ea typeface="Times New Roman"/>
              <a:cs typeface="Times New Roman"/>
              <a:sym typeface="Times New Roman"/>
            </a:endParaRPr>
          </a:p>
          <a:p>
            <a:pPr indent="457200" lvl="0" marL="3200400" rtl="0" algn="just">
              <a:lnSpc>
                <a:spcPct val="50000"/>
              </a:lnSpc>
              <a:spcBef>
                <a:spcPts val="50"/>
              </a:spcBef>
              <a:spcAft>
                <a:spcPts val="0"/>
              </a:spcAft>
              <a:buNone/>
            </a:pPr>
            <a:r>
              <a:t/>
            </a:r>
            <a:endParaRPr sz="2200">
              <a:latin typeface="Times New Roman"/>
              <a:ea typeface="Times New Roman"/>
              <a:cs typeface="Times New Roman"/>
              <a:sym typeface="Times New Roman"/>
            </a:endParaRPr>
          </a:p>
          <a:p>
            <a:pPr indent="457200" lvl="0" marL="3200400" rtl="0" algn="just">
              <a:lnSpc>
                <a:spcPct val="50000"/>
              </a:lnSpc>
              <a:spcBef>
                <a:spcPts val="50"/>
              </a:spcBef>
              <a:spcAft>
                <a:spcPts val="0"/>
              </a:spcAft>
              <a:buNone/>
            </a:pPr>
            <a:r>
              <a:t/>
            </a:r>
            <a:endParaRPr sz="2200">
              <a:latin typeface="Times New Roman"/>
              <a:ea typeface="Times New Roman"/>
              <a:cs typeface="Times New Roman"/>
              <a:sym typeface="Times New Roman"/>
            </a:endParaRPr>
          </a:p>
          <a:p>
            <a:pPr indent="457200" lvl="0" marL="3200400" rtl="0" algn="just">
              <a:lnSpc>
                <a:spcPct val="50000"/>
              </a:lnSpc>
              <a:spcBef>
                <a:spcPts val="50"/>
              </a:spcBef>
              <a:spcAft>
                <a:spcPts val="0"/>
              </a:spcAft>
              <a:buNone/>
            </a:pPr>
            <a:r>
              <a:t/>
            </a:r>
            <a:endParaRPr sz="2200">
              <a:latin typeface="Times New Roman"/>
              <a:ea typeface="Times New Roman"/>
              <a:cs typeface="Times New Roman"/>
              <a:sym typeface="Times New Roman"/>
            </a:endParaRPr>
          </a:p>
          <a:p>
            <a:pPr indent="457200" lvl="0" marL="3200400" rtl="0" algn="just">
              <a:lnSpc>
                <a:spcPct val="50000"/>
              </a:lnSpc>
              <a:spcBef>
                <a:spcPts val="50"/>
              </a:spcBef>
              <a:spcAft>
                <a:spcPts val="0"/>
              </a:spcAft>
              <a:buNone/>
            </a:pPr>
            <a:r>
              <a:t/>
            </a:r>
            <a:endParaRPr sz="2200">
              <a:latin typeface="Times New Roman"/>
              <a:ea typeface="Times New Roman"/>
              <a:cs typeface="Times New Roman"/>
              <a:sym typeface="Times New Roman"/>
            </a:endParaRPr>
          </a:p>
          <a:p>
            <a:pPr indent="457200" lvl="0" marL="3200400" rtl="0" algn="just">
              <a:lnSpc>
                <a:spcPct val="50000"/>
              </a:lnSpc>
              <a:spcBef>
                <a:spcPts val="50"/>
              </a:spcBef>
              <a:spcAft>
                <a:spcPts val="0"/>
              </a:spcAft>
              <a:buNone/>
            </a:pPr>
            <a:r>
              <a:t/>
            </a:r>
            <a:endParaRPr sz="2200">
              <a:latin typeface="Times New Roman"/>
              <a:ea typeface="Times New Roman"/>
              <a:cs typeface="Times New Roman"/>
              <a:sym typeface="Times New Roman"/>
            </a:endParaRPr>
          </a:p>
          <a:p>
            <a:pPr indent="457200" lvl="0" marL="3200400" rtl="0" algn="just">
              <a:lnSpc>
                <a:spcPct val="50000"/>
              </a:lnSpc>
              <a:spcBef>
                <a:spcPts val="50"/>
              </a:spcBef>
              <a:spcAft>
                <a:spcPts val="0"/>
              </a:spcAft>
              <a:buNone/>
            </a:pPr>
            <a:r>
              <a:t/>
            </a:r>
            <a:endParaRPr sz="2200">
              <a:latin typeface="Times New Roman"/>
              <a:ea typeface="Times New Roman"/>
              <a:cs typeface="Times New Roman"/>
              <a:sym typeface="Times New Roman"/>
            </a:endParaRPr>
          </a:p>
          <a:p>
            <a:pPr indent="457200" lvl="0" marL="3200400" rtl="0" algn="just">
              <a:lnSpc>
                <a:spcPct val="50000"/>
              </a:lnSpc>
              <a:spcBef>
                <a:spcPts val="50"/>
              </a:spcBef>
              <a:spcAft>
                <a:spcPts val="0"/>
              </a:spcAft>
              <a:buNone/>
            </a:pPr>
            <a:r>
              <a:t/>
            </a:r>
            <a:endParaRPr sz="2200">
              <a:latin typeface="Times New Roman"/>
              <a:ea typeface="Times New Roman"/>
              <a:cs typeface="Times New Roman"/>
              <a:sym typeface="Times New Roman"/>
            </a:endParaRPr>
          </a:p>
          <a:p>
            <a:pPr indent="457200" lvl="0" marL="3200400" rtl="0" algn="just">
              <a:lnSpc>
                <a:spcPct val="50000"/>
              </a:lnSpc>
              <a:spcBef>
                <a:spcPts val="50"/>
              </a:spcBef>
              <a:spcAft>
                <a:spcPts val="0"/>
              </a:spcAft>
              <a:buNone/>
            </a:pPr>
            <a:r>
              <a:t/>
            </a:r>
            <a:endParaRPr sz="2200">
              <a:latin typeface="Times New Roman"/>
              <a:ea typeface="Times New Roman"/>
              <a:cs typeface="Times New Roman"/>
              <a:sym typeface="Times New Roman"/>
            </a:endParaRPr>
          </a:p>
          <a:p>
            <a:pPr indent="457200" lvl="0" marL="3200400" rtl="0" algn="just">
              <a:lnSpc>
                <a:spcPct val="50000"/>
              </a:lnSpc>
              <a:spcBef>
                <a:spcPts val="50"/>
              </a:spcBef>
              <a:spcAft>
                <a:spcPts val="0"/>
              </a:spcAft>
              <a:buNone/>
            </a:pPr>
            <a:r>
              <a:t/>
            </a:r>
            <a:endParaRPr sz="2200">
              <a:latin typeface="Times New Roman"/>
              <a:ea typeface="Times New Roman"/>
              <a:cs typeface="Times New Roman"/>
              <a:sym typeface="Times New Roman"/>
            </a:endParaRPr>
          </a:p>
          <a:p>
            <a:pPr indent="457200" lvl="0" marL="3200400" rtl="0" algn="just">
              <a:lnSpc>
                <a:spcPct val="50000"/>
              </a:lnSpc>
              <a:spcBef>
                <a:spcPts val="50"/>
              </a:spcBef>
              <a:spcAft>
                <a:spcPts val="0"/>
              </a:spcAft>
              <a:buNone/>
            </a:pPr>
            <a:r>
              <a:t/>
            </a:r>
            <a:endParaRPr sz="2200">
              <a:latin typeface="Times New Roman"/>
              <a:ea typeface="Times New Roman"/>
              <a:cs typeface="Times New Roman"/>
              <a:sym typeface="Times New Roman"/>
            </a:endParaRPr>
          </a:p>
          <a:p>
            <a:pPr indent="457200" lvl="0" marL="3200400" rtl="0" algn="just">
              <a:lnSpc>
                <a:spcPct val="50000"/>
              </a:lnSpc>
              <a:spcBef>
                <a:spcPts val="50"/>
              </a:spcBef>
              <a:spcAft>
                <a:spcPts val="0"/>
              </a:spcAft>
              <a:buNone/>
            </a:pPr>
            <a:r>
              <a:t/>
            </a:r>
            <a:endParaRPr sz="2200">
              <a:latin typeface="Times New Roman"/>
              <a:ea typeface="Times New Roman"/>
              <a:cs typeface="Times New Roman"/>
              <a:sym typeface="Times New Roman"/>
            </a:endParaRPr>
          </a:p>
          <a:p>
            <a:pPr indent="457200" lvl="0" marL="3200400" rtl="0" algn="just">
              <a:lnSpc>
                <a:spcPct val="50000"/>
              </a:lnSpc>
              <a:spcBef>
                <a:spcPts val="50"/>
              </a:spcBef>
              <a:spcAft>
                <a:spcPts val="0"/>
              </a:spcAft>
              <a:buNone/>
            </a:pPr>
            <a:r>
              <a:t/>
            </a:r>
            <a:endParaRPr sz="2200">
              <a:latin typeface="Times New Roman"/>
              <a:ea typeface="Times New Roman"/>
              <a:cs typeface="Times New Roman"/>
              <a:sym typeface="Times New Roman"/>
            </a:endParaRPr>
          </a:p>
          <a:p>
            <a:pPr indent="457200" lvl="0" marL="3200400" rtl="0" algn="just">
              <a:lnSpc>
                <a:spcPct val="50000"/>
              </a:lnSpc>
              <a:spcBef>
                <a:spcPts val="50"/>
              </a:spcBef>
              <a:spcAft>
                <a:spcPts val="0"/>
              </a:spcAft>
              <a:buNone/>
            </a:pPr>
            <a:r>
              <a:t/>
            </a:r>
            <a:endParaRPr sz="2200">
              <a:latin typeface="Times New Roman"/>
              <a:ea typeface="Times New Roman"/>
              <a:cs typeface="Times New Roman"/>
              <a:sym typeface="Times New Roman"/>
            </a:endParaRPr>
          </a:p>
          <a:p>
            <a:pPr indent="457200" lvl="0" marL="3200400" rtl="0" algn="just">
              <a:lnSpc>
                <a:spcPct val="50000"/>
              </a:lnSpc>
              <a:spcBef>
                <a:spcPts val="50"/>
              </a:spcBef>
              <a:spcAft>
                <a:spcPts val="0"/>
              </a:spcAft>
              <a:buNone/>
            </a:pPr>
            <a:r>
              <a:t/>
            </a:r>
            <a:endParaRPr sz="2200">
              <a:latin typeface="Times New Roman"/>
              <a:ea typeface="Times New Roman"/>
              <a:cs typeface="Times New Roman"/>
              <a:sym typeface="Times New Roman"/>
            </a:endParaRPr>
          </a:p>
          <a:p>
            <a:pPr indent="457200" lvl="0" marL="3200400" rtl="0" algn="just">
              <a:lnSpc>
                <a:spcPct val="50000"/>
              </a:lnSpc>
              <a:spcBef>
                <a:spcPts val="50"/>
              </a:spcBef>
              <a:spcAft>
                <a:spcPts val="0"/>
              </a:spcAft>
              <a:buNone/>
            </a:pPr>
            <a:r>
              <a:t/>
            </a:r>
            <a:endParaRPr sz="2200">
              <a:latin typeface="Times New Roman"/>
              <a:ea typeface="Times New Roman"/>
              <a:cs typeface="Times New Roman"/>
              <a:sym typeface="Times New Roman"/>
            </a:endParaRPr>
          </a:p>
          <a:p>
            <a:pPr indent="0" lvl="0" marL="0" rtl="0" algn="just">
              <a:lnSpc>
                <a:spcPct val="50000"/>
              </a:lnSpc>
              <a:spcBef>
                <a:spcPts val="50"/>
              </a:spcBef>
              <a:spcAft>
                <a:spcPts val="0"/>
              </a:spcAft>
              <a:buNone/>
            </a:pPr>
            <a:r>
              <a:t/>
            </a:r>
            <a:endParaRPr sz="2200">
              <a:latin typeface="Times New Roman"/>
              <a:ea typeface="Times New Roman"/>
              <a:cs typeface="Times New Roman"/>
              <a:sym typeface="Times New Roman"/>
            </a:endParaRPr>
          </a:p>
          <a:p>
            <a:pPr indent="0" lvl="0" marL="3200400" rtl="0" algn="just">
              <a:lnSpc>
                <a:spcPct val="50000"/>
              </a:lnSpc>
              <a:spcBef>
                <a:spcPts val="50"/>
              </a:spcBef>
              <a:spcAft>
                <a:spcPts val="0"/>
              </a:spcAft>
              <a:buNone/>
            </a:pPr>
            <a:r>
              <a:t/>
            </a:r>
            <a:endParaRPr sz="2200">
              <a:latin typeface="Times New Roman"/>
              <a:ea typeface="Times New Roman"/>
              <a:cs typeface="Times New Roman"/>
              <a:sym typeface="Times New Roman"/>
            </a:endParaRPr>
          </a:p>
          <a:p>
            <a:pPr indent="0" lvl="0" marL="3200400" rtl="0" algn="just">
              <a:lnSpc>
                <a:spcPct val="50000"/>
              </a:lnSpc>
              <a:spcBef>
                <a:spcPts val="50"/>
              </a:spcBef>
              <a:spcAft>
                <a:spcPts val="50"/>
              </a:spcAft>
              <a:buNone/>
            </a:pPr>
            <a:r>
              <a:rPr lang="en-US" sz="2200">
                <a:latin typeface="Times New Roman"/>
                <a:ea typeface="Times New Roman"/>
                <a:cs typeface="Times New Roman"/>
                <a:sym typeface="Times New Roman"/>
              </a:rPr>
              <a:t>UART with Data Bus</a:t>
            </a:r>
            <a:endParaRPr sz="2200">
              <a:latin typeface="Times New Roman"/>
              <a:ea typeface="Times New Roman"/>
              <a:cs typeface="Times New Roman"/>
              <a:sym typeface="Times New Roman"/>
            </a:endParaRPr>
          </a:p>
        </p:txBody>
      </p:sp>
      <p:sp>
        <p:nvSpPr>
          <p:cNvPr id="184" name="Google Shape;184;g3947ad69879_0_7"/>
          <p:cNvSpPr/>
          <p:nvPr/>
        </p:nvSpPr>
        <p:spPr>
          <a:xfrm>
            <a:off x="0" y="0"/>
            <a:ext cx="9144000" cy="971700"/>
          </a:xfrm>
          <a:prstGeom prst="rect">
            <a:avLst/>
          </a:prstGeom>
          <a:solidFill>
            <a:srgbClr val="B01B2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000"/>
              <a:buFont typeface="Arial"/>
              <a:buNone/>
            </a:pPr>
            <a:r>
              <a:rPr b="1" lang="en-US" sz="3000">
                <a:solidFill>
                  <a:schemeClr val="lt1"/>
                </a:solidFill>
              </a:rPr>
              <a:t>Block Diagram</a:t>
            </a:r>
            <a:endParaRPr b="1" i="0" sz="3000" u="none" cap="none" strike="noStrike">
              <a:solidFill>
                <a:schemeClr val="lt1"/>
              </a:solidFill>
              <a:latin typeface="Arial"/>
              <a:ea typeface="Arial"/>
              <a:cs typeface="Arial"/>
              <a:sym typeface="Arial"/>
            </a:endParaRPr>
          </a:p>
        </p:txBody>
      </p:sp>
      <p:pic>
        <p:nvPicPr>
          <p:cNvPr id="185" name="Google Shape;185;g3947ad69879_0_7"/>
          <p:cNvPicPr preferRelativeResize="0"/>
          <p:nvPr/>
        </p:nvPicPr>
        <p:blipFill rotWithShape="1">
          <a:blip r:embed="rId3">
            <a:alphaModFix/>
          </a:blip>
          <a:srcRect b="0" l="0" r="0" t="0"/>
          <a:stretch/>
        </p:blipFill>
        <p:spPr>
          <a:xfrm>
            <a:off x="7887056" y="5640237"/>
            <a:ext cx="1174719" cy="1152343"/>
          </a:xfrm>
          <a:prstGeom prst="rect">
            <a:avLst/>
          </a:prstGeom>
          <a:noFill/>
          <a:ln>
            <a:noFill/>
          </a:ln>
        </p:spPr>
      </p:pic>
      <p:pic>
        <p:nvPicPr>
          <p:cNvPr id="186" name="Google Shape;186;g3947ad69879_0_7"/>
          <p:cNvPicPr preferRelativeResize="0"/>
          <p:nvPr/>
        </p:nvPicPr>
        <p:blipFill>
          <a:blip r:embed="rId4">
            <a:alphaModFix/>
          </a:blip>
          <a:stretch>
            <a:fillRect/>
          </a:stretch>
        </p:blipFill>
        <p:spPr>
          <a:xfrm>
            <a:off x="828850" y="2857300"/>
            <a:ext cx="7453800" cy="2782925"/>
          </a:xfrm>
          <a:prstGeom prst="rect">
            <a:avLst/>
          </a:prstGeom>
          <a:noFill/>
          <a:ln>
            <a:noFill/>
          </a:ln>
        </p:spPr>
      </p:pic>
      <p:pic>
        <p:nvPicPr>
          <p:cNvPr id="187" name="Google Shape;187;g3947ad69879_0_7"/>
          <p:cNvPicPr preferRelativeResize="0"/>
          <p:nvPr/>
        </p:nvPicPr>
        <p:blipFill>
          <a:blip r:embed="rId5">
            <a:alphaModFix/>
          </a:blip>
          <a:stretch>
            <a:fillRect/>
          </a:stretch>
        </p:blipFill>
        <p:spPr>
          <a:xfrm>
            <a:off x="845100" y="1354650"/>
            <a:ext cx="7453800" cy="8915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g38c5b24ce4b_0_8"/>
          <p:cNvSpPr txBox="1"/>
          <p:nvPr>
            <p:ph idx="1" type="body"/>
          </p:nvPr>
        </p:nvSpPr>
        <p:spPr>
          <a:xfrm>
            <a:off x="143200" y="1182875"/>
            <a:ext cx="8825100" cy="5609700"/>
          </a:xfrm>
          <a:prstGeom prst="rect">
            <a:avLst/>
          </a:prstGeom>
          <a:noFill/>
          <a:ln>
            <a:noFill/>
          </a:ln>
        </p:spPr>
        <p:txBody>
          <a:bodyPr anchorCtr="0" anchor="t" bIns="45700" lIns="91425" spcFirstLastPara="1" rIns="91425" wrap="square" tIns="45700">
            <a:noAutofit/>
          </a:bodyPr>
          <a:lstStyle/>
          <a:p>
            <a:pPr indent="0" lvl="0" marL="0" rtl="0" algn="just">
              <a:lnSpc>
                <a:spcPct val="50000"/>
              </a:lnSpc>
              <a:spcBef>
                <a:spcPts val="50"/>
              </a:spcBef>
              <a:spcAft>
                <a:spcPts val="0"/>
              </a:spcAft>
              <a:buNone/>
            </a:pPr>
            <a:r>
              <a:t/>
            </a:r>
            <a:endParaRPr sz="2200">
              <a:latin typeface="Times New Roman"/>
              <a:ea typeface="Times New Roman"/>
              <a:cs typeface="Times New Roman"/>
              <a:sym typeface="Times New Roman"/>
            </a:endParaRPr>
          </a:p>
          <a:p>
            <a:pPr indent="0" lvl="0" marL="0" rtl="0" algn="just">
              <a:lnSpc>
                <a:spcPct val="50000"/>
              </a:lnSpc>
              <a:spcBef>
                <a:spcPts val="50"/>
              </a:spcBef>
              <a:spcAft>
                <a:spcPts val="0"/>
              </a:spcAft>
              <a:buNone/>
            </a:pPr>
            <a:r>
              <a:t/>
            </a:r>
            <a:endParaRPr sz="2200">
              <a:latin typeface="Times New Roman"/>
              <a:ea typeface="Times New Roman"/>
              <a:cs typeface="Times New Roman"/>
              <a:sym typeface="Times New Roman"/>
            </a:endParaRPr>
          </a:p>
          <a:p>
            <a:pPr indent="0" lvl="0" marL="0" rtl="0" algn="just">
              <a:lnSpc>
                <a:spcPct val="50000"/>
              </a:lnSpc>
              <a:spcBef>
                <a:spcPts val="50"/>
              </a:spcBef>
              <a:spcAft>
                <a:spcPts val="0"/>
              </a:spcAft>
              <a:buNone/>
            </a:pPr>
            <a:r>
              <a:t/>
            </a:r>
            <a:endParaRPr sz="2200">
              <a:latin typeface="Times New Roman"/>
              <a:ea typeface="Times New Roman"/>
              <a:cs typeface="Times New Roman"/>
              <a:sym typeface="Times New Roman"/>
            </a:endParaRPr>
          </a:p>
          <a:p>
            <a:pPr indent="0" lvl="0" marL="0" rtl="0" algn="just">
              <a:lnSpc>
                <a:spcPct val="50000"/>
              </a:lnSpc>
              <a:spcBef>
                <a:spcPts val="50"/>
              </a:spcBef>
              <a:spcAft>
                <a:spcPts val="0"/>
              </a:spcAft>
              <a:buNone/>
            </a:pPr>
            <a:r>
              <a:t/>
            </a:r>
            <a:endParaRPr sz="2200">
              <a:latin typeface="Times New Roman"/>
              <a:ea typeface="Times New Roman"/>
              <a:cs typeface="Times New Roman"/>
              <a:sym typeface="Times New Roman"/>
            </a:endParaRPr>
          </a:p>
          <a:p>
            <a:pPr indent="0" lvl="0" marL="0" rtl="0" algn="just">
              <a:lnSpc>
                <a:spcPct val="50000"/>
              </a:lnSpc>
              <a:spcBef>
                <a:spcPts val="50"/>
              </a:spcBef>
              <a:spcAft>
                <a:spcPts val="0"/>
              </a:spcAft>
              <a:buNone/>
            </a:pPr>
            <a:r>
              <a:t/>
            </a:r>
            <a:endParaRPr sz="2200">
              <a:latin typeface="Times New Roman"/>
              <a:ea typeface="Times New Roman"/>
              <a:cs typeface="Times New Roman"/>
              <a:sym typeface="Times New Roman"/>
            </a:endParaRPr>
          </a:p>
          <a:p>
            <a:pPr indent="0" lvl="0" marL="0" rtl="0" algn="just">
              <a:lnSpc>
                <a:spcPct val="50000"/>
              </a:lnSpc>
              <a:spcBef>
                <a:spcPts val="50"/>
              </a:spcBef>
              <a:spcAft>
                <a:spcPts val="0"/>
              </a:spcAft>
              <a:buNone/>
            </a:pPr>
            <a:r>
              <a:t/>
            </a:r>
            <a:endParaRPr sz="2200">
              <a:latin typeface="Times New Roman"/>
              <a:ea typeface="Times New Roman"/>
              <a:cs typeface="Times New Roman"/>
              <a:sym typeface="Times New Roman"/>
            </a:endParaRPr>
          </a:p>
          <a:p>
            <a:pPr indent="0" lvl="0" marL="0" rtl="0" algn="just">
              <a:lnSpc>
                <a:spcPct val="50000"/>
              </a:lnSpc>
              <a:spcBef>
                <a:spcPts val="50"/>
              </a:spcBef>
              <a:spcAft>
                <a:spcPts val="0"/>
              </a:spcAft>
              <a:buNone/>
            </a:pPr>
            <a:r>
              <a:t/>
            </a:r>
            <a:endParaRPr sz="2200">
              <a:latin typeface="Times New Roman"/>
              <a:ea typeface="Times New Roman"/>
              <a:cs typeface="Times New Roman"/>
              <a:sym typeface="Times New Roman"/>
            </a:endParaRPr>
          </a:p>
          <a:p>
            <a:pPr indent="0" lvl="0" marL="0" rtl="0" algn="just">
              <a:lnSpc>
                <a:spcPct val="50000"/>
              </a:lnSpc>
              <a:spcBef>
                <a:spcPts val="50"/>
              </a:spcBef>
              <a:spcAft>
                <a:spcPts val="0"/>
              </a:spcAft>
              <a:buNone/>
            </a:pPr>
            <a:r>
              <a:t/>
            </a:r>
            <a:endParaRPr sz="2200">
              <a:latin typeface="Times New Roman"/>
              <a:ea typeface="Times New Roman"/>
              <a:cs typeface="Times New Roman"/>
              <a:sym typeface="Times New Roman"/>
            </a:endParaRPr>
          </a:p>
          <a:p>
            <a:pPr indent="0" lvl="0" marL="0" rtl="0" algn="just">
              <a:lnSpc>
                <a:spcPct val="50000"/>
              </a:lnSpc>
              <a:spcBef>
                <a:spcPts val="50"/>
              </a:spcBef>
              <a:spcAft>
                <a:spcPts val="0"/>
              </a:spcAft>
              <a:buNone/>
            </a:pPr>
            <a:r>
              <a:t/>
            </a:r>
            <a:endParaRPr sz="2200">
              <a:latin typeface="Times New Roman"/>
              <a:ea typeface="Times New Roman"/>
              <a:cs typeface="Times New Roman"/>
              <a:sym typeface="Times New Roman"/>
            </a:endParaRPr>
          </a:p>
          <a:p>
            <a:pPr indent="0" lvl="0" marL="0" rtl="0" algn="just">
              <a:lnSpc>
                <a:spcPct val="50000"/>
              </a:lnSpc>
              <a:spcBef>
                <a:spcPts val="50"/>
              </a:spcBef>
              <a:spcAft>
                <a:spcPts val="0"/>
              </a:spcAft>
              <a:buNone/>
            </a:pPr>
            <a:r>
              <a:t/>
            </a:r>
            <a:endParaRPr sz="2200">
              <a:latin typeface="Times New Roman"/>
              <a:ea typeface="Times New Roman"/>
              <a:cs typeface="Times New Roman"/>
              <a:sym typeface="Times New Roman"/>
            </a:endParaRPr>
          </a:p>
          <a:p>
            <a:pPr indent="0" lvl="0" marL="0" rtl="0" algn="just">
              <a:lnSpc>
                <a:spcPct val="50000"/>
              </a:lnSpc>
              <a:spcBef>
                <a:spcPts val="50"/>
              </a:spcBef>
              <a:spcAft>
                <a:spcPts val="0"/>
              </a:spcAft>
              <a:buNone/>
            </a:pPr>
            <a:r>
              <a:t/>
            </a:r>
            <a:endParaRPr sz="2200">
              <a:latin typeface="Times New Roman"/>
              <a:ea typeface="Times New Roman"/>
              <a:cs typeface="Times New Roman"/>
              <a:sym typeface="Times New Roman"/>
            </a:endParaRPr>
          </a:p>
          <a:p>
            <a:pPr indent="0" lvl="0" marL="0" rtl="0" algn="just">
              <a:lnSpc>
                <a:spcPct val="50000"/>
              </a:lnSpc>
              <a:spcBef>
                <a:spcPts val="50"/>
              </a:spcBef>
              <a:spcAft>
                <a:spcPts val="0"/>
              </a:spcAft>
              <a:buNone/>
            </a:pPr>
            <a:r>
              <a:t/>
            </a:r>
            <a:endParaRPr sz="2200">
              <a:latin typeface="Times New Roman"/>
              <a:ea typeface="Times New Roman"/>
              <a:cs typeface="Times New Roman"/>
              <a:sym typeface="Times New Roman"/>
            </a:endParaRPr>
          </a:p>
          <a:p>
            <a:pPr indent="0" lvl="0" marL="0" rtl="0" algn="just">
              <a:lnSpc>
                <a:spcPct val="50000"/>
              </a:lnSpc>
              <a:spcBef>
                <a:spcPts val="50"/>
              </a:spcBef>
              <a:spcAft>
                <a:spcPts val="0"/>
              </a:spcAft>
              <a:buNone/>
            </a:pPr>
            <a:r>
              <a:t/>
            </a:r>
            <a:endParaRPr sz="2200">
              <a:latin typeface="Times New Roman"/>
              <a:ea typeface="Times New Roman"/>
              <a:cs typeface="Times New Roman"/>
              <a:sym typeface="Times New Roman"/>
            </a:endParaRPr>
          </a:p>
          <a:p>
            <a:pPr indent="0" lvl="0" marL="0" rtl="0" algn="just">
              <a:lnSpc>
                <a:spcPct val="50000"/>
              </a:lnSpc>
              <a:spcBef>
                <a:spcPts val="50"/>
              </a:spcBef>
              <a:spcAft>
                <a:spcPts val="0"/>
              </a:spcAft>
              <a:buNone/>
            </a:pPr>
            <a:r>
              <a:t/>
            </a:r>
            <a:endParaRPr sz="2200">
              <a:latin typeface="Times New Roman"/>
              <a:ea typeface="Times New Roman"/>
              <a:cs typeface="Times New Roman"/>
              <a:sym typeface="Times New Roman"/>
            </a:endParaRPr>
          </a:p>
          <a:p>
            <a:pPr indent="0" lvl="0" marL="0" rtl="0" algn="just">
              <a:lnSpc>
                <a:spcPct val="50000"/>
              </a:lnSpc>
              <a:spcBef>
                <a:spcPts val="50"/>
              </a:spcBef>
              <a:spcAft>
                <a:spcPts val="0"/>
              </a:spcAft>
              <a:buNone/>
            </a:pPr>
            <a:r>
              <a:t/>
            </a:r>
            <a:endParaRPr sz="2200">
              <a:latin typeface="Times New Roman"/>
              <a:ea typeface="Times New Roman"/>
              <a:cs typeface="Times New Roman"/>
              <a:sym typeface="Times New Roman"/>
            </a:endParaRPr>
          </a:p>
          <a:p>
            <a:pPr indent="0" lvl="0" marL="0" rtl="0" algn="just">
              <a:lnSpc>
                <a:spcPct val="50000"/>
              </a:lnSpc>
              <a:spcBef>
                <a:spcPts val="50"/>
              </a:spcBef>
              <a:spcAft>
                <a:spcPts val="0"/>
              </a:spcAft>
              <a:buNone/>
            </a:pPr>
            <a:r>
              <a:t/>
            </a:r>
            <a:endParaRPr sz="2200">
              <a:latin typeface="Times New Roman"/>
              <a:ea typeface="Times New Roman"/>
              <a:cs typeface="Times New Roman"/>
              <a:sym typeface="Times New Roman"/>
            </a:endParaRPr>
          </a:p>
          <a:p>
            <a:pPr indent="0" lvl="0" marL="0" rtl="0" algn="just">
              <a:lnSpc>
                <a:spcPct val="50000"/>
              </a:lnSpc>
              <a:spcBef>
                <a:spcPts val="50"/>
              </a:spcBef>
              <a:spcAft>
                <a:spcPts val="0"/>
              </a:spcAft>
              <a:buNone/>
            </a:pPr>
            <a:r>
              <a:t/>
            </a:r>
            <a:endParaRPr sz="2200">
              <a:latin typeface="Times New Roman"/>
              <a:ea typeface="Times New Roman"/>
              <a:cs typeface="Times New Roman"/>
              <a:sym typeface="Times New Roman"/>
            </a:endParaRPr>
          </a:p>
          <a:p>
            <a:pPr indent="0" lvl="0" marL="0" rtl="0" algn="just">
              <a:lnSpc>
                <a:spcPct val="50000"/>
              </a:lnSpc>
              <a:spcBef>
                <a:spcPts val="50"/>
              </a:spcBef>
              <a:spcAft>
                <a:spcPts val="0"/>
              </a:spcAft>
              <a:buNone/>
            </a:pPr>
            <a:r>
              <a:t/>
            </a:r>
            <a:endParaRPr sz="2200">
              <a:latin typeface="Times New Roman"/>
              <a:ea typeface="Times New Roman"/>
              <a:cs typeface="Times New Roman"/>
              <a:sym typeface="Times New Roman"/>
            </a:endParaRPr>
          </a:p>
          <a:p>
            <a:pPr indent="0" lvl="0" marL="0" rtl="0" algn="just">
              <a:lnSpc>
                <a:spcPct val="50000"/>
              </a:lnSpc>
              <a:spcBef>
                <a:spcPts val="50"/>
              </a:spcBef>
              <a:spcAft>
                <a:spcPts val="0"/>
              </a:spcAft>
              <a:buNone/>
            </a:pPr>
            <a:r>
              <a:t/>
            </a:r>
            <a:endParaRPr sz="2200">
              <a:latin typeface="Times New Roman"/>
              <a:ea typeface="Times New Roman"/>
              <a:cs typeface="Times New Roman"/>
              <a:sym typeface="Times New Roman"/>
            </a:endParaRPr>
          </a:p>
          <a:p>
            <a:pPr indent="0" lvl="0" marL="0" rtl="0" algn="just">
              <a:lnSpc>
                <a:spcPct val="50000"/>
              </a:lnSpc>
              <a:spcBef>
                <a:spcPts val="50"/>
              </a:spcBef>
              <a:spcAft>
                <a:spcPts val="0"/>
              </a:spcAft>
              <a:buNone/>
            </a:pPr>
            <a:r>
              <a:t/>
            </a:r>
            <a:endParaRPr sz="2200">
              <a:latin typeface="Times New Roman"/>
              <a:ea typeface="Times New Roman"/>
              <a:cs typeface="Times New Roman"/>
              <a:sym typeface="Times New Roman"/>
            </a:endParaRPr>
          </a:p>
          <a:p>
            <a:pPr indent="0" lvl="0" marL="0" rtl="0" algn="just">
              <a:lnSpc>
                <a:spcPct val="50000"/>
              </a:lnSpc>
              <a:spcBef>
                <a:spcPts val="50"/>
              </a:spcBef>
              <a:spcAft>
                <a:spcPts val="0"/>
              </a:spcAft>
              <a:buNone/>
            </a:pPr>
            <a:r>
              <a:t/>
            </a:r>
            <a:endParaRPr sz="2200">
              <a:latin typeface="Times New Roman"/>
              <a:ea typeface="Times New Roman"/>
              <a:cs typeface="Times New Roman"/>
              <a:sym typeface="Times New Roman"/>
            </a:endParaRPr>
          </a:p>
          <a:p>
            <a:pPr indent="0" lvl="0" marL="0" rtl="0" algn="just">
              <a:lnSpc>
                <a:spcPct val="50000"/>
              </a:lnSpc>
              <a:spcBef>
                <a:spcPts val="50"/>
              </a:spcBef>
              <a:spcAft>
                <a:spcPts val="0"/>
              </a:spcAft>
              <a:buNone/>
            </a:pPr>
            <a:r>
              <a:t/>
            </a:r>
            <a:endParaRPr sz="2200">
              <a:latin typeface="Times New Roman"/>
              <a:ea typeface="Times New Roman"/>
              <a:cs typeface="Times New Roman"/>
              <a:sym typeface="Times New Roman"/>
            </a:endParaRPr>
          </a:p>
          <a:p>
            <a:pPr indent="0" lvl="0" marL="0" rtl="0" algn="just">
              <a:lnSpc>
                <a:spcPct val="50000"/>
              </a:lnSpc>
              <a:spcBef>
                <a:spcPts val="50"/>
              </a:spcBef>
              <a:spcAft>
                <a:spcPts val="0"/>
              </a:spcAft>
              <a:buNone/>
            </a:pPr>
            <a:r>
              <a:t/>
            </a:r>
            <a:endParaRPr sz="2200">
              <a:latin typeface="Times New Roman"/>
              <a:ea typeface="Times New Roman"/>
              <a:cs typeface="Times New Roman"/>
              <a:sym typeface="Times New Roman"/>
            </a:endParaRPr>
          </a:p>
          <a:p>
            <a:pPr indent="0" lvl="0" marL="0" rtl="0" algn="just">
              <a:lnSpc>
                <a:spcPct val="50000"/>
              </a:lnSpc>
              <a:spcBef>
                <a:spcPts val="50"/>
              </a:spcBef>
              <a:spcAft>
                <a:spcPts val="0"/>
              </a:spcAft>
              <a:buNone/>
            </a:pPr>
            <a:r>
              <a:t/>
            </a:r>
            <a:endParaRPr sz="2200">
              <a:latin typeface="Times New Roman"/>
              <a:ea typeface="Times New Roman"/>
              <a:cs typeface="Times New Roman"/>
              <a:sym typeface="Times New Roman"/>
            </a:endParaRPr>
          </a:p>
          <a:p>
            <a:pPr indent="0" lvl="0" marL="2743200" rtl="0" algn="just">
              <a:lnSpc>
                <a:spcPct val="50000"/>
              </a:lnSpc>
              <a:spcBef>
                <a:spcPts val="50"/>
              </a:spcBef>
              <a:spcAft>
                <a:spcPts val="50"/>
              </a:spcAft>
              <a:buNone/>
            </a:pPr>
            <a:r>
              <a:rPr lang="en-US" sz="2200">
                <a:latin typeface="Times New Roman"/>
                <a:ea typeface="Times New Roman"/>
                <a:cs typeface="Times New Roman"/>
                <a:sym typeface="Times New Roman"/>
              </a:rPr>
              <a:t>UART Serial Transmission</a:t>
            </a:r>
            <a:endParaRPr sz="2200">
              <a:latin typeface="Times New Roman"/>
              <a:ea typeface="Times New Roman"/>
              <a:cs typeface="Times New Roman"/>
              <a:sym typeface="Times New Roman"/>
            </a:endParaRPr>
          </a:p>
        </p:txBody>
      </p:sp>
      <p:sp>
        <p:nvSpPr>
          <p:cNvPr id="193" name="Google Shape;193;g38c5b24ce4b_0_8"/>
          <p:cNvSpPr/>
          <p:nvPr/>
        </p:nvSpPr>
        <p:spPr>
          <a:xfrm>
            <a:off x="0" y="0"/>
            <a:ext cx="9144000" cy="971700"/>
          </a:xfrm>
          <a:prstGeom prst="rect">
            <a:avLst/>
          </a:prstGeom>
          <a:solidFill>
            <a:srgbClr val="B01B2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000"/>
              <a:buFont typeface="Arial"/>
              <a:buNone/>
            </a:pPr>
            <a:r>
              <a:rPr b="1" lang="en-US" sz="3000">
                <a:solidFill>
                  <a:schemeClr val="lt1"/>
                </a:solidFill>
              </a:rPr>
              <a:t>Block Diagram</a:t>
            </a:r>
            <a:endParaRPr b="1" i="0" sz="3000" u="none" cap="none" strike="noStrike">
              <a:solidFill>
                <a:schemeClr val="lt1"/>
              </a:solidFill>
              <a:latin typeface="Arial"/>
              <a:ea typeface="Arial"/>
              <a:cs typeface="Arial"/>
              <a:sym typeface="Arial"/>
            </a:endParaRPr>
          </a:p>
        </p:txBody>
      </p:sp>
      <p:pic>
        <p:nvPicPr>
          <p:cNvPr id="194" name="Google Shape;194;g38c5b24ce4b_0_8"/>
          <p:cNvPicPr preferRelativeResize="0"/>
          <p:nvPr/>
        </p:nvPicPr>
        <p:blipFill rotWithShape="1">
          <a:blip r:embed="rId3">
            <a:alphaModFix/>
          </a:blip>
          <a:srcRect b="0" l="0" r="0" t="0"/>
          <a:stretch/>
        </p:blipFill>
        <p:spPr>
          <a:xfrm>
            <a:off x="7887056" y="5640237"/>
            <a:ext cx="1174719" cy="1152343"/>
          </a:xfrm>
          <a:prstGeom prst="rect">
            <a:avLst/>
          </a:prstGeom>
          <a:noFill/>
          <a:ln>
            <a:noFill/>
          </a:ln>
        </p:spPr>
      </p:pic>
      <p:pic>
        <p:nvPicPr>
          <p:cNvPr id="195" name="Google Shape;195;g38c5b24ce4b_0_8"/>
          <p:cNvPicPr preferRelativeResize="0"/>
          <p:nvPr/>
        </p:nvPicPr>
        <p:blipFill>
          <a:blip r:embed="rId4">
            <a:alphaModFix/>
          </a:blip>
          <a:stretch>
            <a:fillRect/>
          </a:stretch>
        </p:blipFill>
        <p:spPr>
          <a:xfrm>
            <a:off x="1171125" y="1480745"/>
            <a:ext cx="6229350" cy="39872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g3947ad69879_0_0"/>
          <p:cNvSpPr txBox="1"/>
          <p:nvPr>
            <p:ph idx="1" type="body"/>
          </p:nvPr>
        </p:nvSpPr>
        <p:spPr>
          <a:xfrm>
            <a:off x="143200" y="1182875"/>
            <a:ext cx="8825100" cy="5609700"/>
          </a:xfrm>
          <a:prstGeom prst="rect">
            <a:avLst/>
          </a:prstGeom>
          <a:noFill/>
          <a:ln>
            <a:noFill/>
          </a:ln>
        </p:spPr>
        <p:txBody>
          <a:bodyPr anchorCtr="0" anchor="t" bIns="45700" lIns="91425" spcFirstLastPara="1" rIns="91425" wrap="square" tIns="45700">
            <a:noAutofit/>
          </a:bodyPr>
          <a:lstStyle/>
          <a:p>
            <a:pPr indent="0" lvl="0" marL="0" rtl="0" algn="just">
              <a:lnSpc>
                <a:spcPct val="50000"/>
              </a:lnSpc>
              <a:spcBef>
                <a:spcPts val="50"/>
              </a:spcBef>
              <a:spcAft>
                <a:spcPts val="0"/>
              </a:spcAft>
              <a:buNone/>
            </a:pPr>
            <a:r>
              <a:rPr b="1" lang="en-US" sz="2100">
                <a:latin typeface="Times New Roman"/>
                <a:ea typeface="Times New Roman"/>
                <a:cs typeface="Times New Roman"/>
                <a:sym typeface="Times New Roman"/>
              </a:rPr>
              <a:t>Verilog/VHDL-Based UARTs:</a:t>
            </a:r>
            <a:endParaRPr b="1" sz="2100">
              <a:latin typeface="Times New Roman"/>
              <a:ea typeface="Times New Roman"/>
              <a:cs typeface="Times New Roman"/>
              <a:sym typeface="Times New Roman"/>
            </a:endParaRPr>
          </a:p>
          <a:p>
            <a:pPr indent="0" lvl="0" marL="0" rtl="0" algn="just">
              <a:lnSpc>
                <a:spcPct val="50000"/>
              </a:lnSpc>
              <a:spcBef>
                <a:spcPts val="50"/>
              </a:spcBef>
              <a:spcAft>
                <a:spcPts val="0"/>
              </a:spcAft>
              <a:buNone/>
            </a:pPr>
            <a:r>
              <a:t/>
            </a:r>
            <a:endParaRPr b="1" sz="2100">
              <a:latin typeface="Times New Roman"/>
              <a:ea typeface="Times New Roman"/>
              <a:cs typeface="Times New Roman"/>
              <a:sym typeface="Times New Roman"/>
            </a:endParaRPr>
          </a:p>
          <a:p>
            <a:pPr indent="0" lvl="0" marL="0" rtl="0" algn="just">
              <a:lnSpc>
                <a:spcPct val="50000"/>
              </a:lnSpc>
              <a:spcBef>
                <a:spcPts val="50"/>
              </a:spcBef>
              <a:spcAft>
                <a:spcPts val="0"/>
              </a:spcAft>
              <a:buNone/>
            </a:pPr>
            <a:r>
              <a:t/>
            </a:r>
            <a:endParaRPr b="1" sz="2100">
              <a:latin typeface="Times New Roman"/>
              <a:ea typeface="Times New Roman"/>
              <a:cs typeface="Times New Roman"/>
              <a:sym typeface="Times New Roman"/>
            </a:endParaRPr>
          </a:p>
          <a:p>
            <a:pPr indent="-361950" lvl="0" marL="457200" rtl="0" algn="l">
              <a:lnSpc>
                <a:spcPct val="50000"/>
              </a:lnSpc>
              <a:spcBef>
                <a:spcPts val="50"/>
              </a:spcBef>
              <a:spcAft>
                <a:spcPts val="0"/>
              </a:spcAft>
              <a:buSzPts val="2100"/>
              <a:buFont typeface="Times New Roman"/>
              <a:buChar char="●"/>
            </a:pPr>
            <a:r>
              <a:rPr lang="en-US" sz="2100">
                <a:latin typeface="Times New Roman"/>
                <a:ea typeface="Times New Roman"/>
                <a:cs typeface="Times New Roman"/>
                <a:sym typeface="Times New Roman"/>
              </a:rPr>
              <a:t>Implement transmitter, receiver, and baud rate generator.</a:t>
            </a:r>
            <a:br>
              <a:rPr lang="en-US" sz="2100">
                <a:latin typeface="Times New Roman"/>
                <a:ea typeface="Times New Roman"/>
                <a:cs typeface="Times New Roman"/>
                <a:sym typeface="Times New Roman"/>
              </a:rPr>
            </a:br>
            <a:endParaRPr sz="2100">
              <a:latin typeface="Times New Roman"/>
              <a:ea typeface="Times New Roman"/>
              <a:cs typeface="Times New Roman"/>
              <a:sym typeface="Times New Roman"/>
            </a:endParaRPr>
          </a:p>
          <a:p>
            <a:pPr indent="-323850" lvl="0" marL="457200" rtl="0" algn="l">
              <a:lnSpc>
                <a:spcPct val="50000"/>
              </a:lnSpc>
              <a:spcBef>
                <a:spcPts val="50"/>
              </a:spcBef>
              <a:spcAft>
                <a:spcPts val="0"/>
              </a:spcAft>
              <a:buSzPts val="1500"/>
              <a:buFont typeface="Times New Roman"/>
              <a:buChar char="●"/>
            </a:pPr>
            <a:r>
              <a:rPr lang="en-US" sz="2100">
                <a:latin typeface="Times New Roman"/>
                <a:ea typeface="Times New Roman"/>
                <a:cs typeface="Times New Roman"/>
                <a:sym typeface="Times New Roman"/>
              </a:rPr>
              <a:t>Limited to functional simulation and manual waveform checking</a:t>
            </a:r>
            <a:r>
              <a:rPr lang="en-US" sz="1500">
                <a:latin typeface="Times New Roman"/>
                <a:ea typeface="Times New Roman"/>
                <a:cs typeface="Times New Roman"/>
                <a:sym typeface="Times New Roman"/>
              </a:rPr>
              <a:t>.</a:t>
            </a:r>
            <a:endParaRPr sz="1500">
              <a:latin typeface="Times New Roman"/>
              <a:ea typeface="Times New Roman"/>
              <a:cs typeface="Times New Roman"/>
              <a:sym typeface="Times New Roman"/>
            </a:endParaRPr>
          </a:p>
          <a:p>
            <a:pPr indent="0" lvl="0" marL="457200" rtl="0" algn="l">
              <a:lnSpc>
                <a:spcPct val="50000"/>
              </a:lnSpc>
              <a:spcBef>
                <a:spcPts val="50"/>
              </a:spcBef>
              <a:spcAft>
                <a:spcPts val="0"/>
              </a:spcAft>
              <a:buNone/>
            </a:pPr>
            <a:br>
              <a:rPr lang="en-US" sz="1500">
                <a:latin typeface="Times New Roman"/>
                <a:ea typeface="Times New Roman"/>
                <a:cs typeface="Times New Roman"/>
                <a:sym typeface="Times New Roman"/>
              </a:rPr>
            </a:br>
            <a:endParaRPr sz="1500">
              <a:latin typeface="Times New Roman"/>
              <a:ea typeface="Times New Roman"/>
              <a:cs typeface="Times New Roman"/>
              <a:sym typeface="Times New Roman"/>
            </a:endParaRPr>
          </a:p>
          <a:p>
            <a:pPr indent="0" lvl="0" marL="0" rtl="0" algn="l">
              <a:lnSpc>
                <a:spcPct val="50000"/>
              </a:lnSpc>
              <a:spcBef>
                <a:spcPts val="50"/>
              </a:spcBef>
              <a:spcAft>
                <a:spcPts val="0"/>
              </a:spcAft>
              <a:buNone/>
            </a:pPr>
            <a:r>
              <a:rPr b="1" lang="en-US" sz="2100">
                <a:latin typeface="Times New Roman"/>
                <a:ea typeface="Times New Roman"/>
                <a:cs typeface="Times New Roman"/>
                <a:sym typeface="Times New Roman"/>
              </a:rPr>
              <a:t>SystemVerilog Verification:</a:t>
            </a:r>
            <a:endParaRPr b="1" sz="2100">
              <a:latin typeface="Times New Roman"/>
              <a:ea typeface="Times New Roman"/>
              <a:cs typeface="Times New Roman"/>
              <a:sym typeface="Times New Roman"/>
            </a:endParaRPr>
          </a:p>
          <a:p>
            <a:pPr indent="0" lvl="0" marL="0" rtl="0" algn="l">
              <a:lnSpc>
                <a:spcPct val="50000"/>
              </a:lnSpc>
              <a:spcBef>
                <a:spcPts val="50"/>
              </a:spcBef>
              <a:spcAft>
                <a:spcPts val="0"/>
              </a:spcAft>
              <a:buNone/>
            </a:pPr>
            <a:br>
              <a:rPr b="1" lang="en-US" sz="2100">
                <a:latin typeface="Times New Roman"/>
                <a:ea typeface="Times New Roman"/>
                <a:cs typeface="Times New Roman"/>
                <a:sym typeface="Times New Roman"/>
              </a:rPr>
            </a:br>
            <a:endParaRPr b="1" sz="2100">
              <a:latin typeface="Times New Roman"/>
              <a:ea typeface="Times New Roman"/>
              <a:cs typeface="Times New Roman"/>
              <a:sym typeface="Times New Roman"/>
            </a:endParaRPr>
          </a:p>
          <a:p>
            <a:pPr indent="-361950" lvl="0" marL="457200" rtl="0" algn="l">
              <a:lnSpc>
                <a:spcPct val="50000"/>
              </a:lnSpc>
              <a:spcBef>
                <a:spcPts val="50"/>
              </a:spcBef>
              <a:spcAft>
                <a:spcPts val="0"/>
              </a:spcAft>
              <a:buSzPts val="2100"/>
              <a:buFont typeface="Times New Roman"/>
              <a:buChar char="●"/>
            </a:pPr>
            <a:r>
              <a:rPr lang="en-US" sz="2100">
                <a:latin typeface="Times New Roman"/>
                <a:ea typeface="Times New Roman"/>
                <a:cs typeface="Times New Roman"/>
                <a:sym typeface="Times New Roman"/>
              </a:rPr>
              <a:t>Use of Assertions (SVA), Randomized Testing, and Coverage Analysis.</a:t>
            </a:r>
            <a:br>
              <a:rPr lang="en-US" sz="2100">
                <a:latin typeface="Times New Roman"/>
                <a:ea typeface="Times New Roman"/>
                <a:cs typeface="Times New Roman"/>
                <a:sym typeface="Times New Roman"/>
              </a:rPr>
            </a:br>
            <a:endParaRPr sz="2100">
              <a:latin typeface="Times New Roman"/>
              <a:ea typeface="Times New Roman"/>
              <a:cs typeface="Times New Roman"/>
              <a:sym typeface="Times New Roman"/>
            </a:endParaRPr>
          </a:p>
          <a:p>
            <a:pPr indent="-361950" lvl="0" marL="457200" rtl="0" algn="l">
              <a:lnSpc>
                <a:spcPct val="50000"/>
              </a:lnSpc>
              <a:spcBef>
                <a:spcPts val="50"/>
              </a:spcBef>
              <a:spcAft>
                <a:spcPts val="0"/>
              </a:spcAft>
              <a:buSzPts val="2100"/>
              <a:buFont typeface="Times New Roman"/>
              <a:buChar char="●"/>
            </a:pPr>
            <a:r>
              <a:rPr lang="en-US" sz="2100">
                <a:latin typeface="Times New Roman"/>
                <a:ea typeface="Times New Roman"/>
                <a:cs typeface="Times New Roman"/>
                <a:sym typeface="Times New Roman"/>
              </a:rPr>
              <a:t>Improves test efficiency but lacks real hardware validation.</a:t>
            </a:r>
            <a:endParaRPr sz="2100">
              <a:latin typeface="Times New Roman"/>
              <a:ea typeface="Times New Roman"/>
              <a:cs typeface="Times New Roman"/>
              <a:sym typeface="Times New Roman"/>
            </a:endParaRPr>
          </a:p>
          <a:p>
            <a:pPr indent="0" lvl="0" marL="457200" rtl="0" algn="l">
              <a:lnSpc>
                <a:spcPct val="50000"/>
              </a:lnSpc>
              <a:spcBef>
                <a:spcPts val="50"/>
              </a:spcBef>
              <a:spcAft>
                <a:spcPts val="0"/>
              </a:spcAft>
              <a:buNone/>
            </a:pPr>
            <a:br>
              <a:rPr lang="en-US" sz="2100">
                <a:latin typeface="Times New Roman"/>
                <a:ea typeface="Times New Roman"/>
                <a:cs typeface="Times New Roman"/>
                <a:sym typeface="Times New Roman"/>
              </a:rPr>
            </a:br>
            <a:endParaRPr sz="2100">
              <a:latin typeface="Times New Roman"/>
              <a:ea typeface="Times New Roman"/>
              <a:cs typeface="Times New Roman"/>
              <a:sym typeface="Times New Roman"/>
            </a:endParaRPr>
          </a:p>
          <a:p>
            <a:pPr indent="0" lvl="0" marL="0" rtl="0" algn="l">
              <a:lnSpc>
                <a:spcPct val="50000"/>
              </a:lnSpc>
              <a:spcBef>
                <a:spcPts val="50"/>
              </a:spcBef>
              <a:spcAft>
                <a:spcPts val="0"/>
              </a:spcAft>
              <a:buNone/>
            </a:pPr>
            <a:r>
              <a:rPr b="1" lang="en-US" sz="2100">
                <a:latin typeface="Times New Roman"/>
                <a:ea typeface="Times New Roman"/>
                <a:cs typeface="Times New Roman"/>
                <a:sym typeface="Times New Roman"/>
              </a:rPr>
              <a:t>FPGA-Based UART Designs:</a:t>
            </a:r>
            <a:br>
              <a:rPr b="1" lang="en-US" sz="2100">
                <a:latin typeface="Times New Roman"/>
                <a:ea typeface="Times New Roman"/>
                <a:cs typeface="Times New Roman"/>
                <a:sym typeface="Times New Roman"/>
              </a:rPr>
            </a:br>
            <a:endParaRPr b="1" sz="2100">
              <a:latin typeface="Times New Roman"/>
              <a:ea typeface="Times New Roman"/>
              <a:cs typeface="Times New Roman"/>
              <a:sym typeface="Times New Roman"/>
            </a:endParaRPr>
          </a:p>
          <a:p>
            <a:pPr indent="0" lvl="0" marL="0" rtl="0" algn="l">
              <a:lnSpc>
                <a:spcPct val="50000"/>
              </a:lnSpc>
              <a:spcBef>
                <a:spcPts val="50"/>
              </a:spcBef>
              <a:spcAft>
                <a:spcPts val="0"/>
              </a:spcAft>
              <a:buClr>
                <a:schemeClr val="dk1"/>
              </a:buClr>
              <a:buSzPts val="1100"/>
              <a:buFont typeface="Arial"/>
              <a:buNone/>
            </a:pPr>
            <a:r>
              <a:t/>
            </a:r>
            <a:endParaRPr b="1" sz="2100">
              <a:latin typeface="Times New Roman"/>
              <a:ea typeface="Times New Roman"/>
              <a:cs typeface="Times New Roman"/>
              <a:sym typeface="Times New Roman"/>
            </a:endParaRPr>
          </a:p>
          <a:p>
            <a:pPr indent="-361950" lvl="0" marL="457200" rtl="0" algn="l">
              <a:lnSpc>
                <a:spcPct val="50000"/>
              </a:lnSpc>
              <a:spcBef>
                <a:spcPts val="50"/>
              </a:spcBef>
              <a:spcAft>
                <a:spcPts val="0"/>
              </a:spcAft>
              <a:buSzPts val="2100"/>
              <a:buFont typeface="Times New Roman"/>
              <a:buChar char="●"/>
            </a:pPr>
            <a:r>
              <a:rPr lang="en-US" sz="2100">
                <a:latin typeface="Times New Roman"/>
                <a:ea typeface="Times New Roman"/>
                <a:cs typeface="Times New Roman"/>
                <a:sym typeface="Times New Roman"/>
              </a:rPr>
              <a:t>Multi-UART designs implemented on boards like Nexys 4 DDR.</a:t>
            </a:r>
            <a:br>
              <a:rPr lang="en-US" sz="2100">
                <a:latin typeface="Times New Roman"/>
                <a:ea typeface="Times New Roman"/>
                <a:cs typeface="Times New Roman"/>
                <a:sym typeface="Times New Roman"/>
              </a:rPr>
            </a:br>
            <a:endParaRPr sz="2100">
              <a:latin typeface="Times New Roman"/>
              <a:ea typeface="Times New Roman"/>
              <a:cs typeface="Times New Roman"/>
              <a:sym typeface="Times New Roman"/>
            </a:endParaRPr>
          </a:p>
          <a:p>
            <a:pPr indent="-361950" lvl="0" marL="457200" rtl="0" algn="l">
              <a:lnSpc>
                <a:spcPct val="50000"/>
              </a:lnSpc>
              <a:spcBef>
                <a:spcPts val="50"/>
              </a:spcBef>
              <a:spcAft>
                <a:spcPts val="0"/>
              </a:spcAft>
              <a:buSzPts val="2100"/>
              <a:buFont typeface="Times New Roman"/>
              <a:buChar char="●"/>
            </a:pPr>
            <a:r>
              <a:rPr lang="en-US" sz="2100">
                <a:latin typeface="Times New Roman"/>
                <a:ea typeface="Times New Roman"/>
                <a:cs typeface="Times New Roman"/>
                <a:sym typeface="Times New Roman"/>
              </a:rPr>
              <a:t>Verified using Vivado simulation but minimal use of automated verification.</a:t>
            </a:r>
            <a:endParaRPr sz="2100">
              <a:latin typeface="Times New Roman"/>
              <a:ea typeface="Times New Roman"/>
              <a:cs typeface="Times New Roman"/>
              <a:sym typeface="Times New Roman"/>
            </a:endParaRPr>
          </a:p>
          <a:p>
            <a:pPr indent="0" lvl="0" marL="457200" rtl="0" algn="l">
              <a:lnSpc>
                <a:spcPct val="50000"/>
              </a:lnSpc>
              <a:spcBef>
                <a:spcPts val="50"/>
              </a:spcBef>
              <a:spcAft>
                <a:spcPts val="0"/>
              </a:spcAft>
              <a:buNone/>
            </a:pPr>
            <a:br>
              <a:rPr lang="en-US" sz="2100">
                <a:latin typeface="Times New Roman"/>
                <a:ea typeface="Times New Roman"/>
                <a:cs typeface="Times New Roman"/>
                <a:sym typeface="Times New Roman"/>
              </a:rPr>
            </a:br>
            <a:endParaRPr sz="2100">
              <a:latin typeface="Times New Roman"/>
              <a:ea typeface="Times New Roman"/>
              <a:cs typeface="Times New Roman"/>
              <a:sym typeface="Times New Roman"/>
            </a:endParaRPr>
          </a:p>
          <a:p>
            <a:pPr indent="0" lvl="0" marL="0" rtl="0" algn="l">
              <a:lnSpc>
                <a:spcPct val="50000"/>
              </a:lnSpc>
              <a:spcBef>
                <a:spcPts val="50"/>
              </a:spcBef>
              <a:spcAft>
                <a:spcPts val="0"/>
              </a:spcAft>
              <a:buNone/>
            </a:pPr>
            <a:r>
              <a:rPr b="1" lang="en-US" sz="2100">
                <a:latin typeface="Times New Roman"/>
                <a:ea typeface="Times New Roman"/>
                <a:cs typeface="Times New Roman"/>
                <a:sym typeface="Times New Roman"/>
              </a:rPr>
              <a:t>Autoconfigurable UART Controllers:</a:t>
            </a:r>
            <a:endParaRPr b="1" sz="2100">
              <a:latin typeface="Times New Roman"/>
              <a:ea typeface="Times New Roman"/>
              <a:cs typeface="Times New Roman"/>
              <a:sym typeface="Times New Roman"/>
            </a:endParaRPr>
          </a:p>
          <a:p>
            <a:pPr indent="0" lvl="0" marL="0" rtl="0" algn="l">
              <a:lnSpc>
                <a:spcPct val="50000"/>
              </a:lnSpc>
              <a:spcBef>
                <a:spcPts val="50"/>
              </a:spcBef>
              <a:spcAft>
                <a:spcPts val="0"/>
              </a:spcAft>
              <a:buNone/>
            </a:pPr>
            <a:br>
              <a:rPr b="1" lang="en-US" sz="2100">
                <a:latin typeface="Times New Roman"/>
                <a:ea typeface="Times New Roman"/>
                <a:cs typeface="Times New Roman"/>
                <a:sym typeface="Times New Roman"/>
              </a:rPr>
            </a:br>
            <a:endParaRPr b="1" sz="2100">
              <a:latin typeface="Times New Roman"/>
              <a:ea typeface="Times New Roman"/>
              <a:cs typeface="Times New Roman"/>
              <a:sym typeface="Times New Roman"/>
            </a:endParaRPr>
          </a:p>
          <a:p>
            <a:pPr indent="-361950" lvl="0" marL="457200" rtl="0" algn="l">
              <a:lnSpc>
                <a:spcPct val="50000"/>
              </a:lnSpc>
              <a:spcBef>
                <a:spcPts val="50"/>
              </a:spcBef>
              <a:spcAft>
                <a:spcPts val="0"/>
              </a:spcAft>
              <a:buSzPts val="2100"/>
              <a:buFont typeface="Times New Roman"/>
              <a:buChar char="●"/>
            </a:pPr>
            <a:r>
              <a:rPr lang="en-US" sz="2100">
                <a:latin typeface="Times New Roman"/>
                <a:ea typeface="Times New Roman"/>
                <a:cs typeface="Times New Roman"/>
                <a:sym typeface="Times New Roman"/>
              </a:rPr>
              <a:t>Automatically adapt baud rate and parity.</a:t>
            </a:r>
            <a:br>
              <a:rPr lang="en-US" sz="2100">
                <a:latin typeface="Times New Roman"/>
                <a:ea typeface="Times New Roman"/>
                <a:cs typeface="Times New Roman"/>
                <a:sym typeface="Times New Roman"/>
              </a:rPr>
            </a:br>
            <a:endParaRPr sz="2100">
              <a:latin typeface="Times New Roman"/>
              <a:ea typeface="Times New Roman"/>
              <a:cs typeface="Times New Roman"/>
              <a:sym typeface="Times New Roman"/>
            </a:endParaRPr>
          </a:p>
          <a:p>
            <a:pPr indent="-361950" lvl="0" marL="457200" rtl="0" algn="l">
              <a:lnSpc>
                <a:spcPct val="50000"/>
              </a:lnSpc>
              <a:spcBef>
                <a:spcPts val="50"/>
              </a:spcBef>
              <a:spcAft>
                <a:spcPts val="0"/>
              </a:spcAft>
              <a:buSzPts val="2100"/>
              <a:buFont typeface="Times New Roman"/>
              <a:buChar char="●"/>
            </a:pPr>
            <a:r>
              <a:rPr lang="en-US" sz="2100">
                <a:latin typeface="Times New Roman"/>
                <a:ea typeface="Times New Roman"/>
                <a:cs typeface="Times New Roman"/>
                <a:sym typeface="Times New Roman"/>
              </a:rPr>
              <a:t>High flexibility but no integrated verification environment.</a:t>
            </a:r>
            <a:endParaRPr sz="2100">
              <a:latin typeface="Times New Roman"/>
              <a:ea typeface="Times New Roman"/>
              <a:cs typeface="Times New Roman"/>
              <a:sym typeface="Times New Roman"/>
            </a:endParaRPr>
          </a:p>
          <a:p>
            <a:pPr indent="0" lvl="0" marL="0" rtl="0" algn="just">
              <a:lnSpc>
                <a:spcPct val="150000"/>
              </a:lnSpc>
              <a:spcBef>
                <a:spcPts val="1000"/>
              </a:spcBef>
              <a:spcAft>
                <a:spcPts val="0"/>
              </a:spcAft>
              <a:buNone/>
            </a:pPr>
            <a:r>
              <a:t/>
            </a:r>
            <a:endParaRPr sz="2200">
              <a:latin typeface="Times New Roman"/>
              <a:ea typeface="Times New Roman"/>
              <a:cs typeface="Times New Roman"/>
              <a:sym typeface="Times New Roman"/>
            </a:endParaRPr>
          </a:p>
        </p:txBody>
      </p:sp>
      <p:sp>
        <p:nvSpPr>
          <p:cNvPr id="201" name="Google Shape;201;g3947ad69879_0_0"/>
          <p:cNvSpPr/>
          <p:nvPr/>
        </p:nvSpPr>
        <p:spPr>
          <a:xfrm>
            <a:off x="0" y="0"/>
            <a:ext cx="9144000" cy="971700"/>
          </a:xfrm>
          <a:prstGeom prst="rect">
            <a:avLst/>
          </a:prstGeom>
          <a:solidFill>
            <a:srgbClr val="B01B2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000"/>
              <a:buFont typeface="Arial"/>
              <a:buNone/>
            </a:pPr>
            <a:r>
              <a:rPr b="1" lang="en-US" sz="3000">
                <a:solidFill>
                  <a:schemeClr val="lt1"/>
                </a:solidFill>
              </a:rPr>
              <a:t>Existing</a:t>
            </a:r>
            <a:r>
              <a:rPr b="1" lang="en-US" sz="3000">
                <a:solidFill>
                  <a:schemeClr val="lt1"/>
                </a:solidFill>
              </a:rPr>
              <a:t> Techniques</a:t>
            </a:r>
            <a:endParaRPr b="1" i="0" sz="3000" u="none" cap="none" strike="noStrike">
              <a:solidFill>
                <a:schemeClr val="lt1"/>
              </a:solidFill>
              <a:latin typeface="Arial"/>
              <a:ea typeface="Arial"/>
              <a:cs typeface="Arial"/>
              <a:sym typeface="Arial"/>
            </a:endParaRPr>
          </a:p>
        </p:txBody>
      </p:sp>
      <p:pic>
        <p:nvPicPr>
          <p:cNvPr id="202" name="Google Shape;202;g3947ad69879_0_0"/>
          <p:cNvPicPr preferRelativeResize="0"/>
          <p:nvPr/>
        </p:nvPicPr>
        <p:blipFill rotWithShape="1">
          <a:blip r:embed="rId3">
            <a:alphaModFix/>
          </a:blip>
          <a:srcRect b="0" l="0" r="0" t="0"/>
          <a:stretch/>
        </p:blipFill>
        <p:spPr>
          <a:xfrm>
            <a:off x="7887056" y="5640237"/>
            <a:ext cx="1174719" cy="1152343"/>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g38c651119bc_1_6"/>
          <p:cNvSpPr txBox="1"/>
          <p:nvPr>
            <p:ph idx="1" type="body"/>
          </p:nvPr>
        </p:nvSpPr>
        <p:spPr>
          <a:xfrm>
            <a:off x="143200" y="1167756"/>
            <a:ext cx="8825100" cy="5609700"/>
          </a:xfrm>
          <a:prstGeom prst="rect">
            <a:avLst/>
          </a:prstGeom>
          <a:noFill/>
          <a:ln>
            <a:noFill/>
          </a:ln>
        </p:spPr>
        <p:txBody>
          <a:bodyPr anchorCtr="0" anchor="t" bIns="45700" lIns="91425" spcFirstLastPara="1" rIns="91425" wrap="square" tIns="45700">
            <a:noAutofit/>
          </a:bodyPr>
          <a:lstStyle/>
          <a:p>
            <a:pPr indent="-393700" lvl="0" marL="457200" rtl="0" algn="l">
              <a:lnSpc>
                <a:spcPct val="100000"/>
              </a:lnSpc>
              <a:spcBef>
                <a:spcPts val="50"/>
              </a:spcBef>
              <a:spcAft>
                <a:spcPts val="0"/>
              </a:spcAft>
              <a:buSzPts val="2600"/>
              <a:buFont typeface="Times New Roman"/>
              <a:buChar char="●"/>
            </a:pPr>
            <a:r>
              <a:rPr b="1" lang="en-US" sz="1600">
                <a:latin typeface="Arial"/>
                <a:ea typeface="Arial"/>
                <a:cs typeface="Arial"/>
                <a:sym typeface="Arial"/>
              </a:rPr>
              <a:t>Design Goal:</a:t>
            </a:r>
            <a:r>
              <a:rPr lang="en-US" sz="1600">
                <a:latin typeface="Arial"/>
                <a:ea typeface="Arial"/>
                <a:cs typeface="Arial"/>
                <a:sym typeface="Arial"/>
              </a:rPr>
              <a:t> Develop and verify a UART communication protocol supporting reliable serial data exchange between transmitter and receiver modules.</a:t>
            </a:r>
            <a:endParaRPr sz="1600">
              <a:latin typeface="Arial"/>
              <a:ea typeface="Arial"/>
              <a:cs typeface="Arial"/>
              <a:sym typeface="Arial"/>
            </a:endParaRPr>
          </a:p>
          <a:p>
            <a:pPr indent="-393700" lvl="0" marL="457200" rtl="0" algn="l">
              <a:lnSpc>
                <a:spcPct val="100000"/>
              </a:lnSpc>
              <a:spcBef>
                <a:spcPts val="50"/>
              </a:spcBef>
              <a:spcAft>
                <a:spcPts val="0"/>
              </a:spcAft>
              <a:buSzPts val="2600"/>
              <a:buFont typeface="Times New Roman"/>
              <a:buChar char="●"/>
            </a:pPr>
            <a:r>
              <a:rPr b="1" lang="en-US" sz="1600">
                <a:latin typeface="Arial"/>
                <a:ea typeface="Arial"/>
                <a:cs typeface="Arial"/>
                <a:sym typeface="Arial"/>
              </a:rPr>
              <a:t>Functional Specification:</a:t>
            </a:r>
            <a:r>
              <a:rPr lang="en-US" sz="1600">
                <a:latin typeface="Arial"/>
                <a:ea typeface="Arial"/>
                <a:cs typeface="Arial"/>
                <a:sym typeface="Arial"/>
              </a:rPr>
              <a:t> Define UART frame structure (start, 8 data bits, stop), timing, and baud rate parameterization (</a:t>
            </a:r>
            <a:r>
              <a:rPr lang="en-US" sz="1600">
                <a:solidFill>
                  <a:srgbClr val="188038"/>
                </a:solidFill>
                <a:latin typeface="Roboto Mono"/>
                <a:ea typeface="Roboto Mono"/>
                <a:cs typeface="Roboto Mono"/>
                <a:sym typeface="Roboto Mono"/>
              </a:rPr>
              <a:t>CLK_PER_BIT</a:t>
            </a:r>
            <a:r>
              <a:rPr lang="en-US" sz="1600">
                <a:latin typeface="Arial"/>
                <a:ea typeface="Arial"/>
                <a:cs typeface="Arial"/>
                <a:sym typeface="Arial"/>
              </a:rPr>
              <a:t>).</a:t>
            </a:r>
            <a:endParaRPr sz="1600">
              <a:latin typeface="Arial"/>
              <a:ea typeface="Arial"/>
              <a:cs typeface="Arial"/>
              <a:sym typeface="Arial"/>
            </a:endParaRPr>
          </a:p>
          <a:p>
            <a:pPr indent="-393700" lvl="0" marL="457200" rtl="0" algn="l">
              <a:lnSpc>
                <a:spcPct val="100000"/>
              </a:lnSpc>
              <a:spcBef>
                <a:spcPts val="50"/>
              </a:spcBef>
              <a:spcAft>
                <a:spcPts val="0"/>
              </a:spcAft>
              <a:buSzPts val="2600"/>
              <a:buFont typeface="Times New Roman"/>
              <a:buChar char="●"/>
            </a:pPr>
            <a:r>
              <a:rPr b="1" lang="en-US" sz="1600">
                <a:latin typeface="Arial"/>
                <a:ea typeface="Arial"/>
                <a:cs typeface="Arial"/>
                <a:sym typeface="Arial"/>
              </a:rPr>
              <a:t>RTL Design:</a:t>
            </a:r>
            <a:r>
              <a:rPr lang="en-US" sz="1600">
                <a:latin typeface="Arial"/>
                <a:ea typeface="Arial"/>
                <a:cs typeface="Arial"/>
                <a:sym typeface="Arial"/>
              </a:rPr>
              <a:t> Implement synthesizable UART Transmitter and Receiver modules in SystemVerilog ensuring accurate bit timing and data framing.</a:t>
            </a:r>
            <a:endParaRPr sz="1600">
              <a:latin typeface="Arial"/>
              <a:ea typeface="Arial"/>
              <a:cs typeface="Arial"/>
              <a:sym typeface="Arial"/>
            </a:endParaRPr>
          </a:p>
          <a:p>
            <a:pPr indent="-393700" lvl="0" marL="457200" rtl="0" algn="l">
              <a:lnSpc>
                <a:spcPct val="100000"/>
              </a:lnSpc>
              <a:spcBef>
                <a:spcPts val="50"/>
              </a:spcBef>
              <a:spcAft>
                <a:spcPts val="0"/>
              </a:spcAft>
              <a:buSzPts val="2600"/>
              <a:buFont typeface="Times New Roman"/>
              <a:buChar char="●"/>
            </a:pPr>
            <a:r>
              <a:rPr b="1" lang="en-US" sz="1600">
                <a:latin typeface="Arial"/>
                <a:ea typeface="Arial"/>
                <a:cs typeface="Arial"/>
                <a:sym typeface="Arial"/>
              </a:rPr>
              <a:t>Verification Environment Setup:</a:t>
            </a:r>
            <a:r>
              <a:rPr lang="en-US" sz="1600">
                <a:latin typeface="Arial"/>
                <a:ea typeface="Arial"/>
                <a:cs typeface="Arial"/>
                <a:sym typeface="Arial"/>
              </a:rPr>
              <a:t> Develop a SystemVerilog testbench using class-based methodology with Generator, Driver, Monitor, and Scoreboard components.</a:t>
            </a:r>
            <a:endParaRPr sz="1600">
              <a:latin typeface="Arial"/>
              <a:ea typeface="Arial"/>
              <a:cs typeface="Arial"/>
              <a:sym typeface="Arial"/>
            </a:endParaRPr>
          </a:p>
          <a:p>
            <a:pPr indent="-393700" lvl="0" marL="457200" rtl="0" algn="l">
              <a:lnSpc>
                <a:spcPct val="100000"/>
              </a:lnSpc>
              <a:spcBef>
                <a:spcPts val="50"/>
              </a:spcBef>
              <a:spcAft>
                <a:spcPts val="0"/>
              </a:spcAft>
              <a:buSzPts val="2600"/>
              <a:buFont typeface="Times New Roman"/>
              <a:buChar char="●"/>
            </a:pPr>
            <a:r>
              <a:rPr b="1" lang="en-US" sz="1600">
                <a:latin typeface="Arial"/>
                <a:ea typeface="Arial"/>
                <a:cs typeface="Arial"/>
                <a:sym typeface="Arial"/>
              </a:rPr>
              <a:t>Transaction-Level Modeling:</a:t>
            </a:r>
            <a:r>
              <a:rPr lang="en-US" sz="1600">
                <a:latin typeface="Arial"/>
                <a:ea typeface="Arial"/>
                <a:cs typeface="Arial"/>
                <a:sym typeface="Arial"/>
              </a:rPr>
              <a:t> Create transaction classes representing UART data packets and randomize stimulus for extensive coverage.</a:t>
            </a:r>
            <a:endParaRPr sz="1600">
              <a:latin typeface="Arial"/>
              <a:ea typeface="Arial"/>
              <a:cs typeface="Arial"/>
              <a:sym typeface="Arial"/>
            </a:endParaRPr>
          </a:p>
          <a:p>
            <a:pPr indent="-393700" lvl="0" marL="457200" rtl="0" algn="l">
              <a:lnSpc>
                <a:spcPct val="100000"/>
              </a:lnSpc>
              <a:spcBef>
                <a:spcPts val="50"/>
              </a:spcBef>
              <a:spcAft>
                <a:spcPts val="0"/>
              </a:spcAft>
              <a:buSzPts val="2600"/>
              <a:buFont typeface="Times New Roman"/>
              <a:buChar char="●"/>
            </a:pPr>
            <a:r>
              <a:rPr b="1" lang="en-US" sz="1600">
                <a:latin typeface="Arial"/>
                <a:ea typeface="Arial"/>
                <a:cs typeface="Arial"/>
                <a:sym typeface="Arial"/>
              </a:rPr>
              <a:t>Communication Channel:</a:t>
            </a:r>
            <a:r>
              <a:rPr lang="en-US" sz="1600">
                <a:latin typeface="Arial"/>
                <a:ea typeface="Arial"/>
                <a:cs typeface="Arial"/>
                <a:sym typeface="Arial"/>
              </a:rPr>
              <a:t> Use </a:t>
            </a:r>
            <a:r>
              <a:rPr b="1" lang="en-US" sz="1600">
                <a:latin typeface="Arial"/>
                <a:ea typeface="Arial"/>
                <a:cs typeface="Arial"/>
                <a:sym typeface="Arial"/>
              </a:rPr>
              <a:t>mailbox</a:t>
            </a:r>
            <a:r>
              <a:rPr lang="en-US" sz="1600">
                <a:latin typeface="Arial"/>
                <a:ea typeface="Arial"/>
                <a:cs typeface="Arial"/>
                <a:sym typeface="Arial"/>
              </a:rPr>
              <a:t> mechanisms for synchronized data transfer between verification components.</a:t>
            </a:r>
            <a:endParaRPr sz="1600">
              <a:latin typeface="Arial"/>
              <a:ea typeface="Arial"/>
              <a:cs typeface="Arial"/>
              <a:sym typeface="Arial"/>
            </a:endParaRPr>
          </a:p>
          <a:p>
            <a:pPr indent="-393700" lvl="0" marL="457200" rtl="0" algn="l">
              <a:lnSpc>
                <a:spcPct val="100000"/>
              </a:lnSpc>
              <a:spcBef>
                <a:spcPts val="50"/>
              </a:spcBef>
              <a:spcAft>
                <a:spcPts val="0"/>
              </a:spcAft>
              <a:buSzPts val="2600"/>
              <a:buFont typeface="Times New Roman"/>
              <a:buChar char="●"/>
            </a:pPr>
            <a:r>
              <a:rPr b="1" lang="en-US" sz="1600">
                <a:latin typeface="Arial"/>
                <a:ea typeface="Arial"/>
                <a:cs typeface="Arial"/>
                <a:sym typeface="Arial"/>
              </a:rPr>
              <a:t>Functional Verification:</a:t>
            </a:r>
            <a:r>
              <a:rPr lang="en-US" sz="1600">
                <a:latin typeface="Arial"/>
                <a:ea typeface="Arial"/>
                <a:cs typeface="Arial"/>
                <a:sym typeface="Arial"/>
              </a:rPr>
              <a:t> Check correctness using self-checking testbench — compare transmitted and received data in the scoreboard.</a:t>
            </a:r>
            <a:endParaRPr sz="1600">
              <a:latin typeface="Arial"/>
              <a:ea typeface="Arial"/>
              <a:cs typeface="Arial"/>
              <a:sym typeface="Arial"/>
            </a:endParaRPr>
          </a:p>
          <a:p>
            <a:pPr indent="-393700" lvl="0" marL="457200" rtl="0" algn="l">
              <a:lnSpc>
                <a:spcPct val="100000"/>
              </a:lnSpc>
              <a:spcBef>
                <a:spcPts val="50"/>
              </a:spcBef>
              <a:spcAft>
                <a:spcPts val="0"/>
              </a:spcAft>
              <a:buSzPts val="2600"/>
              <a:buFont typeface="Times New Roman"/>
              <a:buChar char="●"/>
            </a:pPr>
            <a:r>
              <a:rPr b="1" lang="en-US" sz="1600">
                <a:latin typeface="Arial"/>
                <a:ea typeface="Arial"/>
                <a:cs typeface="Arial"/>
                <a:sym typeface="Arial"/>
              </a:rPr>
              <a:t>Simulation &amp; Analysis:</a:t>
            </a:r>
            <a:r>
              <a:rPr lang="en-US" sz="1600">
                <a:latin typeface="Arial"/>
                <a:ea typeface="Arial"/>
                <a:cs typeface="Arial"/>
                <a:sym typeface="Arial"/>
              </a:rPr>
              <a:t> Run simulations on EDA Playground or ModelSim, analyze waveform and log results to validate UART protocol functionality</a:t>
            </a:r>
            <a:endParaRPr sz="1600">
              <a:latin typeface="Arial"/>
              <a:ea typeface="Arial"/>
              <a:cs typeface="Arial"/>
              <a:sym typeface="Arial"/>
            </a:endParaRPr>
          </a:p>
          <a:p>
            <a:pPr indent="0" lvl="0" marL="457200" rtl="0" algn="l">
              <a:lnSpc>
                <a:spcPct val="100000"/>
              </a:lnSpc>
              <a:spcBef>
                <a:spcPts val="50"/>
              </a:spcBef>
              <a:spcAft>
                <a:spcPts val="0"/>
              </a:spcAft>
              <a:buNone/>
            </a:pPr>
            <a:r>
              <a:t/>
            </a:r>
            <a:endParaRPr b="1" sz="2200">
              <a:latin typeface="Times New Roman"/>
              <a:ea typeface="Times New Roman"/>
              <a:cs typeface="Times New Roman"/>
              <a:sym typeface="Times New Roman"/>
            </a:endParaRPr>
          </a:p>
          <a:p>
            <a:pPr indent="0" lvl="0" marL="0" rtl="0" algn="just">
              <a:lnSpc>
                <a:spcPct val="150000"/>
              </a:lnSpc>
              <a:spcBef>
                <a:spcPts val="1000"/>
              </a:spcBef>
              <a:spcAft>
                <a:spcPts val="0"/>
              </a:spcAft>
              <a:buNone/>
            </a:pPr>
            <a:r>
              <a:t/>
            </a:r>
            <a:endParaRPr sz="2200">
              <a:latin typeface="Times New Roman"/>
              <a:ea typeface="Times New Roman"/>
              <a:cs typeface="Times New Roman"/>
              <a:sym typeface="Times New Roman"/>
            </a:endParaRPr>
          </a:p>
        </p:txBody>
      </p:sp>
      <p:sp>
        <p:nvSpPr>
          <p:cNvPr id="208" name="Google Shape;208;g38c651119bc_1_6"/>
          <p:cNvSpPr/>
          <p:nvPr/>
        </p:nvSpPr>
        <p:spPr>
          <a:xfrm>
            <a:off x="0" y="0"/>
            <a:ext cx="9144000" cy="971700"/>
          </a:xfrm>
          <a:prstGeom prst="rect">
            <a:avLst/>
          </a:prstGeom>
          <a:solidFill>
            <a:srgbClr val="B01B2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000"/>
              <a:buFont typeface="Arial"/>
              <a:buNone/>
            </a:pPr>
            <a:r>
              <a:rPr b="1" lang="en-US" sz="3000">
                <a:solidFill>
                  <a:schemeClr val="lt1"/>
                </a:solidFill>
              </a:rPr>
              <a:t>Proposed Methodology</a:t>
            </a:r>
            <a:endParaRPr b="1" i="0" sz="3000" u="none" cap="none" strike="noStrike">
              <a:solidFill>
                <a:schemeClr val="lt1"/>
              </a:solidFill>
              <a:latin typeface="Arial"/>
              <a:ea typeface="Arial"/>
              <a:cs typeface="Arial"/>
              <a:sym typeface="Arial"/>
            </a:endParaRPr>
          </a:p>
        </p:txBody>
      </p:sp>
      <p:pic>
        <p:nvPicPr>
          <p:cNvPr id="209" name="Google Shape;209;g38c651119bc_1_6"/>
          <p:cNvPicPr preferRelativeResize="0"/>
          <p:nvPr/>
        </p:nvPicPr>
        <p:blipFill rotWithShape="1">
          <a:blip r:embed="rId3">
            <a:alphaModFix/>
          </a:blip>
          <a:srcRect b="0" l="0" r="0" t="0"/>
          <a:stretch/>
        </p:blipFill>
        <p:spPr>
          <a:xfrm>
            <a:off x="7887056" y="5640237"/>
            <a:ext cx="1174719" cy="1152343"/>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6"/>
          <p:cNvSpPr/>
          <p:nvPr/>
        </p:nvSpPr>
        <p:spPr>
          <a:xfrm>
            <a:off x="0" y="0"/>
            <a:ext cx="9144000" cy="1135500"/>
          </a:xfrm>
          <a:prstGeom prst="rect">
            <a:avLst/>
          </a:prstGeom>
          <a:solidFill>
            <a:srgbClr val="B01B2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chemeClr val="lt1"/>
                </a:solidFill>
                <a:latin typeface="Arial"/>
                <a:ea typeface="Arial"/>
                <a:cs typeface="Arial"/>
                <a:sym typeface="Arial"/>
              </a:rPr>
              <a:t>Work done for Review-1</a:t>
            </a:r>
            <a:endParaRPr b="1" i="0" sz="3000" u="none" cap="none" strike="noStrike">
              <a:solidFill>
                <a:schemeClr val="lt1"/>
              </a:solidFill>
              <a:latin typeface="Arial"/>
              <a:ea typeface="Arial"/>
              <a:cs typeface="Arial"/>
              <a:sym typeface="Arial"/>
            </a:endParaRPr>
          </a:p>
        </p:txBody>
      </p:sp>
      <p:pic>
        <p:nvPicPr>
          <p:cNvPr id="216" name="Google Shape;216;p26"/>
          <p:cNvPicPr preferRelativeResize="0"/>
          <p:nvPr/>
        </p:nvPicPr>
        <p:blipFill rotWithShape="1">
          <a:blip r:embed="rId3">
            <a:alphaModFix/>
          </a:blip>
          <a:srcRect b="0" l="0" r="0" t="0"/>
          <a:stretch/>
        </p:blipFill>
        <p:spPr>
          <a:xfrm>
            <a:off x="7885085" y="5665838"/>
            <a:ext cx="1174719" cy="1152343"/>
          </a:xfrm>
          <a:prstGeom prst="rect">
            <a:avLst/>
          </a:prstGeom>
          <a:noFill/>
          <a:ln>
            <a:noFill/>
          </a:ln>
        </p:spPr>
      </p:pic>
      <p:sp>
        <p:nvSpPr>
          <p:cNvPr id="217" name="Google Shape;217;p26"/>
          <p:cNvSpPr/>
          <p:nvPr/>
        </p:nvSpPr>
        <p:spPr>
          <a:xfrm>
            <a:off x="162600" y="1607613"/>
            <a:ext cx="4409400" cy="4811400"/>
          </a:xfrm>
          <a:prstGeom prst="rect">
            <a:avLst/>
          </a:prstGeom>
          <a:noFill/>
          <a:ln>
            <a:noFill/>
          </a:ln>
        </p:spPr>
        <p:txBody>
          <a:bodyPr anchorCtr="0" anchor="ctr" bIns="61725" lIns="123525" spcFirstLastPara="1" rIns="123525" wrap="square" tIns="61725">
            <a:noAutofit/>
          </a:bodyPr>
          <a:lstStyle/>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module uart (</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input  logic clk,</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input  logic rst,</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input  logic mode,   // 1 = transmit, 0 = receive</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input  logic start,  // start signal</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input  logic rx,</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output logic tx</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parameter int frequency = 50_000_000;</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parameter int baud_rate = 115_200;</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parameter int data_clk  = frequency / baud_rate;</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int data_clk_count;</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reg go;</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reg [10:0] t_buffer;</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reg [10:0] r_buffer;</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int mem_bit;</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int mem_byte;</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 Memory to store bytes</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reg [7:0] memory[0:7]; </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5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672"/>
              <a:buFont typeface="Arial"/>
              <a:buNone/>
            </a:pPr>
            <a:r>
              <a:t/>
            </a:r>
            <a:endParaRPr sz="1500">
              <a:solidFill>
                <a:schemeClr val="dk1"/>
              </a:solidFill>
              <a:latin typeface="Calibri"/>
              <a:ea typeface="Calibri"/>
              <a:cs typeface="Calibri"/>
              <a:sym typeface="Calibri"/>
            </a:endParaRPr>
          </a:p>
        </p:txBody>
      </p:sp>
      <p:sp>
        <p:nvSpPr>
          <p:cNvPr id="218" name="Google Shape;218;p26"/>
          <p:cNvSpPr/>
          <p:nvPr/>
        </p:nvSpPr>
        <p:spPr>
          <a:xfrm>
            <a:off x="-1672424" y="1765695"/>
            <a:ext cx="9144000" cy="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9" name="Google Shape;219;p26"/>
          <p:cNvSpPr/>
          <p:nvPr/>
        </p:nvSpPr>
        <p:spPr>
          <a:xfrm>
            <a:off x="-1018770" y="4255127"/>
            <a:ext cx="12353100" cy="0"/>
          </a:xfrm>
          <a:prstGeom prst="rect">
            <a:avLst/>
          </a:prstGeom>
          <a:noFill/>
          <a:ln>
            <a:noFill/>
          </a:ln>
        </p:spPr>
        <p:txBody>
          <a:bodyPr anchorCtr="0" anchor="ctr" bIns="61725" lIns="123525" spcFirstLastPara="1" rIns="123525" wrap="square" tIns="61725">
            <a:noAutofit/>
          </a:bodyPr>
          <a:lstStyle/>
          <a:p>
            <a:pPr indent="0" lvl="0" marL="0" marR="0" rtl="0" algn="l">
              <a:lnSpc>
                <a:spcPct val="100000"/>
              </a:lnSpc>
              <a:spcBef>
                <a:spcPts val="0"/>
              </a:spcBef>
              <a:spcAft>
                <a:spcPts val="0"/>
              </a:spcAft>
              <a:buClr>
                <a:schemeClr val="dk1"/>
              </a:buClr>
              <a:buSzPts val="1486"/>
              <a:buFont typeface="Calibri"/>
              <a:buNone/>
            </a:pPr>
            <a:r>
              <a:rPr b="0" i="0" lang="en-US" sz="1726" u="none" cap="none" strike="noStrike">
                <a:solidFill>
                  <a:schemeClr val="dk1"/>
                </a:solidFill>
                <a:latin typeface="Calibri"/>
                <a:ea typeface="Calibri"/>
                <a:cs typeface="Calibri"/>
                <a:sym typeface="Calibri"/>
              </a:rPr>
              <a:t>                             </a:t>
            </a:r>
            <a:endParaRPr b="0" i="0" sz="2672" u="none" cap="none" strike="noStrike">
              <a:solidFill>
                <a:schemeClr val="dk1"/>
              </a:solidFill>
              <a:latin typeface="Arial"/>
              <a:ea typeface="Arial"/>
              <a:cs typeface="Arial"/>
              <a:sym typeface="Arial"/>
            </a:endParaRPr>
          </a:p>
        </p:txBody>
      </p:sp>
      <p:sp>
        <p:nvSpPr>
          <p:cNvPr id="220" name="Google Shape;220;p26"/>
          <p:cNvSpPr/>
          <p:nvPr/>
        </p:nvSpPr>
        <p:spPr>
          <a:xfrm>
            <a:off x="442451" y="6891120"/>
            <a:ext cx="9144000" cy="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
        <p:nvSpPr>
          <p:cNvPr id="221" name="Google Shape;221;p26"/>
          <p:cNvSpPr/>
          <p:nvPr/>
        </p:nvSpPr>
        <p:spPr>
          <a:xfrm>
            <a:off x="4410550" y="1595225"/>
            <a:ext cx="4649400" cy="4811400"/>
          </a:xfrm>
          <a:prstGeom prst="rect">
            <a:avLst/>
          </a:prstGeom>
          <a:noFill/>
          <a:ln>
            <a:noFill/>
          </a:ln>
        </p:spPr>
        <p:txBody>
          <a:bodyPr anchorCtr="0" anchor="ctr" bIns="61725" lIns="123525" spcFirstLastPara="1" rIns="123525" wrap="square" tIns="61725">
            <a:noAutofit/>
          </a:bodyPr>
          <a:lstStyle/>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always @(posedge clk or negedge rst) begin</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if (!rst) begin</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go &lt;= 0;</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data_clk_count &lt;= 0;</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tx &lt;= 1'b1;</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mem_bit &lt;= 0;</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mem_byte &lt;= 0;</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r_buffer &lt;= 11'h0;</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t_buffer &lt;= 11'h0;</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end</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else if (start) begin</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if (data_clk_count != data_clk-1) begin</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data_clk_count &lt;= data_clk_count+1;</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go &lt;= 0;</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end else begin</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data_clk_count &lt;= 0;</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go &lt;= 1;</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end</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end</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end</a:t>
            </a:r>
            <a:endParaRPr sz="15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672"/>
              <a:buFont typeface="Arial"/>
              <a:buNone/>
            </a:pPr>
            <a:r>
              <a:t/>
            </a:r>
            <a:endParaRPr sz="15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g38c364ef59e_0_4"/>
          <p:cNvSpPr/>
          <p:nvPr/>
        </p:nvSpPr>
        <p:spPr>
          <a:xfrm>
            <a:off x="0" y="0"/>
            <a:ext cx="9144000" cy="1135500"/>
          </a:xfrm>
          <a:prstGeom prst="rect">
            <a:avLst/>
          </a:prstGeom>
          <a:solidFill>
            <a:srgbClr val="B01B2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chemeClr val="lt1"/>
                </a:solidFill>
                <a:latin typeface="Arial"/>
                <a:ea typeface="Arial"/>
                <a:cs typeface="Arial"/>
                <a:sym typeface="Arial"/>
              </a:rPr>
              <a:t>Work done for Review-1</a:t>
            </a:r>
            <a:endParaRPr b="1" i="0" sz="3000" u="none" cap="none" strike="noStrike">
              <a:solidFill>
                <a:schemeClr val="lt1"/>
              </a:solidFill>
              <a:latin typeface="Arial"/>
              <a:ea typeface="Arial"/>
              <a:cs typeface="Arial"/>
              <a:sym typeface="Arial"/>
            </a:endParaRPr>
          </a:p>
        </p:txBody>
      </p:sp>
      <p:pic>
        <p:nvPicPr>
          <p:cNvPr id="228" name="Google Shape;228;g38c364ef59e_0_4"/>
          <p:cNvPicPr preferRelativeResize="0"/>
          <p:nvPr/>
        </p:nvPicPr>
        <p:blipFill rotWithShape="1">
          <a:blip r:embed="rId3">
            <a:alphaModFix/>
          </a:blip>
          <a:srcRect b="0" l="0" r="0" t="0"/>
          <a:stretch/>
        </p:blipFill>
        <p:spPr>
          <a:xfrm>
            <a:off x="7885085" y="5665838"/>
            <a:ext cx="1174719" cy="1152343"/>
          </a:xfrm>
          <a:prstGeom prst="rect">
            <a:avLst/>
          </a:prstGeom>
          <a:noFill/>
          <a:ln>
            <a:noFill/>
          </a:ln>
        </p:spPr>
      </p:pic>
      <p:sp>
        <p:nvSpPr>
          <p:cNvPr id="229" name="Google Shape;229;g38c364ef59e_0_4"/>
          <p:cNvSpPr/>
          <p:nvPr/>
        </p:nvSpPr>
        <p:spPr>
          <a:xfrm>
            <a:off x="324050" y="1733425"/>
            <a:ext cx="6766500" cy="4811400"/>
          </a:xfrm>
          <a:prstGeom prst="rect">
            <a:avLst/>
          </a:prstGeom>
          <a:noFill/>
          <a:ln>
            <a:noFill/>
          </a:ln>
        </p:spPr>
        <p:txBody>
          <a:bodyPr anchorCtr="0" anchor="ctr" bIns="61725" lIns="123525" spcFirstLastPara="1" rIns="123525" wrap="square" tIns="61725">
            <a:noAutofit/>
          </a:bodyPr>
          <a:lstStyle/>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always @(*) begin</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if (go == 1) begin</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mem_bit = (mem_bit+1)% 11;</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end</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if (mem_bit == 10) begin</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mem_byte = mem_byte+1;</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end</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end</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always @(*) begin</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if (mode) begin</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t_buffer = {1'b0, memory[mem_byte], ~^memory[mem_byte], 1'b1};</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if (start) begin</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tx = t_buffer[mem_bit];</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end end</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else begin</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if (start &amp;&amp; rx == 0) begin</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r_buffer[mem_bit] = rx;</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if (mem_bit ==10) begin</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if ((~^r_buffer[8:1]) == r_buffer[9])begin</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memory[mem_byte] = r_buffer[8:1];</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end end end end</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end</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endmodule</a:t>
            </a:r>
            <a:endParaRPr sz="15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672"/>
              <a:buFont typeface="Arial"/>
              <a:buNone/>
            </a:pPr>
            <a:r>
              <a:t/>
            </a:r>
            <a:endParaRPr sz="1500">
              <a:solidFill>
                <a:schemeClr val="dk1"/>
              </a:solidFill>
              <a:latin typeface="Calibri"/>
              <a:ea typeface="Calibri"/>
              <a:cs typeface="Calibri"/>
              <a:sym typeface="Calibri"/>
            </a:endParaRPr>
          </a:p>
        </p:txBody>
      </p:sp>
      <p:sp>
        <p:nvSpPr>
          <p:cNvPr id="230" name="Google Shape;230;g38c364ef59e_0_4"/>
          <p:cNvSpPr/>
          <p:nvPr/>
        </p:nvSpPr>
        <p:spPr>
          <a:xfrm>
            <a:off x="-1623999" y="1733420"/>
            <a:ext cx="9144000" cy="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1" name="Google Shape;231;g38c364ef59e_0_4"/>
          <p:cNvSpPr/>
          <p:nvPr/>
        </p:nvSpPr>
        <p:spPr>
          <a:xfrm>
            <a:off x="-1018770" y="4255127"/>
            <a:ext cx="12353100" cy="0"/>
          </a:xfrm>
          <a:prstGeom prst="rect">
            <a:avLst/>
          </a:prstGeom>
          <a:noFill/>
          <a:ln>
            <a:noFill/>
          </a:ln>
        </p:spPr>
        <p:txBody>
          <a:bodyPr anchorCtr="0" anchor="ctr" bIns="61725" lIns="123525" spcFirstLastPara="1" rIns="123525" wrap="square" tIns="61725">
            <a:noAutofit/>
          </a:bodyPr>
          <a:lstStyle/>
          <a:p>
            <a:pPr indent="0" lvl="0" marL="0" marR="0" rtl="0" algn="l">
              <a:lnSpc>
                <a:spcPct val="100000"/>
              </a:lnSpc>
              <a:spcBef>
                <a:spcPts val="0"/>
              </a:spcBef>
              <a:spcAft>
                <a:spcPts val="0"/>
              </a:spcAft>
              <a:buClr>
                <a:schemeClr val="dk1"/>
              </a:buClr>
              <a:buSzPts val="1486"/>
              <a:buFont typeface="Calibri"/>
              <a:buNone/>
            </a:pPr>
            <a:r>
              <a:rPr b="0" i="0" lang="en-US" sz="1726" u="none" cap="none" strike="noStrike">
                <a:solidFill>
                  <a:schemeClr val="dk1"/>
                </a:solidFill>
                <a:latin typeface="Calibri"/>
                <a:ea typeface="Calibri"/>
                <a:cs typeface="Calibri"/>
                <a:sym typeface="Calibri"/>
              </a:rPr>
              <a:t>                             </a:t>
            </a:r>
            <a:endParaRPr b="0" i="0" sz="2672" u="none" cap="none" strike="noStrike">
              <a:solidFill>
                <a:schemeClr val="dk1"/>
              </a:solidFill>
              <a:latin typeface="Arial"/>
              <a:ea typeface="Arial"/>
              <a:cs typeface="Arial"/>
              <a:sym typeface="Arial"/>
            </a:endParaRPr>
          </a:p>
        </p:txBody>
      </p:sp>
      <p:sp>
        <p:nvSpPr>
          <p:cNvPr id="232" name="Google Shape;232;g38c364ef59e_0_4"/>
          <p:cNvSpPr/>
          <p:nvPr/>
        </p:nvSpPr>
        <p:spPr>
          <a:xfrm>
            <a:off x="442451" y="6891120"/>
            <a:ext cx="9144000" cy="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
        <p:nvSpPr>
          <p:cNvPr id="233" name="Google Shape;233;g38c364ef59e_0_4"/>
          <p:cNvSpPr/>
          <p:nvPr/>
        </p:nvSpPr>
        <p:spPr>
          <a:xfrm>
            <a:off x="4410550" y="1233400"/>
            <a:ext cx="4649400" cy="5173200"/>
          </a:xfrm>
          <a:prstGeom prst="rect">
            <a:avLst/>
          </a:prstGeom>
          <a:noFill/>
          <a:ln>
            <a:noFill/>
          </a:ln>
        </p:spPr>
        <p:txBody>
          <a:bodyPr anchorCtr="0" anchor="ctr" bIns="61725" lIns="123525" spcFirstLastPara="1" rIns="123525" wrap="square" tIns="61725">
            <a:noAutofit/>
          </a:bodyPr>
          <a:lstStyle/>
          <a:p>
            <a:pPr indent="0" lvl="0" marL="0" marR="0" rtl="0" algn="l">
              <a:lnSpc>
                <a:spcPct val="100000"/>
              </a:lnSpc>
              <a:spcBef>
                <a:spcPts val="0"/>
              </a:spcBef>
              <a:spcAft>
                <a:spcPts val="0"/>
              </a:spcAft>
              <a:buClr>
                <a:srgbClr val="000000"/>
              </a:buClr>
              <a:buSzPts val="2672"/>
              <a:buFont typeface="Arial"/>
              <a:buNone/>
            </a:pPr>
            <a:r>
              <a:t/>
            </a:r>
            <a:endParaRPr sz="15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g38c66511e69_0_1"/>
          <p:cNvSpPr/>
          <p:nvPr/>
        </p:nvSpPr>
        <p:spPr>
          <a:xfrm>
            <a:off x="0" y="0"/>
            <a:ext cx="9144000" cy="1135500"/>
          </a:xfrm>
          <a:prstGeom prst="rect">
            <a:avLst/>
          </a:prstGeom>
          <a:solidFill>
            <a:srgbClr val="B01B2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chemeClr val="lt1"/>
                </a:solidFill>
                <a:latin typeface="Arial"/>
                <a:ea typeface="Arial"/>
                <a:cs typeface="Arial"/>
                <a:sym typeface="Arial"/>
              </a:rPr>
              <a:t>Work done for Review-1</a:t>
            </a:r>
            <a:endParaRPr b="1" i="0" sz="3000" u="none" cap="none" strike="noStrike">
              <a:solidFill>
                <a:schemeClr val="lt1"/>
              </a:solidFill>
              <a:latin typeface="Arial"/>
              <a:ea typeface="Arial"/>
              <a:cs typeface="Arial"/>
              <a:sym typeface="Arial"/>
            </a:endParaRPr>
          </a:p>
        </p:txBody>
      </p:sp>
      <p:pic>
        <p:nvPicPr>
          <p:cNvPr id="240" name="Google Shape;240;g38c66511e69_0_1"/>
          <p:cNvPicPr preferRelativeResize="0"/>
          <p:nvPr/>
        </p:nvPicPr>
        <p:blipFill rotWithShape="1">
          <a:blip r:embed="rId3">
            <a:alphaModFix/>
          </a:blip>
          <a:srcRect b="0" l="0" r="0" t="0"/>
          <a:stretch/>
        </p:blipFill>
        <p:spPr>
          <a:xfrm>
            <a:off x="7885085" y="5665838"/>
            <a:ext cx="1174719" cy="1152343"/>
          </a:xfrm>
          <a:prstGeom prst="rect">
            <a:avLst/>
          </a:prstGeom>
          <a:noFill/>
          <a:ln>
            <a:noFill/>
          </a:ln>
        </p:spPr>
      </p:pic>
      <p:sp>
        <p:nvSpPr>
          <p:cNvPr id="241" name="Google Shape;241;g38c66511e69_0_1"/>
          <p:cNvSpPr/>
          <p:nvPr/>
        </p:nvSpPr>
        <p:spPr>
          <a:xfrm>
            <a:off x="324050" y="1733425"/>
            <a:ext cx="6766500" cy="4811400"/>
          </a:xfrm>
          <a:prstGeom prst="rect">
            <a:avLst/>
          </a:prstGeom>
          <a:noFill/>
          <a:ln>
            <a:noFill/>
          </a:ln>
        </p:spPr>
        <p:txBody>
          <a:bodyPr anchorCtr="0" anchor="ctr" bIns="61725" lIns="123525" spcFirstLastPara="1" rIns="123525" wrap="square" tIns="61725">
            <a:noAutofit/>
          </a:bodyPr>
          <a:lstStyle/>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always @(*) begin</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if (go == 1) begin</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mem_bit = (mem_bit+1)% 11;</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end</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if (mem_bit == 10) begin</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mem_byte = mem_byte+1;</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end</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end</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always @(*) begin</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if (mode) begin</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t_buffer = {1'b0, memory[mem_byte], ~^memory[mem_byte], 1'b1};</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if (start) begin</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tx = t_buffer[mem_bit];</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end end</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else begin</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if (start &amp;&amp; rx == 0) begin</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r_buffer[mem_bit] = rx;</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if (mem_bit ==10) begin</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if ((~^r_buffer[8:1]) == r_buffer[9])begin</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memory[mem_byte] = r_buffer[8:1];</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end end end end</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  end</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endmodule</a:t>
            </a:r>
            <a:endParaRPr sz="15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672"/>
              <a:buFont typeface="Arial"/>
              <a:buNone/>
            </a:pPr>
            <a:r>
              <a:t/>
            </a:r>
            <a:endParaRPr sz="1500">
              <a:solidFill>
                <a:schemeClr val="dk1"/>
              </a:solidFill>
              <a:latin typeface="Calibri"/>
              <a:ea typeface="Calibri"/>
              <a:cs typeface="Calibri"/>
              <a:sym typeface="Calibri"/>
            </a:endParaRPr>
          </a:p>
        </p:txBody>
      </p:sp>
      <p:sp>
        <p:nvSpPr>
          <p:cNvPr id="242" name="Google Shape;242;g38c66511e69_0_1"/>
          <p:cNvSpPr/>
          <p:nvPr/>
        </p:nvSpPr>
        <p:spPr>
          <a:xfrm>
            <a:off x="-1623999" y="1733420"/>
            <a:ext cx="9144000" cy="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3" name="Google Shape;243;g38c66511e69_0_1"/>
          <p:cNvSpPr/>
          <p:nvPr/>
        </p:nvSpPr>
        <p:spPr>
          <a:xfrm>
            <a:off x="-1018770" y="4255127"/>
            <a:ext cx="12353100" cy="0"/>
          </a:xfrm>
          <a:prstGeom prst="rect">
            <a:avLst/>
          </a:prstGeom>
          <a:noFill/>
          <a:ln>
            <a:noFill/>
          </a:ln>
        </p:spPr>
        <p:txBody>
          <a:bodyPr anchorCtr="0" anchor="ctr" bIns="61725" lIns="123525" spcFirstLastPara="1" rIns="123525" wrap="square" tIns="61725">
            <a:noAutofit/>
          </a:bodyPr>
          <a:lstStyle/>
          <a:p>
            <a:pPr indent="0" lvl="0" marL="0" marR="0" rtl="0" algn="l">
              <a:lnSpc>
                <a:spcPct val="100000"/>
              </a:lnSpc>
              <a:spcBef>
                <a:spcPts val="0"/>
              </a:spcBef>
              <a:spcAft>
                <a:spcPts val="0"/>
              </a:spcAft>
              <a:buClr>
                <a:schemeClr val="dk1"/>
              </a:buClr>
              <a:buSzPts val="1486"/>
              <a:buFont typeface="Calibri"/>
              <a:buNone/>
            </a:pPr>
            <a:r>
              <a:rPr b="0" i="0" lang="en-US" sz="1726" u="none" cap="none" strike="noStrike">
                <a:solidFill>
                  <a:schemeClr val="dk1"/>
                </a:solidFill>
                <a:latin typeface="Calibri"/>
                <a:ea typeface="Calibri"/>
                <a:cs typeface="Calibri"/>
                <a:sym typeface="Calibri"/>
              </a:rPr>
              <a:t>                             </a:t>
            </a:r>
            <a:endParaRPr b="0" i="0" sz="2672" u="none" cap="none" strike="noStrike">
              <a:solidFill>
                <a:schemeClr val="dk1"/>
              </a:solidFill>
              <a:latin typeface="Arial"/>
              <a:ea typeface="Arial"/>
              <a:cs typeface="Arial"/>
              <a:sym typeface="Arial"/>
            </a:endParaRPr>
          </a:p>
        </p:txBody>
      </p:sp>
      <p:sp>
        <p:nvSpPr>
          <p:cNvPr id="244" name="Google Shape;244;g38c66511e69_0_1"/>
          <p:cNvSpPr/>
          <p:nvPr/>
        </p:nvSpPr>
        <p:spPr>
          <a:xfrm>
            <a:off x="442451" y="6891120"/>
            <a:ext cx="9144000" cy="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
        <p:nvSpPr>
          <p:cNvPr id="245" name="Google Shape;245;g38c66511e69_0_1"/>
          <p:cNvSpPr/>
          <p:nvPr/>
        </p:nvSpPr>
        <p:spPr>
          <a:xfrm>
            <a:off x="4410550" y="1233400"/>
            <a:ext cx="4649400" cy="5173200"/>
          </a:xfrm>
          <a:prstGeom prst="rect">
            <a:avLst/>
          </a:prstGeom>
          <a:noFill/>
          <a:ln>
            <a:noFill/>
          </a:ln>
        </p:spPr>
        <p:txBody>
          <a:bodyPr anchorCtr="0" anchor="ctr" bIns="61725" lIns="123525" spcFirstLastPara="1" rIns="123525" wrap="square" tIns="61725">
            <a:noAutofit/>
          </a:bodyPr>
          <a:lstStyle/>
          <a:p>
            <a:pPr indent="0" lvl="0" marL="0" marR="0" rtl="0" algn="l">
              <a:lnSpc>
                <a:spcPct val="100000"/>
              </a:lnSpc>
              <a:spcBef>
                <a:spcPts val="0"/>
              </a:spcBef>
              <a:spcAft>
                <a:spcPts val="0"/>
              </a:spcAft>
              <a:buClr>
                <a:srgbClr val="000000"/>
              </a:buClr>
              <a:buSzPts val="2672"/>
              <a:buFont typeface="Arial"/>
              <a:buNone/>
            </a:pPr>
            <a:r>
              <a:t/>
            </a:r>
            <a:endParaRPr sz="15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g38c66511e69_0_13"/>
          <p:cNvSpPr/>
          <p:nvPr/>
        </p:nvSpPr>
        <p:spPr>
          <a:xfrm>
            <a:off x="0" y="0"/>
            <a:ext cx="9144000" cy="1135500"/>
          </a:xfrm>
          <a:prstGeom prst="rect">
            <a:avLst/>
          </a:prstGeom>
          <a:solidFill>
            <a:srgbClr val="B01B2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chemeClr val="lt1"/>
                </a:solidFill>
                <a:latin typeface="Arial"/>
                <a:ea typeface="Arial"/>
                <a:cs typeface="Arial"/>
                <a:sym typeface="Arial"/>
              </a:rPr>
              <a:t>Work done for Review-1</a:t>
            </a:r>
            <a:endParaRPr b="1" i="0" sz="3000" u="none" cap="none" strike="noStrike">
              <a:solidFill>
                <a:schemeClr val="lt1"/>
              </a:solidFill>
              <a:latin typeface="Arial"/>
              <a:ea typeface="Arial"/>
              <a:cs typeface="Arial"/>
              <a:sym typeface="Arial"/>
            </a:endParaRPr>
          </a:p>
        </p:txBody>
      </p:sp>
      <p:pic>
        <p:nvPicPr>
          <p:cNvPr id="252" name="Google Shape;252;g38c66511e69_0_13"/>
          <p:cNvPicPr preferRelativeResize="0"/>
          <p:nvPr/>
        </p:nvPicPr>
        <p:blipFill rotWithShape="1">
          <a:blip r:embed="rId3">
            <a:alphaModFix/>
          </a:blip>
          <a:srcRect b="0" l="0" r="0" t="0"/>
          <a:stretch/>
        </p:blipFill>
        <p:spPr>
          <a:xfrm>
            <a:off x="7885085" y="5665838"/>
            <a:ext cx="1174719" cy="1152343"/>
          </a:xfrm>
          <a:prstGeom prst="rect">
            <a:avLst/>
          </a:prstGeom>
          <a:noFill/>
          <a:ln>
            <a:noFill/>
          </a:ln>
        </p:spPr>
      </p:pic>
      <p:sp>
        <p:nvSpPr>
          <p:cNvPr id="253" name="Google Shape;253;g38c66511e69_0_13"/>
          <p:cNvSpPr/>
          <p:nvPr/>
        </p:nvSpPr>
        <p:spPr>
          <a:xfrm>
            <a:off x="442451" y="6891120"/>
            <a:ext cx="9144000" cy="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
        <p:nvSpPr>
          <p:cNvPr id="254" name="Google Shape;254;g38c66511e69_0_13"/>
          <p:cNvSpPr txBox="1"/>
          <p:nvPr/>
        </p:nvSpPr>
        <p:spPr>
          <a:xfrm>
            <a:off x="155550" y="1299975"/>
            <a:ext cx="4416600" cy="514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900">
                <a:solidFill>
                  <a:schemeClr val="dk1"/>
                </a:solidFill>
                <a:latin typeface="Times New Roman"/>
                <a:ea typeface="Times New Roman"/>
                <a:cs typeface="Times New Roman"/>
                <a:sym typeface="Times New Roman"/>
              </a:rPr>
              <a:t>//UART TRANSMITTER</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900">
                <a:solidFill>
                  <a:schemeClr val="dk1"/>
                </a:solidFill>
                <a:latin typeface="Times New Roman"/>
                <a:ea typeface="Times New Roman"/>
                <a:cs typeface="Times New Roman"/>
                <a:sym typeface="Times New Roman"/>
              </a:rPr>
              <a:t>module uart_tx #(</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900">
                <a:solidFill>
                  <a:schemeClr val="dk1"/>
                </a:solidFill>
                <a:latin typeface="Times New Roman"/>
                <a:ea typeface="Times New Roman"/>
                <a:cs typeface="Times New Roman"/>
                <a:sym typeface="Times New Roman"/>
              </a:rPr>
              <a:t>    parameter CLK_FREQ = 50_000_000,  // 50 MHz</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900">
                <a:solidFill>
                  <a:schemeClr val="dk1"/>
                </a:solidFill>
                <a:latin typeface="Times New Roman"/>
                <a:ea typeface="Times New Roman"/>
                <a:cs typeface="Times New Roman"/>
                <a:sym typeface="Times New Roman"/>
              </a:rPr>
              <a:t>    parameter BAUD_RATE = 9600</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900">
                <a:solidFill>
                  <a:schemeClr val="dk1"/>
                </a:solidFill>
                <a:latin typeface="Times New Roman"/>
                <a:ea typeface="Times New Roman"/>
                <a:cs typeface="Times New Roman"/>
                <a:sym typeface="Times New Roman"/>
              </a:rPr>
              <a:t>)(</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900">
                <a:solidFill>
                  <a:schemeClr val="dk1"/>
                </a:solidFill>
                <a:latin typeface="Times New Roman"/>
                <a:ea typeface="Times New Roman"/>
                <a:cs typeface="Times New Roman"/>
                <a:sym typeface="Times New Roman"/>
              </a:rPr>
              <a:t>    input  logic       clk,</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900">
                <a:solidFill>
                  <a:schemeClr val="dk1"/>
                </a:solidFill>
                <a:latin typeface="Times New Roman"/>
                <a:ea typeface="Times New Roman"/>
                <a:cs typeface="Times New Roman"/>
                <a:sym typeface="Times New Roman"/>
              </a:rPr>
              <a:t>    input  logic       rst_n,</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900">
                <a:solidFill>
                  <a:schemeClr val="dk1"/>
                </a:solidFill>
                <a:latin typeface="Times New Roman"/>
                <a:ea typeface="Times New Roman"/>
                <a:cs typeface="Times New Roman"/>
                <a:sym typeface="Times New Roman"/>
              </a:rPr>
              <a:t>    input  logic [7:0] tx_data,</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900">
                <a:solidFill>
                  <a:schemeClr val="dk1"/>
                </a:solidFill>
                <a:latin typeface="Times New Roman"/>
                <a:ea typeface="Times New Roman"/>
                <a:cs typeface="Times New Roman"/>
                <a:sym typeface="Times New Roman"/>
              </a:rPr>
              <a:t>    input  logic       tx_start,</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900">
                <a:solidFill>
                  <a:schemeClr val="dk1"/>
                </a:solidFill>
                <a:latin typeface="Times New Roman"/>
                <a:ea typeface="Times New Roman"/>
                <a:cs typeface="Times New Roman"/>
                <a:sym typeface="Times New Roman"/>
              </a:rPr>
              <a:t>    output logic       tx_serial,</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900">
                <a:solidFill>
                  <a:schemeClr val="dk1"/>
                </a:solidFill>
                <a:latin typeface="Times New Roman"/>
                <a:ea typeface="Times New Roman"/>
                <a:cs typeface="Times New Roman"/>
                <a:sym typeface="Times New Roman"/>
              </a:rPr>
              <a:t>    output logic       tx_busy</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900">
                <a:solidFill>
                  <a:schemeClr val="dk1"/>
                </a:solidFill>
                <a:latin typeface="Times New Roman"/>
                <a:ea typeface="Times New Roman"/>
                <a:cs typeface="Times New Roman"/>
                <a:sym typeface="Times New Roman"/>
              </a:rPr>
              <a:t>);</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900">
                <a:solidFill>
                  <a:schemeClr val="dk1"/>
                </a:solidFill>
                <a:latin typeface="Times New Roman"/>
                <a:ea typeface="Times New Roman"/>
                <a:cs typeface="Times New Roman"/>
                <a:sym typeface="Times New Roman"/>
              </a:rPr>
              <a:t>    localparam integer CLKS_PER_BIT = CLK_FREQ / BAUD_RATE;</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900">
                <a:solidFill>
                  <a:schemeClr val="dk1"/>
                </a:solidFill>
                <a:latin typeface="Times New Roman"/>
                <a:ea typeface="Times New Roman"/>
                <a:cs typeface="Times New Roman"/>
                <a:sym typeface="Times New Roman"/>
              </a:rPr>
              <a:t>    typedef enum logic [2:0] {IDLE, START, DATA, STOP} state_t;</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900">
                <a:solidFill>
                  <a:schemeClr val="dk1"/>
                </a:solidFill>
                <a:latin typeface="Times New Roman"/>
                <a:ea typeface="Times New Roman"/>
                <a:cs typeface="Times New Roman"/>
                <a:sym typeface="Times New Roman"/>
              </a:rPr>
              <a:t>    state_t state;</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900">
                <a:solidFill>
                  <a:schemeClr val="dk1"/>
                </a:solidFill>
                <a:latin typeface="Times New Roman"/>
                <a:ea typeface="Times New Roman"/>
                <a:cs typeface="Times New Roman"/>
                <a:sym typeface="Times New Roman"/>
              </a:rPr>
              <a:t>    logic [15:0] clk_count;</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900">
                <a:solidFill>
                  <a:schemeClr val="dk1"/>
                </a:solidFill>
                <a:latin typeface="Times New Roman"/>
                <a:ea typeface="Times New Roman"/>
                <a:cs typeface="Times New Roman"/>
                <a:sym typeface="Times New Roman"/>
              </a:rPr>
              <a:t>    logic [2:0]  bit_index;</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900">
                <a:solidFill>
                  <a:schemeClr val="dk1"/>
                </a:solidFill>
                <a:latin typeface="Times New Roman"/>
                <a:ea typeface="Times New Roman"/>
                <a:cs typeface="Times New Roman"/>
                <a:sym typeface="Times New Roman"/>
              </a:rPr>
              <a:t>    logic [7:0]  tx_shift;</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900">
                <a:solidFill>
                  <a:schemeClr val="dk1"/>
                </a:solidFill>
                <a:latin typeface="Times New Roman"/>
                <a:ea typeface="Times New Roman"/>
                <a:cs typeface="Times New Roman"/>
                <a:sym typeface="Times New Roman"/>
              </a:rPr>
              <a:t>    always_ff @(posedge clk or negedge rst_n) begin</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900">
                <a:solidFill>
                  <a:schemeClr val="dk1"/>
                </a:solidFill>
                <a:latin typeface="Times New Roman"/>
                <a:ea typeface="Times New Roman"/>
                <a:cs typeface="Times New Roman"/>
                <a:sym typeface="Times New Roman"/>
              </a:rPr>
              <a:t>        if (!rst_n) begin</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900">
                <a:solidFill>
                  <a:schemeClr val="dk1"/>
                </a:solidFill>
                <a:latin typeface="Times New Roman"/>
                <a:ea typeface="Times New Roman"/>
                <a:cs typeface="Times New Roman"/>
                <a:sym typeface="Times New Roman"/>
              </a:rPr>
              <a:t>            state      &lt;= IDLE;</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900">
                <a:solidFill>
                  <a:schemeClr val="dk1"/>
                </a:solidFill>
                <a:latin typeface="Times New Roman"/>
                <a:ea typeface="Times New Roman"/>
                <a:cs typeface="Times New Roman"/>
                <a:sym typeface="Times New Roman"/>
              </a:rPr>
              <a:t>            tx_serial  &lt;= 1'b1; // idle high</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900">
                <a:solidFill>
                  <a:schemeClr val="dk1"/>
                </a:solidFill>
                <a:latin typeface="Times New Roman"/>
                <a:ea typeface="Times New Roman"/>
                <a:cs typeface="Times New Roman"/>
                <a:sym typeface="Times New Roman"/>
              </a:rPr>
              <a:t>            clk_count  &lt;= 0;</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900">
                <a:solidFill>
                  <a:schemeClr val="dk1"/>
                </a:solidFill>
                <a:latin typeface="Times New Roman"/>
                <a:ea typeface="Times New Roman"/>
                <a:cs typeface="Times New Roman"/>
                <a:sym typeface="Times New Roman"/>
              </a:rPr>
              <a:t>            bit_index  &lt;= 0;</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900">
                <a:solidFill>
                  <a:schemeClr val="dk1"/>
                </a:solidFill>
                <a:latin typeface="Times New Roman"/>
                <a:ea typeface="Times New Roman"/>
                <a:cs typeface="Times New Roman"/>
                <a:sym typeface="Times New Roman"/>
              </a:rPr>
              <a:t>            tx_busy    &lt;= 0;</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900">
                <a:solidFill>
                  <a:schemeClr val="dk1"/>
                </a:solidFill>
                <a:latin typeface="Times New Roman"/>
                <a:ea typeface="Times New Roman"/>
                <a:cs typeface="Times New Roman"/>
                <a:sym typeface="Times New Roman"/>
              </a:rPr>
              <a:t>        end else begin</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900">
                <a:solidFill>
                  <a:schemeClr val="dk1"/>
                </a:solidFill>
                <a:latin typeface="Times New Roman"/>
                <a:ea typeface="Times New Roman"/>
                <a:cs typeface="Times New Roman"/>
                <a:sym typeface="Times New Roman"/>
              </a:rPr>
              <a:t>            case (state)</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900">
                <a:solidFill>
                  <a:schemeClr val="dk1"/>
                </a:solidFill>
                <a:latin typeface="Times New Roman"/>
                <a:ea typeface="Times New Roman"/>
                <a:cs typeface="Times New Roman"/>
                <a:sym typeface="Times New Roman"/>
              </a:rPr>
              <a:t>                IDLE: begin</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900">
                <a:solidFill>
                  <a:schemeClr val="dk1"/>
                </a:solidFill>
                <a:latin typeface="Times New Roman"/>
                <a:ea typeface="Times New Roman"/>
                <a:cs typeface="Times New Roman"/>
                <a:sym typeface="Times New Roman"/>
              </a:rPr>
              <a:t>                    tx_serial &lt;= 1'b1;</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900">
                <a:solidFill>
                  <a:schemeClr val="dk1"/>
                </a:solidFill>
                <a:latin typeface="Times New Roman"/>
                <a:ea typeface="Times New Roman"/>
                <a:cs typeface="Times New Roman"/>
                <a:sym typeface="Times New Roman"/>
              </a:rPr>
              <a:t>                    tx_busy   &lt;= 0;</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900">
                <a:solidFill>
                  <a:schemeClr val="dk1"/>
                </a:solidFill>
                <a:latin typeface="Times New Roman"/>
                <a:ea typeface="Times New Roman"/>
                <a:cs typeface="Times New Roman"/>
                <a:sym typeface="Times New Roman"/>
              </a:rPr>
              <a:t>                    if (tx_start) begin</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900">
                <a:solidFill>
                  <a:schemeClr val="dk1"/>
                </a:solidFill>
                <a:latin typeface="Times New Roman"/>
                <a:ea typeface="Times New Roman"/>
                <a:cs typeface="Times New Roman"/>
                <a:sym typeface="Times New Roman"/>
              </a:rPr>
              <a:t>                        tx_shift &lt;= tx_data;</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900">
                <a:solidFill>
                  <a:schemeClr val="dk1"/>
                </a:solidFill>
                <a:latin typeface="Times New Roman"/>
                <a:ea typeface="Times New Roman"/>
                <a:cs typeface="Times New Roman"/>
                <a:sym typeface="Times New Roman"/>
              </a:rPr>
              <a:t>                        state    &lt;= START;</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900">
                <a:solidFill>
                  <a:schemeClr val="dk1"/>
                </a:solidFill>
                <a:latin typeface="Times New Roman"/>
                <a:ea typeface="Times New Roman"/>
                <a:cs typeface="Times New Roman"/>
                <a:sym typeface="Times New Roman"/>
              </a:rPr>
              <a:t>                        tx_busy  &lt;= 1;</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900">
                <a:solidFill>
                  <a:schemeClr val="dk1"/>
                </a:solidFill>
                <a:latin typeface="Times New Roman"/>
                <a:ea typeface="Times New Roman"/>
                <a:cs typeface="Times New Roman"/>
                <a:sym typeface="Times New Roman"/>
              </a:rPr>
              <a:t>                    end</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900">
                <a:solidFill>
                  <a:schemeClr val="dk1"/>
                </a:solidFill>
                <a:latin typeface="Times New Roman"/>
                <a:ea typeface="Times New Roman"/>
                <a:cs typeface="Times New Roman"/>
                <a:sym typeface="Times New Roman"/>
              </a:rPr>
              <a:t>                end</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600">
                <a:solidFill>
                  <a:schemeClr val="dk1"/>
                </a:solidFill>
                <a:latin typeface="Times New Roman"/>
                <a:ea typeface="Times New Roman"/>
                <a:cs typeface="Times New Roman"/>
                <a:sym typeface="Times New Roman"/>
              </a:rPr>
              <a:t>               </a:t>
            </a:r>
            <a:endParaRPr sz="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255" name="Google Shape;255;g38c66511e69_0_13"/>
          <p:cNvSpPr txBox="1"/>
          <p:nvPr/>
        </p:nvSpPr>
        <p:spPr>
          <a:xfrm>
            <a:off x="3983050" y="1299975"/>
            <a:ext cx="4736700" cy="532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600">
                <a:solidFill>
                  <a:schemeClr val="dk1"/>
                </a:solidFill>
                <a:latin typeface="Times New Roman"/>
                <a:ea typeface="Times New Roman"/>
                <a:cs typeface="Times New Roman"/>
                <a:sym typeface="Times New Roman"/>
              </a:rPr>
              <a:t> </a:t>
            </a:r>
            <a:r>
              <a:rPr lang="en-US" sz="900">
                <a:solidFill>
                  <a:schemeClr val="dk1"/>
                </a:solidFill>
                <a:latin typeface="Times New Roman"/>
                <a:ea typeface="Times New Roman"/>
                <a:cs typeface="Times New Roman"/>
                <a:sym typeface="Times New Roman"/>
              </a:rPr>
              <a:t>START: begin</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900">
                <a:solidFill>
                  <a:schemeClr val="dk1"/>
                </a:solidFill>
                <a:latin typeface="Times New Roman"/>
                <a:ea typeface="Times New Roman"/>
                <a:cs typeface="Times New Roman"/>
                <a:sym typeface="Times New Roman"/>
              </a:rPr>
              <a:t>                    tx_serial &lt;= 1'b0;</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900">
                <a:solidFill>
                  <a:schemeClr val="dk1"/>
                </a:solidFill>
                <a:latin typeface="Times New Roman"/>
                <a:ea typeface="Times New Roman"/>
                <a:cs typeface="Times New Roman"/>
                <a:sym typeface="Times New Roman"/>
              </a:rPr>
              <a:t>                    if (clk_count &lt; CLKS_PER_BIT-1)</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900">
                <a:solidFill>
                  <a:schemeClr val="dk1"/>
                </a:solidFill>
                <a:latin typeface="Times New Roman"/>
                <a:ea typeface="Times New Roman"/>
                <a:cs typeface="Times New Roman"/>
                <a:sym typeface="Times New Roman"/>
              </a:rPr>
              <a:t>                        clk_count &lt;= clk_count + 1;</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900">
                <a:solidFill>
                  <a:schemeClr val="dk1"/>
                </a:solidFill>
                <a:latin typeface="Times New Roman"/>
                <a:ea typeface="Times New Roman"/>
                <a:cs typeface="Times New Roman"/>
                <a:sym typeface="Times New Roman"/>
              </a:rPr>
              <a:t>                    else begin</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900">
                <a:solidFill>
                  <a:schemeClr val="dk1"/>
                </a:solidFill>
                <a:latin typeface="Times New Roman"/>
                <a:ea typeface="Times New Roman"/>
                <a:cs typeface="Times New Roman"/>
                <a:sym typeface="Times New Roman"/>
              </a:rPr>
              <a:t>                        clk_count &lt;= 0;</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900">
                <a:solidFill>
                  <a:schemeClr val="dk1"/>
                </a:solidFill>
                <a:latin typeface="Times New Roman"/>
                <a:ea typeface="Times New Roman"/>
                <a:cs typeface="Times New Roman"/>
                <a:sym typeface="Times New Roman"/>
              </a:rPr>
              <a:t>                        state     &lt;= DATA;</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900">
                <a:solidFill>
                  <a:schemeClr val="dk1"/>
                </a:solidFill>
                <a:latin typeface="Times New Roman"/>
                <a:ea typeface="Times New Roman"/>
                <a:cs typeface="Times New Roman"/>
                <a:sym typeface="Times New Roman"/>
              </a:rPr>
              <a:t>                    end</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900">
                <a:solidFill>
                  <a:schemeClr val="dk1"/>
                </a:solidFill>
                <a:latin typeface="Times New Roman"/>
                <a:ea typeface="Times New Roman"/>
                <a:cs typeface="Times New Roman"/>
                <a:sym typeface="Times New Roman"/>
              </a:rPr>
              <a:t>                end</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900">
                <a:solidFill>
                  <a:schemeClr val="dk1"/>
                </a:solidFill>
                <a:latin typeface="Times New Roman"/>
                <a:ea typeface="Times New Roman"/>
                <a:cs typeface="Times New Roman"/>
                <a:sym typeface="Times New Roman"/>
              </a:rPr>
              <a:t>                DATA: begin</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900">
                <a:solidFill>
                  <a:schemeClr val="dk1"/>
                </a:solidFill>
                <a:latin typeface="Times New Roman"/>
                <a:ea typeface="Times New Roman"/>
                <a:cs typeface="Times New Roman"/>
                <a:sym typeface="Times New Roman"/>
              </a:rPr>
              <a:t>                    tx_serial &lt;= tx_shift[bit_index];</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900">
                <a:solidFill>
                  <a:schemeClr val="dk1"/>
                </a:solidFill>
                <a:latin typeface="Times New Roman"/>
                <a:ea typeface="Times New Roman"/>
                <a:cs typeface="Times New Roman"/>
                <a:sym typeface="Times New Roman"/>
              </a:rPr>
              <a:t>                    if (clk_count &lt; CLKS_PER_BIT-1)</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900">
                <a:solidFill>
                  <a:schemeClr val="dk1"/>
                </a:solidFill>
                <a:latin typeface="Times New Roman"/>
                <a:ea typeface="Times New Roman"/>
                <a:cs typeface="Times New Roman"/>
                <a:sym typeface="Times New Roman"/>
              </a:rPr>
              <a:t>                        clk_count &lt;= clk_count + 1;</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900">
                <a:solidFill>
                  <a:schemeClr val="dk1"/>
                </a:solidFill>
                <a:latin typeface="Times New Roman"/>
                <a:ea typeface="Times New Roman"/>
                <a:cs typeface="Times New Roman"/>
                <a:sym typeface="Times New Roman"/>
              </a:rPr>
              <a:t>                    else begin</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900">
                <a:solidFill>
                  <a:schemeClr val="dk1"/>
                </a:solidFill>
                <a:latin typeface="Times New Roman"/>
                <a:ea typeface="Times New Roman"/>
                <a:cs typeface="Times New Roman"/>
                <a:sym typeface="Times New Roman"/>
              </a:rPr>
              <a:t>                        clk_count &lt;= 0;</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900">
                <a:solidFill>
                  <a:schemeClr val="dk1"/>
                </a:solidFill>
                <a:latin typeface="Times New Roman"/>
                <a:ea typeface="Times New Roman"/>
                <a:cs typeface="Times New Roman"/>
                <a:sym typeface="Times New Roman"/>
              </a:rPr>
              <a:t>                        if (bit_index &lt; 7)</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900">
                <a:solidFill>
                  <a:schemeClr val="dk1"/>
                </a:solidFill>
                <a:latin typeface="Times New Roman"/>
                <a:ea typeface="Times New Roman"/>
                <a:cs typeface="Times New Roman"/>
                <a:sym typeface="Times New Roman"/>
              </a:rPr>
              <a:t>                            bit_index &lt;= bit_index + 1;</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900">
                <a:solidFill>
                  <a:schemeClr val="dk1"/>
                </a:solidFill>
                <a:latin typeface="Times New Roman"/>
                <a:ea typeface="Times New Roman"/>
                <a:cs typeface="Times New Roman"/>
                <a:sym typeface="Times New Roman"/>
              </a:rPr>
              <a:t>                        else begin</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900">
                <a:solidFill>
                  <a:schemeClr val="dk1"/>
                </a:solidFill>
                <a:latin typeface="Times New Roman"/>
                <a:ea typeface="Times New Roman"/>
                <a:cs typeface="Times New Roman"/>
                <a:sym typeface="Times New Roman"/>
              </a:rPr>
              <a:t>                            bit_index &lt;= 0;</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900">
                <a:solidFill>
                  <a:schemeClr val="dk1"/>
                </a:solidFill>
                <a:latin typeface="Times New Roman"/>
                <a:ea typeface="Times New Roman"/>
                <a:cs typeface="Times New Roman"/>
                <a:sym typeface="Times New Roman"/>
              </a:rPr>
              <a:t>                            state     &lt;= STOP;</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900">
                <a:solidFill>
                  <a:schemeClr val="dk1"/>
                </a:solidFill>
                <a:latin typeface="Times New Roman"/>
                <a:ea typeface="Times New Roman"/>
                <a:cs typeface="Times New Roman"/>
                <a:sym typeface="Times New Roman"/>
              </a:rPr>
              <a:t>                        end</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900">
                <a:solidFill>
                  <a:schemeClr val="dk1"/>
                </a:solidFill>
                <a:latin typeface="Times New Roman"/>
                <a:ea typeface="Times New Roman"/>
                <a:cs typeface="Times New Roman"/>
                <a:sym typeface="Times New Roman"/>
              </a:rPr>
              <a:t>                    end</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900">
                <a:solidFill>
                  <a:schemeClr val="dk1"/>
                </a:solidFill>
                <a:latin typeface="Times New Roman"/>
                <a:ea typeface="Times New Roman"/>
                <a:cs typeface="Times New Roman"/>
                <a:sym typeface="Times New Roman"/>
              </a:rPr>
              <a:t>                end</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900">
                <a:solidFill>
                  <a:schemeClr val="dk1"/>
                </a:solidFill>
                <a:latin typeface="Times New Roman"/>
                <a:ea typeface="Times New Roman"/>
                <a:cs typeface="Times New Roman"/>
                <a:sym typeface="Times New Roman"/>
              </a:rPr>
              <a:t>                STOP: begin</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900">
                <a:solidFill>
                  <a:schemeClr val="dk1"/>
                </a:solidFill>
                <a:latin typeface="Times New Roman"/>
                <a:ea typeface="Times New Roman"/>
                <a:cs typeface="Times New Roman"/>
                <a:sym typeface="Times New Roman"/>
              </a:rPr>
              <a:t>                    tx_serial &lt;= 1'b1;</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900">
                <a:solidFill>
                  <a:schemeClr val="dk1"/>
                </a:solidFill>
                <a:latin typeface="Times New Roman"/>
                <a:ea typeface="Times New Roman"/>
                <a:cs typeface="Times New Roman"/>
                <a:sym typeface="Times New Roman"/>
              </a:rPr>
              <a:t>                    if (clk_count &lt; CLKS_PER_BIT-1)</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900">
                <a:solidFill>
                  <a:schemeClr val="dk1"/>
                </a:solidFill>
                <a:latin typeface="Times New Roman"/>
                <a:ea typeface="Times New Roman"/>
                <a:cs typeface="Times New Roman"/>
                <a:sym typeface="Times New Roman"/>
              </a:rPr>
              <a:t>                        clk_count &lt;= clk_count + 1;</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900">
                <a:solidFill>
                  <a:schemeClr val="dk1"/>
                </a:solidFill>
                <a:latin typeface="Times New Roman"/>
                <a:ea typeface="Times New Roman"/>
                <a:cs typeface="Times New Roman"/>
                <a:sym typeface="Times New Roman"/>
              </a:rPr>
              <a:t>                    else begin</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900">
                <a:solidFill>
                  <a:schemeClr val="dk1"/>
                </a:solidFill>
                <a:latin typeface="Times New Roman"/>
                <a:ea typeface="Times New Roman"/>
                <a:cs typeface="Times New Roman"/>
                <a:sym typeface="Times New Roman"/>
              </a:rPr>
              <a:t>                        clk_count &lt;= 0;</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900">
                <a:solidFill>
                  <a:schemeClr val="dk1"/>
                </a:solidFill>
                <a:latin typeface="Times New Roman"/>
                <a:ea typeface="Times New Roman"/>
                <a:cs typeface="Times New Roman"/>
                <a:sym typeface="Times New Roman"/>
              </a:rPr>
              <a:t>                        state     &lt;= IDLE;</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900">
                <a:solidFill>
                  <a:schemeClr val="dk1"/>
                </a:solidFill>
                <a:latin typeface="Times New Roman"/>
                <a:ea typeface="Times New Roman"/>
                <a:cs typeface="Times New Roman"/>
                <a:sym typeface="Times New Roman"/>
              </a:rPr>
              <a:t>                        tx_busy   &lt;= 0;</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900">
                <a:solidFill>
                  <a:schemeClr val="dk1"/>
                </a:solidFill>
                <a:latin typeface="Times New Roman"/>
                <a:ea typeface="Times New Roman"/>
                <a:cs typeface="Times New Roman"/>
                <a:sym typeface="Times New Roman"/>
              </a:rPr>
              <a:t>                    end</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900">
                <a:solidFill>
                  <a:schemeClr val="dk1"/>
                </a:solidFill>
                <a:latin typeface="Times New Roman"/>
                <a:ea typeface="Times New Roman"/>
                <a:cs typeface="Times New Roman"/>
                <a:sym typeface="Times New Roman"/>
              </a:rPr>
              <a:t>                end</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900">
                <a:solidFill>
                  <a:schemeClr val="dk1"/>
                </a:solidFill>
                <a:latin typeface="Times New Roman"/>
                <a:ea typeface="Times New Roman"/>
                <a:cs typeface="Times New Roman"/>
                <a:sym typeface="Times New Roman"/>
              </a:rPr>
              <a:t>            endcase</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900">
                <a:solidFill>
                  <a:schemeClr val="dk1"/>
                </a:solidFill>
                <a:latin typeface="Times New Roman"/>
                <a:ea typeface="Times New Roman"/>
                <a:cs typeface="Times New Roman"/>
                <a:sym typeface="Times New Roman"/>
              </a:rPr>
              <a:t>        end</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900">
                <a:solidFill>
                  <a:schemeClr val="dk1"/>
                </a:solidFill>
                <a:latin typeface="Times New Roman"/>
                <a:ea typeface="Times New Roman"/>
                <a:cs typeface="Times New Roman"/>
                <a:sym typeface="Times New Roman"/>
              </a:rPr>
              <a:t>    end</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900">
                <a:solidFill>
                  <a:schemeClr val="dk1"/>
                </a:solidFill>
                <a:latin typeface="Times New Roman"/>
                <a:ea typeface="Times New Roman"/>
                <a:cs typeface="Times New Roman"/>
                <a:sym typeface="Times New Roman"/>
              </a:rPr>
              <a:t>endmodule</a:t>
            </a:r>
            <a:endParaRPr sz="12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g38c66511e69_0_28"/>
          <p:cNvSpPr/>
          <p:nvPr/>
        </p:nvSpPr>
        <p:spPr>
          <a:xfrm>
            <a:off x="0" y="0"/>
            <a:ext cx="9144000" cy="1135500"/>
          </a:xfrm>
          <a:prstGeom prst="rect">
            <a:avLst/>
          </a:prstGeom>
          <a:solidFill>
            <a:srgbClr val="B01B2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chemeClr val="lt1"/>
                </a:solidFill>
                <a:latin typeface="Arial"/>
                <a:ea typeface="Arial"/>
                <a:cs typeface="Arial"/>
                <a:sym typeface="Arial"/>
              </a:rPr>
              <a:t>Work done for Review-1</a:t>
            </a:r>
            <a:endParaRPr b="1" i="0" sz="3000" u="none" cap="none" strike="noStrike">
              <a:solidFill>
                <a:schemeClr val="lt1"/>
              </a:solidFill>
              <a:latin typeface="Arial"/>
              <a:ea typeface="Arial"/>
              <a:cs typeface="Arial"/>
              <a:sym typeface="Arial"/>
            </a:endParaRPr>
          </a:p>
        </p:txBody>
      </p:sp>
      <p:pic>
        <p:nvPicPr>
          <p:cNvPr id="262" name="Google Shape;262;g38c66511e69_0_28"/>
          <p:cNvPicPr preferRelativeResize="0"/>
          <p:nvPr/>
        </p:nvPicPr>
        <p:blipFill rotWithShape="1">
          <a:blip r:embed="rId3">
            <a:alphaModFix/>
          </a:blip>
          <a:srcRect b="0" l="0" r="0" t="0"/>
          <a:stretch/>
        </p:blipFill>
        <p:spPr>
          <a:xfrm>
            <a:off x="7885085" y="5665838"/>
            <a:ext cx="1174719" cy="1152343"/>
          </a:xfrm>
          <a:prstGeom prst="rect">
            <a:avLst/>
          </a:prstGeom>
          <a:noFill/>
          <a:ln>
            <a:noFill/>
          </a:ln>
        </p:spPr>
      </p:pic>
      <p:sp>
        <p:nvSpPr>
          <p:cNvPr id="263" name="Google Shape;263;g38c66511e69_0_28"/>
          <p:cNvSpPr/>
          <p:nvPr/>
        </p:nvSpPr>
        <p:spPr>
          <a:xfrm>
            <a:off x="442451" y="6891120"/>
            <a:ext cx="9144000" cy="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
        <p:nvSpPr>
          <p:cNvPr id="264" name="Google Shape;264;g38c66511e69_0_28"/>
          <p:cNvSpPr txBox="1"/>
          <p:nvPr/>
        </p:nvSpPr>
        <p:spPr>
          <a:xfrm>
            <a:off x="155550" y="1299975"/>
            <a:ext cx="4416600" cy="514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//UART RECEIVER</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module uart_rx #(</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parameter CLK_FREQ = 50_000_000,</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parameter BAUD_RATE = 9600</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input  logic       clk,</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input  logic       rst_n,</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input  logic       rx_serial,</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output logic [7:0] rx_data,</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output logic       rx_valid</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localparam integer CLKS_PER_BIT = CLK_FREQ / BAUD_RATE;</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typedef enum logic [2:0] {IDLE, START, DATA, STOP, DONE} state_t;</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state_t state;</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logic [15:0] clk_count;</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logic [2:0]  bit_index;</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logic [7:0]  rx_shift;</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always_ff @(posedge clk or negedge rst_n) begin</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if (!rst_n) begin</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state     &lt;= IDLE;</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clk_count &lt;= 0;</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bit_index &lt;= 0;</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rx_data   &lt;= 0;</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rx_valid  &lt;= 0;</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end else begin</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case (state)</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IDLE: begin</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rx_valid &lt;= 0;</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if (rx_serial == 0) begin // start bit</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state     &lt;= START;</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clk_count &lt;= 0;</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end</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end</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600">
                <a:solidFill>
                  <a:schemeClr val="dk1"/>
                </a:solidFill>
                <a:latin typeface="Times New Roman"/>
                <a:ea typeface="Times New Roman"/>
                <a:cs typeface="Times New Roman"/>
                <a:sym typeface="Times New Roman"/>
              </a:rPr>
              <a:t>               </a:t>
            </a:r>
            <a:endParaRPr sz="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265" name="Google Shape;265;g38c66511e69_0_28"/>
          <p:cNvSpPr txBox="1"/>
          <p:nvPr/>
        </p:nvSpPr>
        <p:spPr>
          <a:xfrm>
            <a:off x="3983050" y="1135500"/>
            <a:ext cx="4736700" cy="549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START: begin</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if (clk_count == (CLKS_PER_BIT/2)) begin</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if (rx_serial == 0) begin</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clk_count &lt;= 0;</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state &lt;= DATA;</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end else</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state &lt;= IDLE;</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end else</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clk_count &lt;= clk_count + 1;</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end</a:t>
            </a:r>
            <a:r>
              <a:rPr lang="en-US" sz="900">
                <a:solidFill>
                  <a:schemeClr val="dk1"/>
                </a:solidFill>
                <a:latin typeface="Times New Roman"/>
                <a:ea typeface="Times New Roman"/>
                <a:cs typeface="Times New Roman"/>
                <a:sym typeface="Times New Roman"/>
              </a:rPr>
              <a:t> </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DATA: begin</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if (clk_count &lt; CLKS_PER_BIT-1)</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clk_count &lt;= clk_count + 1;</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else begin</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clk_count &lt;= 0;</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rx_shift[bit_index] &lt;= rx_serial;</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if (bit_index &lt; 7)</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bit_index &lt;= bit_index + 1;</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else begin</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bit_index &lt;= 0;</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state &lt;= STOP;</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end</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end</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end</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STOP: begin</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if (clk_count &lt; CLKS_PER_BIT-1)</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clk_count &lt;= clk_count + 1;</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else begin</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clk_count &lt;= 0;</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state &lt;= DONE;</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end</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end</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DONE: begin</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rx_data  &lt;= rx_shift;</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rx_valid &lt;= 1;</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state    &lt;= IDLE;</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end</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endcase</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end</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end</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endmodule</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900">
              <a:solidFill>
                <a:schemeClr val="dk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g38c66511e69_0_39"/>
          <p:cNvSpPr/>
          <p:nvPr/>
        </p:nvSpPr>
        <p:spPr>
          <a:xfrm>
            <a:off x="0" y="0"/>
            <a:ext cx="9144000" cy="1135500"/>
          </a:xfrm>
          <a:prstGeom prst="rect">
            <a:avLst/>
          </a:prstGeom>
          <a:solidFill>
            <a:srgbClr val="B01B2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chemeClr val="lt1"/>
                </a:solidFill>
                <a:latin typeface="Arial"/>
                <a:ea typeface="Arial"/>
                <a:cs typeface="Arial"/>
                <a:sym typeface="Arial"/>
              </a:rPr>
              <a:t>Work done for Review-1</a:t>
            </a:r>
            <a:endParaRPr b="1" i="0" sz="3000" u="none" cap="none" strike="noStrike">
              <a:solidFill>
                <a:schemeClr val="lt1"/>
              </a:solidFill>
              <a:latin typeface="Arial"/>
              <a:ea typeface="Arial"/>
              <a:cs typeface="Arial"/>
              <a:sym typeface="Arial"/>
            </a:endParaRPr>
          </a:p>
        </p:txBody>
      </p:sp>
      <p:pic>
        <p:nvPicPr>
          <p:cNvPr id="272" name="Google Shape;272;g38c66511e69_0_39"/>
          <p:cNvPicPr preferRelativeResize="0"/>
          <p:nvPr/>
        </p:nvPicPr>
        <p:blipFill rotWithShape="1">
          <a:blip r:embed="rId3">
            <a:alphaModFix/>
          </a:blip>
          <a:srcRect b="0" l="0" r="0" t="0"/>
          <a:stretch/>
        </p:blipFill>
        <p:spPr>
          <a:xfrm>
            <a:off x="7885085" y="5665838"/>
            <a:ext cx="1174719" cy="1152343"/>
          </a:xfrm>
          <a:prstGeom prst="rect">
            <a:avLst/>
          </a:prstGeom>
          <a:noFill/>
          <a:ln>
            <a:noFill/>
          </a:ln>
        </p:spPr>
      </p:pic>
      <p:sp>
        <p:nvSpPr>
          <p:cNvPr id="273" name="Google Shape;273;g38c66511e69_0_39"/>
          <p:cNvSpPr/>
          <p:nvPr/>
        </p:nvSpPr>
        <p:spPr>
          <a:xfrm>
            <a:off x="442451" y="6891120"/>
            <a:ext cx="9144000" cy="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
        <p:nvSpPr>
          <p:cNvPr id="274" name="Google Shape;274;g38c66511e69_0_39"/>
          <p:cNvSpPr txBox="1"/>
          <p:nvPr/>
        </p:nvSpPr>
        <p:spPr>
          <a:xfrm>
            <a:off x="155550" y="1299975"/>
            <a:ext cx="4416600" cy="514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//TESTBENCH </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module tb_uart;</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parameter CLK_PERIOD = 20; // 50 MHz</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parameter CLK_FREQ   = 50_000_000;</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parameter BAUD_RATE  = 9600;</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logic clk, rst_n;</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logic [7:0] tx_data;</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logic       tx_start;</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logic       tx_serial;</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logic       tx_busy;</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logic [7:0] rx_data;</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logic       rx_valid;</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 Instantiate TX and RX </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uart_tx #(.CLK_FREQ(CLK_FREQ), .BAUD_RATE(BAUD_RATE)) TX (</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.clk(clk), .rst_n(rst_n), .tx_data(tx_data),</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.tx_start(tx_start), .tx_serial(tx_serial), .tx_busy(tx_busy)</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uart_rx #(.CLK_FREQ(CLK_FREQ), .BAUD_RATE(BAUD_RATE)) RX (</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.clk(clk), .rst_n(rst_n), .rx_serial(tx_serial),</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.rx_data(rx_data), .rx_valid(rx_valid)</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always #(CLK_PERIOD/2) clk = ~clk;</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600">
                <a:solidFill>
                  <a:schemeClr val="dk1"/>
                </a:solidFill>
                <a:latin typeface="Times New Roman"/>
                <a:ea typeface="Times New Roman"/>
                <a:cs typeface="Times New Roman"/>
                <a:sym typeface="Times New Roman"/>
              </a:rPr>
              <a:t>               </a:t>
            </a:r>
            <a:endParaRPr sz="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275" name="Google Shape;275;g38c66511e69_0_39"/>
          <p:cNvSpPr txBox="1"/>
          <p:nvPr/>
        </p:nvSpPr>
        <p:spPr>
          <a:xfrm>
            <a:off x="3983050" y="1135500"/>
            <a:ext cx="4736700" cy="549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a:t>
            </a:r>
            <a:r>
              <a:rPr lang="en-US" sz="900">
                <a:solidFill>
                  <a:schemeClr val="dk1"/>
                </a:solidFill>
                <a:latin typeface="Times New Roman"/>
                <a:ea typeface="Times New Roman"/>
                <a:cs typeface="Times New Roman"/>
                <a:sym typeface="Times New Roman"/>
              </a:rPr>
              <a:t>    </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initial begin</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$dumpfile("uart_wave.vcd");</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$dumpvars(0, tb_uart);</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clk = 0;</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rst_n = 0;</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tx_data = 8'h00;</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tx_start = 0;</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#200 rst_n = 1;</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send_byte(8'h55);</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send_byte(8'hA5);</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send_byte(8'h3C);</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#50000;</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$display("\nSimulation complete ");</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$finish;</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end</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task send_byte(input [7:0] data);</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begin</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@(posedge clk);</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while (tx_busy) @(posedge clk);</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tx_data = data;</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tx_start = 1;</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@(posedge clk);</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tx_start = 0;</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$display("[%0t] TX -&gt; Sent Byte = 0x%0h", $time, data);</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wait(rx_valid);</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$display("[%0t] RX -&gt; Received Byte = 0x%0h", $time, rx_data);</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end</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endtask</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endmodule</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900">
              <a:solidFill>
                <a:schemeClr val="dk1"/>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g38c66511e69_0_49"/>
          <p:cNvSpPr/>
          <p:nvPr/>
        </p:nvSpPr>
        <p:spPr>
          <a:xfrm>
            <a:off x="0" y="0"/>
            <a:ext cx="9144000" cy="1135500"/>
          </a:xfrm>
          <a:prstGeom prst="rect">
            <a:avLst/>
          </a:prstGeom>
          <a:solidFill>
            <a:srgbClr val="B01B2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chemeClr val="lt1"/>
                </a:solidFill>
                <a:latin typeface="Arial"/>
                <a:ea typeface="Arial"/>
                <a:cs typeface="Arial"/>
                <a:sym typeface="Arial"/>
              </a:rPr>
              <a:t>Work done for Review-1</a:t>
            </a:r>
            <a:endParaRPr b="1" i="0" sz="3000" u="none" cap="none" strike="noStrike">
              <a:solidFill>
                <a:schemeClr val="lt1"/>
              </a:solidFill>
              <a:latin typeface="Arial"/>
              <a:ea typeface="Arial"/>
              <a:cs typeface="Arial"/>
              <a:sym typeface="Arial"/>
            </a:endParaRPr>
          </a:p>
        </p:txBody>
      </p:sp>
      <p:pic>
        <p:nvPicPr>
          <p:cNvPr id="282" name="Google Shape;282;g38c66511e69_0_49"/>
          <p:cNvPicPr preferRelativeResize="0"/>
          <p:nvPr/>
        </p:nvPicPr>
        <p:blipFill rotWithShape="1">
          <a:blip r:embed="rId3">
            <a:alphaModFix/>
          </a:blip>
          <a:srcRect b="0" l="0" r="0" t="0"/>
          <a:stretch/>
        </p:blipFill>
        <p:spPr>
          <a:xfrm>
            <a:off x="7885085" y="5665838"/>
            <a:ext cx="1174719" cy="1152343"/>
          </a:xfrm>
          <a:prstGeom prst="rect">
            <a:avLst/>
          </a:prstGeom>
          <a:noFill/>
          <a:ln>
            <a:noFill/>
          </a:ln>
        </p:spPr>
      </p:pic>
      <p:sp>
        <p:nvSpPr>
          <p:cNvPr id="283" name="Google Shape;283;g38c66511e69_0_49"/>
          <p:cNvSpPr/>
          <p:nvPr/>
        </p:nvSpPr>
        <p:spPr>
          <a:xfrm>
            <a:off x="442451" y="6891120"/>
            <a:ext cx="9144000" cy="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
        <p:nvSpPr>
          <p:cNvPr id="284" name="Google Shape;284;g38c66511e69_0_49"/>
          <p:cNvSpPr txBox="1"/>
          <p:nvPr/>
        </p:nvSpPr>
        <p:spPr>
          <a:xfrm>
            <a:off x="155550" y="1299975"/>
            <a:ext cx="4416600" cy="514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600">
                <a:solidFill>
                  <a:schemeClr val="dk1"/>
                </a:solidFill>
                <a:latin typeface="Times New Roman"/>
                <a:ea typeface="Times New Roman"/>
                <a:cs typeface="Times New Roman"/>
                <a:sym typeface="Times New Roman"/>
              </a:rPr>
              <a:t>               </a:t>
            </a:r>
            <a:endParaRPr sz="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285" name="Google Shape;285;g38c66511e69_0_49"/>
          <p:cNvSpPr txBox="1"/>
          <p:nvPr/>
        </p:nvSpPr>
        <p:spPr>
          <a:xfrm>
            <a:off x="3983050" y="1135500"/>
            <a:ext cx="4736700" cy="549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900">
                <a:solidFill>
                  <a:schemeClr val="dk1"/>
                </a:solidFill>
                <a:latin typeface="Times New Roman"/>
                <a:ea typeface="Times New Roman"/>
                <a:cs typeface="Times New Roman"/>
                <a:sym typeface="Times New Roman"/>
              </a:rPr>
              <a:t>  </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900">
              <a:solidFill>
                <a:schemeClr val="dk1"/>
              </a:solidFill>
              <a:latin typeface="Times New Roman"/>
              <a:ea typeface="Times New Roman"/>
              <a:cs typeface="Times New Roman"/>
              <a:sym typeface="Times New Roman"/>
            </a:endParaRPr>
          </a:p>
        </p:txBody>
      </p:sp>
      <p:pic>
        <p:nvPicPr>
          <p:cNvPr id="286" name="Google Shape;286;g38c66511e69_0_49"/>
          <p:cNvPicPr preferRelativeResize="0"/>
          <p:nvPr/>
        </p:nvPicPr>
        <p:blipFill>
          <a:blip r:embed="rId4">
            <a:alphaModFix/>
          </a:blip>
          <a:stretch>
            <a:fillRect/>
          </a:stretch>
        </p:blipFill>
        <p:spPr>
          <a:xfrm>
            <a:off x="2112050" y="1135500"/>
            <a:ext cx="4733925" cy="1290075"/>
          </a:xfrm>
          <a:prstGeom prst="rect">
            <a:avLst/>
          </a:prstGeom>
          <a:noFill/>
          <a:ln>
            <a:noFill/>
          </a:ln>
        </p:spPr>
      </p:pic>
      <p:pic>
        <p:nvPicPr>
          <p:cNvPr id="287" name="Google Shape;287;g38c66511e69_0_49"/>
          <p:cNvPicPr preferRelativeResize="0"/>
          <p:nvPr/>
        </p:nvPicPr>
        <p:blipFill>
          <a:blip r:embed="rId5">
            <a:alphaModFix/>
          </a:blip>
          <a:stretch>
            <a:fillRect/>
          </a:stretch>
        </p:blipFill>
        <p:spPr>
          <a:xfrm>
            <a:off x="152400" y="2319750"/>
            <a:ext cx="9144001" cy="430634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7"/>
          <p:cNvSpPr/>
          <p:nvPr/>
        </p:nvSpPr>
        <p:spPr>
          <a:xfrm>
            <a:off x="0" y="0"/>
            <a:ext cx="9144000" cy="1135500"/>
          </a:xfrm>
          <a:prstGeom prst="rect">
            <a:avLst/>
          </a:prstGeom>
          <a:solidFill>
            <a:srgbClr val="B01B2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chemeClr val="lt1"/>
                </a:solidFill>
                <a:latin typeface="Arial"/>
                <a:ea typeface="Arial"/>
                <a:cs typeface="Arial"/>
                <a:sym typeface="Arial"/>
              </a:rPr>
              <a:t>References</a:t>
            </a:r>
            <a:endParaRPr b="1" i="0" sz="3000" u="none" cap="none" strike="noStrike">
              <a:solidFill>
                <a:schemeClr val="lt1"/>
              </a:solidFill>
              <a:latin typeface="Arial"/>
              <a:ea typeface="Arial"/>
              <a:cs typeface="Arial"/>
              <a:sym typeface="Arial"/>
            </a:endParaRPr>
          </a:p>
        </p:txBody>
      </p:sp>
      <p:pic>
        <p:nvPicPr>
          <p:cNvPr id="293" name="Google Shape;293;p47"/>
          <p:cNvPicPr preferRelativeResize="0"/>
          <p:nvPr/>
        </p:nvPicPr>
        <p:blipFill rotWithShape="1">
          <a:blip r:embed="rId3">
            <a:alphaModFix/>
          </a:blip>
          <a:srcRect b="0" l="0" r="0" t="0"/>
          <a:stretch/>
        </p:blipFill>
        <p:spPr>
          <a:xfrm>
            <a:off x="7828731" y="5543662"/>
            <a:ext cx="1174719" cy="1152343"/>
          </a:xfrm>
          <a:prstGeom prst="rect">
            <a:avLst/>
          </a:prstGeom>
          <a:noFill/>
          <a:ln>
            <a:noFill/>
          </a:ln>
        </p:spPr>
      </p:pic>
      <p:sp>
        <p:nvSpPr>
          <p:cNvPr id="294" name="Google Shape;294;p47"/>
          <p:cNvSpPr txBox="1"/>
          <p:nvPr/>
        </p:nvSpPr>
        <p:spPr>
          <a:xfrm>
            <a:off x="127819" y="1337187"/>
            <a:ext cx="8875500" cy="69573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1. Wei Ni, Xiaotian Wang, “Functional Coverage-Driven UVM-based UART IP Verification”, IEEE 11th International Conference on ASIC  (ASICON), 21 July 2016.</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2. Kumari Amrita, Avantika Kumari, “Design And Verification Of Uart Using Verilog Hdl”, International conference on Recent innovations in Management, Engineering, Science and Technology, RIMEST, 2018.</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3. Spear, Chris, Tumbush, Greg, “SystemVerilog for Verification” Book.</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4. Doron Bustan, Dmitry Korchemny, Erik Seligman, Jin Yang, “SystemVerilog Assertions: Past, Present, and Future SVA Standardization Experience”, IEEE Design &amp; Test of Computers, Volume: 29 , Issue: 2 , April 2012.</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5. Renduchinthala H H S S Prasad, Ch. Santhi Rani, ”UART IP Core Verification by using UVM”, International Journal of Industrial Electronics and Electrical Engineering, ISSN: 2347-6982, Volume-4, Issue-7, Jul.-2016</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6. Mahat, Nennie Farina. "Design of a 9-bit UART module based on Verilog HDL." Semiconductor Electronics (ICSE), 2012 10th IEEE International Conference on 2012.</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7. Ambika, Prof. Anuradha S, “High Speed UART Design Using Verilog”, International Journal of Advanced Research in Computer and Communication Engineering Vol. 5, Issue 2, February 2016.</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t/>
            </a:r>
            <a:endParaRPr>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g3947ad69879_0_16"/>
          <p:cNvSpPr txBox="1"/>
          <p:nvPr>
            <p:ph idx="1" type="body"/>
          </p:nvPr>
        </p:nvSpPr>
        <p:spPr>
          <a:xfrm>
            <a:off x="79750" y="1251350"/>
            <a:ext cx="8559300" cy="5330400"/>
          </a:xfrm>
          <a:prstGeom prst="rect">
            <a:avLst/>
          </a:prstGeom>
          <a:noFill/>
          <a:ln>
            <a:noFill/>
          </a:ln>
        </p:spPr>
        <p:txBody>
          <a:bodyPr anchorCtr="0" anchor="t" bIns="45700" lIns="91425" spcFirstLastPara="1" rIns="91425" wrap="square" tIns="45700">
            <a:noAutofit/>
          </a:bodyPr>
          <a:lstStyle/>
          <a:p>
            <a:pPr indent="0" lvl="0" marL="0" rtl="0" algn="just">
              <a:lnSpc>
                <a:spcPct val="115000"/>
              </a:lnSpc>
              <a:spcBef>
                <a:spcPts val="1000"/>
              </a:spcBef>
              <a:spcAft>
                <a:spcPts val="0"/>
              </a:spcAft>
              <a:buClr>
                <a:schemeClr val="dk1"/>
              </a:buClr>
              <a:buSzPts val="1100"/>
              <a:buFont typeface="Arial"/>
              <a:buNone/>
            </a:pPr>
            <a:r>
              <a:t/>
            </a:r>
            <a:endParaRPr b="1" sz="2400">
              <a:latin typeface="Arial"/>
              <a:ea typeface="Arial"/>
              <a:cs typeface="Arial"/>
              <a:sym typeface="Arial"/>
            </a:endParaRPr>
          </a:p>
          <a:p>
            <a:pPr indent="0" lvl="0" marL="0" rtl="0" algn="just">
              <a:lnSpc>
                <a:spcPct val="115000"/>
              </a:lnSpc>
              <a:spcBef>
                <a:spcPts val="1200"/>
              </a:spcBef>
              <a:spcAft>
                <a:spcPts val="1200"/>
              </a:spcAft>
              <a:buClr>
                <a:schemeClr val="dk1"/>
              </a:buClr>
              <a:buSzPts val="1100"/>
              <a:buFont typeface="Arial"/>
              <a:buNone/>
            </a:pPr>
            <a:r>
              <a:rPr lang="en-US" sz="2400">
                <a:latin typeface="Arial"/>
                <a:ea typeface="Arial"/>
                <a:cs typeface="Arial"/>
                <a:sym typeface="Arial"/>
              </a:rPr>
              <a:t>The UART design is currently in progress and demonstrates the core functionality for serial communication, including basic transmit and receive logic. The initial framework for data framing, parity generation, and timing control has been implemented. Once design completed, it will provide reliable data transfer between digital systems. Overall, the design is progressing well toward a fully functional UART communication module.</a:t>
            </a:r>
            <a:endParaRPr sz="2400">
              <a:latin typeface="Arial"/>
              <a:ea typeface="Arial"/>
              <a:cs typeface="Arial"/>
              <a:sym typeface="Arial"/>
            </a:endParaRPr>
          </a:p>
        </p:txBody>
      </p:sp>
      <p:sp>
        <p:nvSpPr>
          <p:cNvPr id="300" name="Google Shape;300;g3947ad69879_0_16"/>
          <p:cNvSpPr/>
          <p:nvPr/>
        </p:nvSpPr>
        <p:spPr>
          <a:xfrm>
            <a:off x="0" y="0"/>
            <a:ext cx="9144000" cy="1135500"/>
          </a:xfrm>
          <a:prstGeom prst="rect">
            <a:avLst/>
          </a:prstGeom>
          <a:solidFill>
            <a:srgbClr val="B01B2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chemeClr val="lt1"/>
                </a:solidFill>
                <a:latin typeface="Arial"/>
                <a:ea typeface="Arial"/>
                <a:cs typeface="Arial"/>
                <a:sym typeface="Arial"/>
              </a:rPr>
              <a:t>Conclusion</a:t>
            </a:r>
            <a:endParaRPr b="1" i="0" sz="3000" u="none" cap="none" strike="noStrike">
              <a:solidFill>
                <a:schemeClr val="lt1"/>
              </a:solidFill>
              <a:latin typeface="Arial"/>
              <a:ea typeface="Arial"/>
              <a:cs typeface="Arial"/>
              <a:sym typeface="Arial"/>
            </a:endParaRPr>
          </a:p>
        </p:txBody>
      </p:sp>
      <p:pic>
        <p:nvPicPr>
          <p:cNvPr id="301" name="Google Shape;301;g3947ad69879_0_16"/>
          <p:cNvPicPr preferRelativeResize="0"/>
          <p:nvPr/>
        </p:nvPicPr>
        <p:blipFill rotWithShape="1">
          <a:blip r:embed="rId3">
            <a:alphaModFix/>
          </a:blip>
          <a:srcRect b="0" l="0" r="0" t="0"/>
          <a:stretch/>
        </p:blipFill>
        <p:spPr>
          <a:xfrm>
            <a:off x="7937588" y="5570876"/>
            <a:ext cx="1174719" cy="1152343"/>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pic>
        <p:nvPicPr>
          <p:cNvPr descr="Thank You Images – Browse 314,654 Stock Photos, Vectors, and Video | Adobe  Stock" id="306" name="Google Shape;306;p49"/>
          <p:cNvPicPr preferRelativeResize="0"/>
          <p:nvPr/>
        </p:nvPicPr>
        <p:blipFill rotWithShape="1">
          <a:blip r:embed="rId3">
            <a:alphaModFix/>
          </a:blip>
          <a:srcRect b="0" l="0" r="0" t="0"/>
          <a:stretch/>
        </p:blipFill>
        <p:spPr>
          <a:xfrm>
            <a:off x="1503114" y="1963238"/>
            <a:ext cx="6269287" cy="266778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