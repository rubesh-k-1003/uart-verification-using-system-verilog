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83" r:id="rId6"/>
    <p:sldId id="265" r:id="rId7"/>
    <p:sldId id="266" r:id="rId8"/>
    <p:sldId id="268" r:id="rId9"/>
    <p:sldId id="271" r:id="rId10"/>
    <p:sldId id="284" r:id="rId11"/>
    <p:sldId id="285" r:id="rId12"/>
    <p:sldId id="287" r:id="rId13"/>
    <p:sldId id="278" r:id="rId14"/>
    <p:sldId id="288" r:id="rId15"/>
    <p:sldId id="289" r:id="rId16"/>
    <p:sldId id="290" r:id="rId17"/>
    <p:sldId id="279" r:id="rId18"/>
    <p:sldId id="281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Fz6oOUV6Zbq7PVwzWQvt8Ti6Z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3321EE-C17E-4128-9709-CE3C54129072}">
  <a:tblStyle styleId="{DC3321EE-C17E-4128-9709-CE3C541290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BA866C1-92CD-40EC-9C3B-37DC41D14C4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06" autoAdjust="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9227A8F3-8BEA-DF25-78C7-403EF590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>
            <a:extLst>
              <a:ext uri="{FF2B5EF4-FFF2-40B4-BE49-F238E27FC236}">
                <a16:creationId xmlns:a16="http://schemas.microsoft.com/office/drawing/2014/main" id="{1B218169-07DE-9861-9AF0-1AF5C2ED1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5:notes">
            <a:extLst>
              <a:ext uri="{FF2B5EF4-FFF2-40B4-BE49-F238E27FC236}">
                <a16:creationId xmlns:a16="http://schemas.microsoft.com/office/drawing/2014/main" id="{68B97C59-7BD6-7001-7F42-5ED534389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4326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47ad69879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947ad6987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95D8D9CB-99BC-E1F9-F997-7A05C070B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A04A692A-98B1-3378-34CB-217154841B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7CA82BAE-F73C-DDCF-CBEB-E21C9EDFE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6413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43AEB55C-E55D-F0C2-83C2-D4C61F5B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D395DBD8-DB8C-2FB1-4470-04BEE5367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38247DDB-F4A1-D3BA-D3B5-76F894DC8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9428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D9BEBA35-63F9-5C5B-6C13-B50D788B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5F681E40-4981-7803-C747-77F08E0C9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44AC8ECA-8541-F609-0F45-EC12A4DEC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6952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c66511e6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8c66511e69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g38c66511e69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C78918AA-FA86-7BBB-3C7F-DAB6C22A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B42A974E-B82D-03FB-2BE9-1291729F3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D98AEE1C-81F3-3B48-00C6-B1435CD4E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1858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309450A-C8DC-7048-0C92-DA7555D9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10C1C365-8B50-A278-605B-5DF05F512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685AB7D5-A0B6-1CAF-25E4-8806E07CC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1675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ABDE0F2F-B297-1426-1BDC-70398C8F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c651119bc_1_6:notes">
            <a:extLst>
              <a:ext uri="{FF2B5EF4-FFF2-40B4-BE49-F238E27FC236}">
                <a16:creationId xmlns:a16="http://schemas.microsoft.com/office/drawing/2014/main" id="{2AFAF4AC-1413-ED74-85B5-5C54C1C178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8c651119bc_1_6:notes">
            <a:extLst>
              <a:ext uri="{FF2B5EF4-FFF2-40B4-BE49-F238E27FC236}">
                <a16:creationId xmlns:a16="http://schemas.microsoft.com/office/drawing/2014/main" id="{D35CADA2-3A84-E176-B0F7-D7BA4D805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8923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8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8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Anna University Logo PNG vector in SVG, PDF, AI, CDR form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9228"/>
            <a:ext cx="2091254" cy="156964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676941" y="311527"/>
            <a:ext cx="602923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College of Engineering Guindy, Anna University, Chennai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3283" y="117353"/>
            <a:ext cx="1415250" cy="165339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4049" y="3123325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</a:rPr>
              <a:t>DESIGN AND VERIFICATION OF UART COMMUNICATION PROTOCOL USING SYSTEM VERILOG</a:t>
            </a:r>
            <a:endParaRPr sz="24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>
              <a:solidFill>
                <a:schemeClr val="lt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720550" y="1606768"/>
            <a:ext cx="414759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EC5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030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Mini Project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389928" y="2137602"/>
            <a:ext cx="447821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for the Final Review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17</a:t>
            </a:r>
            <a:r>
              <a:rPr lang="en-US" sz="2400" b="1" i="0" u="none" strike="noStrike" cap="none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November, 2025.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167529" y="4692330"/>
            <a:ext cx="3711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r>
              <a:rPr lang="en-US" sz="1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Umesh Kanna. K. B    (2022105010)   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Rubesh K                      (2022105702) 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Jaganath 	B                   (2022105522)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 - ECE (</a:t>
            </a:r>
            <a:r>
              <a:rPr lang="en-US" sz="18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</a:t>
            </a:r>
            <a:r>
              <a:rPr lang="en-US" sz="1800" b="1" i="0" u="none" strike="noStrike" cap="none" baseline="30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b="1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year)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65471" y="4692330"/>
            <a:ext cx="31365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S.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 Sriram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CEG Campus, Anna University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body" idx="1"/>
          </p:nvPr>
        </p:nvSpPr>
        <p:spPr>
          <a:xfrm>
            <a:off x="341000" y="1135500"/>
            <a:ext cx="7977000" cy="44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Project Motivation </a:t>
            </a:r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&amp; Objectives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Inferences from the literature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Proposed Methodology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Time line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Conclusion &amp; Future Work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Layout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543662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4329500" y="4768600"/>
            <a:ext cx="484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4293224" y="1312750"/>
            <a:ext cx="4599000" cy="56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b="1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 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40900" y="6503900"/>
            <a:ext cx="45321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0275" y="1031025"/>
            <a:ext cx="9003450" cy="479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UART - Universal Asynchronous Receiver Transmitter</a:t>
            </a:r>
            <a:endParaRPr sz="2200" dirty="0">
              <a:solidFill>
                <a:schemeClr val="dk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Why it’s called “Universal”?</a:t>
            </a:r>
            <a:endParaRPr sz="2200" i="1" dirty="0">
              <a:solidFill>
                <a:schemeClr val="dk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8001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200" b="1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Because its parameters - speed, data size and so on- are not fixed, and can be configured.</a:t>
            </a:r>
            <a:endParaRPr sz="2200" b="1" dirty="0">
              <a:solidFill>
                <a:schemeClr val="dk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It is used for asynchronous serial communication.</a:t>
            </a:r>
            <a:endParaRPr sz="2200" dirty="0">
              <a:solidFill>
                <a:schemeClr val="dk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Baud Rate is a measure of the speed of data transfer, expressed as symbol per sec/bits per sec.</a:t>
            </a:r>
            <a:r>
              <a:rPr lang="en-US" sz="22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</a:t>
            </a:r>
            <a:endParaRPr sz="22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rPr>
              <a:t>Bit rate = No. of bits transferred per sec. Common baud rates: 9600, 4800, 19200, 38400 etc. Frame format is defined as,</a:t>
            </a:r>
            <a:endParaRPr sz="22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87;g3947ad69879_0_7">
            <a:extLst>
              <a:ext uri="{FF2B5EF4-FFF2-40B4-BE49-F238E27FC236}">
                <a16:creationId xmlns:a16="http://schemas.microsoft.com/office/drawing/2014/main" id="{737BBED3-4F6F-B8BD-3814-42FEFEE857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50" y="5788782"/>
            <a:ext cx="7453800" cy="8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body" idx="1"/>
          </p:nvPr>
        </p:nvSpPr>
        <p:spPr>
          <a:xfrm>
            <a:off x="198925" y="1199625"/>
            <a:ext cx="8945100" cy="56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UART Communication may be simplex, full duplex, or half duplex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Simplex</a:t>
            </a: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: One direction only, transmitter to receiver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Half Duplex</a:t>
            </a: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: Devices take turns transmitting and receiving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Full Duplex</a:t>
            </a: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: Devices can send and receive at the same time.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Data format and transmission speed are configurable.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Communication goes through the two independent lines/wires.</a:t>
            </a:r>
            <a:endParaRPr sz="2200" dirty="0"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</a:rPr>
              <a:t>Introduction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289" y="570565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2994850" y="6343315"/>
            <a:ext cx="4274287" cy="3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Two wire Protocol Communication</a:t>
            </a:r>
            <a:endParaRPr sz="12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8910" y="4434881"/>
            <a:ext cx="4390076" cy="20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FC56083-FD3A-19CB-C817-4E1CC771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BE72952A-ED84-2621-2722-F819FE63CB37}"/>
              </a:ext>
            </a:extLst>
          </p:cNvPr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Motivation &amp; Objectives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5">
            <a:extLst>
              <a:ext uri="{FF2B5EF4-FFF2-40B4-BE49-F238E27FC236}">
                <a16:creationId xmlns:a16="http://schemas.microsoft.com/office/drawing/2014/main" id="{C5D3599B-2F15-2543-9BAB-ECF40BE893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289" y="570565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05AD97-CB87-5FA1-CE06-2D53CA701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2100" y="1253252"/>
            <a:ext cx="88519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to design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UART Tx–Rx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reliable on-chip serial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interface-based architecture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simplify signal connectivity in SoC designs.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baud-rate-accurate Transmitter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cycle counters and bit shifting.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16× oversampling Receiver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stable data recovery and noise tolerance.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UVM-like verification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gain industry-relevant skills in functional validation.</a:t>
            </a:r>
          </a:p>
        </p:txBody>
      </p:sp>
    </p:spTree>
    <p:extLst>
      <p:ext uri="{BB962C8B-B14F-4D97-AF65-F5344CB8AC3E}">
        <p14:creationId xmlns:p14="http://schemas.microsoft.com/office/powerpoint/2010/main" val="290305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0" y="0"/>
            <a:ext cx="9144000" cy="1063256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 </a:t>
            </a:r>
            <a:endParaRPr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1"/>
          <p:cNvGraphicFramePr/>
          <p:nvPr>
            <p:extLst>
              <p:ext uri="{D42A27DB-BD31-4B8C-83A1-F6EECF244321}">
                <p14:modId xmlns:p14="http://schemas.microsoft.com/office/powerpoint/2010/main" val="1117610726"/>
              </p:ext>
            </p:extLst>
          </p:nvPr>
        </p:nvGraphicFramePr>
        <p:xfrm>
          <a:off x="0" y="1063256"/>
          <a:ext cx="9144000" cy="5775960"/>
        </p:xfrm>
        <a:graphic>
          <a:graphicData uri="http://schemas.openxmlformats.org/drawingml/2006/table">
            <a:tbl>
              <a:tblPr>
                <a:noFill/>
                <a:tableStyleId>{DC3321EE-C17E-4128-9709-CE3C54129072}</a:tableStyleId>
              </a:tblPr>
              <a:tblGrid>
                <a:gridCol w="38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9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4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6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19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SNO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NOVELTY/ ADVANTAGES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LIMITATIONS/ DISADVANTAGES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817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Yamini R., Ramya M. V. (2020). “Design and Verification of UART using SystemVerilog.” </a:t>
                      </a:r>
                      <a:r>
                        <a:rPr lang="en-US" sz="1100" i="1">
                          <a:solidFill>
                            <a:schemeClr val="dk1"/>
                          </a:solidFill>
                        </a:rPr>
                        <a:t>International Journal of Engineering and Advanced Technology (IJEAT)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, Vol. 9 Issue 5, pp. 1208–1211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A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full-duplex UART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was designed and verified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SystemVerilog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. The design included transmitter, receiver, baud-rate generator, and FIFO modules. A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reusable verification environment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was developed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agents (driver, monitor, sequencer, scoreboard)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with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randomized test sequences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SystemVerilog Assertions (SVA)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for checking protocol behavior. Simulation was done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QuestaSim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Achieved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100% functional coverage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100% assertion coverage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Implemented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randomized verification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to test corner cases automatically.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Created a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reusable verification environment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for multiple UART DUTs.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Demonstrated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reduced verification complexity and time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using SV.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 synthesis or FPGA implementation (simulation-only validation).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Focused on standard UART; lacks multi-protocol or configurable-baud validation.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Dependent on QuestaSim simulator; not evaluated on hardware timing or power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Coverage: 100% (assertion + functional)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Testbench: SystemVerilog (QuestaSim)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Verification type: Constrained random + assertion-based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Operation mode: Full duplex UART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68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Vikash Prajapati, Alpana Pandey (2025). “FPGA based UART Design: Simulation, Synthesis &amp; SystemVerilog Functional Verification.” IEEE GC-ON Conference, 2025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Developed a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multi-UART architecture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on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Nexys 4 DDR FPGA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supporting multiple baud rates (9600–230400 bps). The design integrates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Baud Rate Generator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Transmitter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Receiver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, and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Debouncing logic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. Verification was performed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SystemVerilog testbench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with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Assertions (SVA)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Functional Coverage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in QuestaSim. Hardware demonstration was done via RS-232 communication and Tera Term interface.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Implemented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multi-UART with configurable baud rate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on FPGA.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Verified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SVA + coverage-based verification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achieving 100% correctness.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Hardware-in-loop validation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on Nexys 4 DDR board.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Low latency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and accurate full-duplex data transfer.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- Combines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design, synthesis, and verification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in a unified flow.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to fixed oversampling rate; scalability to high-speed interfaces untested.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Demonstration restricted to single FPGA board.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 power or resource optimization reported.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Focused mainly on UART; not generalized to other serial protocols.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Baud rates: 9600–230400 bps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FPGA: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Nexys</a:t>
                      </a: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 DDR (Xilinx)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Simulation tools: Vivado,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QuestaSim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Coverage: 100% functional and assertion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Interface: RS-232 via Tera Term terminal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/>
          <p:nvPr/>
        </p:nvSpPr>
        <p:spPr>
          <a:xfrm>
            <a:off x="0" y="-1"/>
            <a:ext cx="9144000" cy="1095153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Literature Review </a:t>
            </a:r>
            <a:endParaRPr sz="2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12"/>
          <p:cNvGraphicFramePr/>
          <p:nvPr>
            <p:extLst>
              <p:ext uri="{D42A27DB-BD31-4B8C-83A1-F6EECF244321}">
                <p14:modId xmlns:p14="http://schemas.microsoft.com/office/powerpoint/2010/main" val="289475984"/>
              </p:ext>
            </p:extLst>
          </p:nvPr>
        </p:nvGraphicFramePr>
        <p:xfrm>
          <a:off x="138112" y="1347573"/>
          <a:ext cx="8867775" cy="3484880"/>
        </p:xfrm>
        <a:graphic>
          <a:graphicData uri="http://schemas.openxmlformats.org/drawingml/2006/table">
            <a:tbl>
              <a:tblPr>
                <a:noFill/>
                <a:tableStyleId>{DC3321EE-C17E-4128-9709-CE3C54129072}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6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SNO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NOVELTY/ ADVANTAGES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LIMITATIONS/ DISADVANTAGES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</a:t>
                      </a:r>
                      <a:endParaRPr/>
                    </a:p>
                  </a:txBody>
                  <a:tcPr marL="63500" marR="63500" marT="63500" marB="63500"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Sravani S., &amp; Srujana R. (2023). “Design and Verification of Autoconfigurable UART Controller.” </a:t>
                      </a:r>
                      <a:r>
                        <a:rPr lang="en-US" sz="1100" i="1">
                          <a:solidFill>
                            <a:schemeClr val="dk1"/>
                          </a:solidFill>
                        </a:rPr>
                        <a:t>International Journal of Research in Engineering and Technology (IJRET)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Developed an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autoconfigurable UART controller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using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Verilog HDL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and verified through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SystemVerilog testbench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. The system automatically adjusts to various baud rates, data lengths, and parity configurations without manual reprogramming. Verification was performed with </a:t>
                      </a:r>
                      <a:r>
                        <a:rPr lang="en-US" sz="1100" b="1">
                          <a:solidFill>
                            <a:schemeClr val="dk1"/>
                          </a:solidFill>
                        </a:rPr>
                        <a:t>assertion-based simulation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to validate data integrity and synchronization.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Automatic configuration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of UART parameters enhances flexibility.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- Eliminates manual setup for baud rate, stop bits, and parity selection.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- Verified using </a:t>
                      </a:r>
                      <a:r>
                        <a:rPr lang="en-US" sz="1100" b="1" dirty="0">
                          <a:solidFill>
                            <a:schemeClr val="dk1"/>
                          </a:solidFill>
                        </a:rPr>
                        <a:t>SystemVerilog assertions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 ensuring protocol accuracy.</a:t>
                      </a:r>
                      <a:endParaRPr sz="110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</a:rPr>
                        <a:t>- Provides adaptability for heterogeneous communication systems.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 FPGA hardware validation reported.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Limited verification coverage data provided.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Power/resource efficiency not evaluated.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Tested for basic UART configurations only.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Baud rates: 9600–115200 bps (adaptive)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Simulation: </a:t>
                      </a:r>
                      <a:r>
                        <a:rPr lang="en-US" sz="12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QuestaSim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Verification: Assertion-based SV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Features: Auto-configuration, error detection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47ad69879_0_7"/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Inference </a:t>
            </a:r>
            <a:r>
              <a:rPr lang="en-US" sz="3000" b="1" dirty="0">
                <a:solidFill>
                  <a:schemeClr val="lt1"/>
                </a:solidFill>
              </a:rPr>
              <a:t>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rom the literature Review: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947ad69879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7056" y="564023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3FD4BD-FE6A-AC3D-CFC8-7015597B8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244334"/>
            <a:ext cx="162722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29D193-751C-2508-122D-CE8522CA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25" y="1016202"/>
            <a:ext cx="9061775" cy="5200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400" dirty="0"/>
              <a:t>The parameterized Tx matches literature-recommended flexible UART IP design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16× oversampling in my Rx aligns with proven reliable sampling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a SystemVerilog interface reflects modern modular SoC integration practice.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Shift-register framing in Tx/Rx follows standard low-area UART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self-checking verification flow mirrors industry-preferred validation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c651119bc_1_6"/>
          <p:cNvSpPr/>
          <p:nvPr/>
        </p:nvSpPr>
        <p:spPr>
          <a:xfrm>
            <a:off x="0" y="-3810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Methodology - Design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8c651119bc_1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7056" y="564023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5F2A72-A22E-8238-27A3-B5DA71DB7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763" y="1108535"/>
            <a:ext cx="8088237" cy="5107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UART interface signals for modular Tx–Rx integration.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Implemented parameterized Tx with accurate clock–baud division.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shift-register–based framing for start, data, and stop bits.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16× oversampling logic for stable mid-bit sampling in Rx.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bit and sample counters to manage receive FSM transitions.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Tx and Rx using a clean SystemVerilog interface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uart_if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7E4FF775-C6C9-792D-CCBA-16E6062A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c651119bc_1_6">
            <a:extLst>
              <a:ext uri="{FF2B5EF4-FFF2-40B4-BE49-F238E27FC236}">
                <a16:creationId xmlns:a16="http://schemas.microsoft.com/office/drawing/2014/main" id="{0E0D4F04-AD93-A74E-576E-FBC7A8601D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00" y="1167756"/>
            <a:ext cx="8825100" cy="5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B4C8C9E2-CF24-4D20-7836-520B0973EFAA}"/>
              </a:ext>
            </a:extLst>
          </p:cNvPr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Design Architecture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E1F01-C2B2-ED11-4806-9A97529F9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250" y="971700"/>
            <a:ext cx="9144000" cy="58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4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47E790E7-A6D4-60B9-C1B3-5802A591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7352395E-0ADA-3FA4-7FA3-B5BA9B5AB8C3}"/>
              </a:ext>
            </a:extLst>
          </p:cNvPr>
          <p:cNvSpPr/>
          <p:nvPr/>
        </p:nvSpPr>
        <p:spPr>
          <a:xfrm>
            <a:off x="0" y="-3810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Methodology - Verification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8c651119bc_1_6">
            <a:extLst>
              <a:ext uri="{FF2B5EF4-FFF2-40B4-BE49-F238E27FC236}">
                <a16:creationId xmlns:a16="http://schemas.microsoft.com/office/drawing/2014/main" id="{E707FB07-E21F-BBFD-EBD4-E6AE3FBF32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7056" y="5640237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D75560F-F527-955D-B9AF-B6036D966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1" y="964048"/>
            <a:ext cx="7683500" cy="5615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transaction objects to generate UART stimulus.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Generator → Driver → DUT flow with mailbox-based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Monitor to capture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valid_rx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events and received bytes.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self-checking Scoreboard to compare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TxData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RxData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 parallel processes (g, d, m, s) using environment orchestration.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complete loopback operation by observing matching data streams</a:t>
            </a:r>
          </a:p>
        </p:txBody>
      </p:sp>
    </p:spTree>
    <p:extLst>
      <p:ext uri="{BB962C8B-B14F-4D97-AF65-F5344CB8AC3E}">
        <p14:creationId xmlns:p14="http://schemas.microsoft.com/office/powerpoint/2010/main" val="313833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E3B80F38-CCFA-2122-F80F-DC2AF7F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c651119bc_1_6">
            <a:extLst>
              <a:ext uri="{FF2B5EF4-FFF2-40B4-BE49-F238E27FC236}">
                <a16:creationId xmlns:a16="http://schemas.microsoft.com/office/drawing/2014/main" id="{50FD56CD-E9D9-10C3-58D5-1B0501F09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00" y="1167756"/>
            <a:ext cx="8825100" cy="5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463F2DCF-EE19-B564-269B-5FD1896C0134}"/>
              </a:ext>
            </a:extLst>
          </p:cNvPr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Testbench Architecture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0E313C-6359-2CE3-69EB-A259AF27A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1700"/>
            <a:ext cx="9144000" cy="580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4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c66511e69_0_49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Result</a:t>
            </a:r>
          </a:p>
        </p:txBody>
      </p:sp>
      <p:sp>
        <p:nvSpPr>
          <p:cNvPr id="284" name="Google Shape;284;g38c66511e69_0_49"/>
          <p:cNvSpPr txBox="1"/>
          <p:nvPr/>
        </p:nvSpPr>
        <p:spPr>
          <a:xfrm>
            <a:off x="155550" y="1299975"/>
            <a:ext cx="8564200" cy="51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8c66511e69_0_49"/>
          <p:cNvSpPr txBox="1"/>
          <p:nvPr/>
        </p:nvSpPr>
        <p:spPr>
          <a:xfrm>
            <a:off x="2857501" y="6350000"/>
            <a:ext cx="5232974" cy="95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Fig. Console Output and Waveform visuals</a:t>
            </a:r>
            <a:endParaRPr i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9ED6A-9EF7-7D4E-DB2E-4DAB7FFD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1"/>
          <a:stretch>
            <a:fillRect/>
          </a:stretch>
        </p:blipFill>
        <p:spPr>
          <a:xfrm>
            <a:off x="0" y="3139123"/>
            <a:ext cx="9144000" cy="3417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AD8CB6-05FD-BF96-3A2C-F60283C6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8007"/>
          <a:stretch>
            <a:fillRect/>
          </a:stretch>
        </p:blipFill>
        <p:spPr>
          <a:xfrm>
            <a:off x="940502" y="1242620"/>
            <a:ext cx="3631498" cy="1789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F63E64-1A69-6B81-A2D1-5DCD6457B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702" y="1179847"/>
            <a:ext cx="3042650" cy="1852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BBE97A1B-7A86-6619-9117-E10E91F7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c651119bc_1_6">
            <a:extLst>
              <a:ext uri="{FF2B5EF4-FFF2-40B4-BE49-F238E27FC236}">
                <a16:creationId xmlns:a16="http://schemas.microsoft.com/office/drawing/2014/main" id="{F1ADD19C-8780-996E-53F4-6604F1709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00" y="1167756"/>
            <a:ext cx="8825100" cy="56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1366AB62-5A9D-CD2A-AD4E-E409CC6C6E67}"/>
              </a:ext>
            </a:extLst>
          </p:cNvPr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Timeline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E4F28-B8ED-B7B9-BC48-872C4500B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25"/>
          <a:stretch>
            <a:fillRect/>
          </a:stretch>
        </p:blipFill>
        <p:spPr>
          <a:xfrm>
            <a:off x="0" y="971700"/>
            <a:ext cx="9144000" cy="58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581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E1F13BA-5B7F-AB7C-23B5-335C3D45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681DAEBD-0CDD-88A4-2EE8-C11B324D60C8}"/>
              </a:ext>
            </a:extLst>
          </p:cNvPr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Conclusion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6D9307-53BD-5210-282B-B941CA947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2875" y="971700"/>
            <a:ext cx="9001125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designed a modular UART Tx–Rx using a clean interface structure.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accurate baud-rate timing and stable 16× oversampling in the receiver.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complete Tx–Rx loopback using a structured UVM-like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correct data reconstruction with reliable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valid_rx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signaling.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Testbench ensured self-checking validation through mailbox-based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demonstrated end-to-end functionality with consistent waveform results.</a:t>
            </a:r>
          </a:p>
        </p:txBody>
      </p:sp>
      <p:pic>
        <p:nvPicPr>
          <p:cNvPr id="3" name="Google Shape;110;p3">
            <a:extLst>
              <a:ext uri="{FF2B5EF4-FFF2-40B4-BE49-F238E27FC236}">
                <a16:creationId xmlns:a16="http://schemas.microsoft.com/office/drawing/2014/main" id="{847108BA-3BCF-1638-40F1-F01A8FC996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094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DF24F2EC-BAF7-FCA6-FE9A-ACAD53EC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c651119bc_1_6">
            <a:extLst>
              <a:ext uri="{FF2B5EF4-FFF2-40B4-BE49-F238E27FC236}">
                <a16:creationId xmlns:a16="http://schemas.microsoft.com/office/drawing/2014/main" id="{301FEA7A-CF63-16F3-FC4D-E5464DA793AB}"/>
              </a:ext>
            </a:extLst>
          </p:cNvPr>
          <p:cNvSpPr/>
          <p:nvPr/>
        </p:nvSpPr>
        <p:spPr>
          <a:xfrm>
            <a:off x="0" y="0"/>
            <a:ext cx="9144000" cy="9717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chemeClr val="lt1"/>
                </a:solidFill>
              </a:rPr>
              <a:t> Future Work</a:t>
            </a:r>
            <a:endParaRPr sz="3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3">
            <a:extLst>
              <a:ext uri="{FF2B5EF4-FFF2-40B4-BE49-F238E27FC236}">
                <a16:creationId xmlns:a16="http://schemas.microsoft.com/office/drawing/2014/main" id="{3B66422A-02B4-8DAE-8F90-C3355702EF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658374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5D37D7E-C773-D2C6-4A6F-0EBD2A5FE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4" y="849673"/>
            <a:ext cx="7991773" cy="5384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parity bit support and configurable frame formats for wider protocol use.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error detection flags for framing, parity, and overrun conditions.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small FIFOs to support burst data transmission and reception.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verification with random stimulus and corner-case timing variations.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design for higher baud rates and multi-channel UART support.</a:t>
            </a:r>
          </a:p>
        </p:txBody>
      </p:sp>
    </p:spTree>
    <p:extLst>
      <p:ext uri="{BB962C8B-B14F-4D97-AF65-F5344CB8AC3E}">
        <p14:creationId xmlns:p14="http://schemas.microsoft.com/office/powerpoint/2010/main" val="1461963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/>
          <p:nvPr/>
        </p:nvSpPr>
        <p:spPr>
          <a:xfrm>
            <a:off x="0" y="0"/>
            <a:ext cx="9144000" cy="1135500"/>
          </a:xfrm>
          <a:prstGeom prst="rect">
            <a:avLst/>
          </a:prstGeom>
          <a:solidFill>
            <a:srgbClr val="B01B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3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8731" y="5543662"/>
            <a:ext cx="1174719" cy="1152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7"/>
          <p:cNvSpPr txBox="1"/>
          <p:nvPr/>
        </p:nvSpPr>
        <p:spPr>
          <a:xfrm>
            <a:off x="127819" y="1337187"/>
            <a:ext cx="8875500" cy="60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1. Wei Ni, Xiaotian Wang, “Functional Coverage-Driven UVM-based UART IP Verification”, IEEE 11th International Conference on ASIC  (ASICON), 21 July 2016.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2. Kumari Amrita, Avantika Kumari, “Design And Verification Of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Uart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 Using Verilog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Hdl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”, International conference on Recent innovations in Management, Engineering, Science and Technology, RIMEST, 2018.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3. Spear, Chris,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Tumbush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, Greg, “SystemVerilog for Verification” Book.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4. Doron Bustan, Dmitry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Korchemny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, Erik Seligman, Jin Yang, “SystemVerilog Assertions: Past, Present, and Future SVA Standardization Experience”, IEEE Design &amp; Test of Computers, Volume: 29 , Issue: 2 , April 2012.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5.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Renduchinthala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 H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H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 S </a:t>
            </a:r>
            <a:r>
              <a:rPr lang="en-US" dirty="0" err="1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S</a:t>
            </a: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 Prasad, Ch. Santhi Rani, ”UART IP Core Verification by using UVM”, International Journal of Industrial Electronics and Electrical Engineering, ISSN: 2347-6982, Volume-4, Issue-7, Jul.-2016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6. Mahat, Nennie Farina. "Design of a 9-bit UART module based on Verilog HDL." Semiconductor Electronics (ICSE), 2012 10th IEEE International Conference on 2012.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+mn-lt"/>
                <a:ea typeface="Times New Roman"/>
                <a:cs typeface="Times New Roman" panose="02020603050405020304" pitchFamily="18" charset="0"/>
                <a:sym typeface="Times New Roman"/>
              </a:rPr>
              <a:t>7. Ambika, Prof. Anuradha S, “High Speed UART Design Using Verilog”, International Journal of Advanced Research in Computer and Communication Engineering Vol. 5, Issue 2, February 2016.</a:t>
            </a:r>
            <a:endParaRPr dirty="0">
              <a:solidFill>
                <a:schemeClr val="dk1"/>
              </a:solidFill>
              <a:latin typeface="+mn-lt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9" descr="Thank You Images – Browse 314,654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3114" y="1963238"/>
            <a:ext cx="6269287" cy="2667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1576</Words>
  <Application>Microsoft Office PowerPoint</Application>
  <PresentationFormat>On-screen Show (4:3)</PresentationFormat>
  <Paragraphs>178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Jaganath B</dc:creator>
  <cp:lastModifiedBy>UMESH KANNA K B</cp:lastModifiedBy>
  <cp:revision>8</cp:revision>
  <dcterms:modified xsi:type="dcterms:W3CDTF">2025-11-16T21:54:15Z</dcterms:modified>
</cp:coreProperties>
</file>